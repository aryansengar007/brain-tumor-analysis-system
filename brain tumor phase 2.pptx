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86-4AAA-A50F-EFCAF36EF806}"/>
              </c:ext>
            </c:extLst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86-4AAA-A50F-EFCAF36EF806}"/>
              </c:ext>
            </c:extLst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86-4AAA-A50F-EFCAF36EF8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CNN Detection</c:v>
                </c:pt>
                <c:pt idx="1">
                  <c:v>MobileNetV2</c:v>
                </c:pt>
                <c:pt idx="2">
                  <c:v>U-Net (Dice×100)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90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86-4AAA-A50F-EFCAF36EF8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5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5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54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Phase II presentation of our Brain Tumor Detection and Analysis system. In this phase, we have implemented three deep learning models: a CNN for binary tumor detection, MobileNetV2 for multi-class classification, and U-Net for tumor segmentation. Each model addresses a different stage of the diagnostic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Phase II, we moved from planning and design to full implementation. We built and trained three distinct deep learning models. Detection achieves 96%, classification reaches 90%, and segmentation achieves a Dice coefficient of 0.80+. The full pipeline now runs end-to-end from MRI/CT input to tumor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preprocessed images differently for each model. Detection uses 128×128 grayscale, classification uses 224×224 RGB for MobileNetV2 compatibility. Augmentation (rotation, zoom, horizontal flip) helped generalize models. For U-Net, binary mask thresholding was applied to ensure clean ground-truth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distinct architectures address each task. The CNN detector uses sequential Conv layers suitable for binary classification. MobileNetV2 leverages transfer learning from ImageNet weights, making it efficient for multi-class classification. U-Net's encoder-decoder with skip connections is ideal for pixel-wise segmentation, retaining spatial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was done on CPU, which imposed constraints on batch size and epochs. Adam optimizer was used for all three models. The CNN was quick to train at 10 epochs; U-Net required 30 epochs to converge on segmentation masks. EarlyStopping and ReduceLROnPlateau helped prevent overfitting and speed up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CNN detection model achieved 96% accuracy with well-converging train and validation curves, indicating no significant overfitting. MobileNetV2 achieved 90% overall accuracy across four classes. Glioma and Meningioma had slightly lower F1 scores due to visual similarity. Pituitary and No-Tumor classes were classified most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31D2-8883-FFB9-191E-89E0885C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5C13E-DDC7-D08F-4CCD-71BDADD70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1DBEF-D731-E0F2-9423-DCC605A63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CNN detection model achieved 96% accuracy with well-converging train and validation curves, indicating no significant overfitting. MobileNetV2 achieved 90% overall accuracy across four classes. Glioma and Meningioma had slightly lower F1 scores due to visual similarity. Pituitary and No-Tumor classes were classified most reliably.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A09F5-29EF-CFC2-55B5-C52E62755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8F3A-CB51-791A-6247-FE351D44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94537-D8CA-7180-359E-E7031B95D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54C67-3CB9-BA51-F1A3-4F9BFA1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CNN detection model achieved 96% accuracy with well-converging train and validation curves, indicating no significant overfitting. MobileNetV2 achieved 90% overall accuracy across four classes. Glioma and Meningioma had slightly lower F1 scores due to visual similarity. Pituitary and No-Tumor classes were classified most reliably.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4F3A9-2ABC-EFC6-EA8D-289ADE758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49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segmentation, we used the Dice Coefficient as the primary metric because accuracy is misleading when tumor regions are small. Our U-Net achieved a Dice score of ~0.80+, indicating strong spatial overlap between predicted and actual tumor regions. The output pipeline goes from original MRI to binary mask prediction to tumor overlay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encountered six major challenges: the BraTS segmentation dataset was ~13GB making it impractical for direct use; .nii files required the nibabel library; class imbalance hurt classification performance; overfitting was a risk with limited data; dependency conflicts took time to resolve; and CPU-only training slowed iteration cycles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had a targeted solution. Transfer learning (MobileNetV2) dramatically reduced training time and improved accuracy despite limited data. Nibabel enabled .nii parsing. Dropout and BatchNorm in U-Net combated overfitting. Augmentation addressed class imbalance. These combined solutions allowed us to achieve strong results within CPU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three-model pipeline demonstrates strong performance across all tasks. Detection at 96% enables reliable healthy/tumor binary classification. MobileNetV2 at 90% distinguishes between Glioma, Meningioma, Pituitary, and No-Tumor categories. U-Net's Dice of 0.80+ shows effective spatial localization of tumor regions. The full pipeline is operational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 pipeline takes an MRI or CT scan as input. After preprocessing, the CNN first determines if a tumor is present. If healthy, the scan is cleared. If a tumor is detected, MobileNetV2 classifies its type. Finally, U-Net segments and overlays the tumor region on the original scan to assist radiologists with spatial localization.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Phase II successfully delivered a complete three-model AI pipeline for brain tumor detection and analysis. The system progresses logically from binary detection to multi-class type identification to spatial segmentation. Future work includes GPU optimization, web application deployment, integration of attention-based architectures like Vision Transformers, and clinical reporting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2926080" cy="29260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</a:rPr>
              <a:t>PHASE II — IMPLEMENTATION &amp; MODEL DEVELOPMENT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06040" cy="365760"/>
          </a:xfrm>
          <a:prstGeom prst="rect">
            <a:avLst/>
          </a:prstGeom>
          <a:solidFill>
            <a:srgbClr val="1B2C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CNN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429000"/>
            <a:ext cx="2606040" cy="365760"/>
          </a:xfrm>
          <a:prstGeom prst="rect">
            <a:avLst/>
          </a:prstGeom>
          <a:solidFill>
            <a:srgbClr val="1B2C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MobileNetV2 Classification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429000"/>
            <a:ext cx="2606040" cy="365760"/>
          </a:xfrm>
          <a:prstGeom prst="rect">
            <a:avLst/>
          </a:prstGeom>
          <a:solidFill>
            <a:srgbClr val="1B2C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U-Net Segmentation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F"/>
                </a:solidFill>
              </a:rPr>
              <a:t>DL Project  |  Deep Learning Pipeline for Medical Imaging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II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in Phase II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4935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30175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Model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Tumor 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Binary CNN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96% 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10 Epochs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06040" cy="30175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0604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Model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Classification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MobileNetV2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90% 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15 Epochs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06040" cy="30175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0604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</a:rPr>
              <a:t>Model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Tumor Segmentation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U-Net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Dice ~0.80+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A5BF"/>
                </a:solidFill>
              </a:rPr>
              <a:t>30 Epochs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Advances from Phase I: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✔  </a:t>
            </a:r>
            <a:r>
              <a:rPr lang="en-US" sz="1100" dirty="0">
                <a:solidFill>
                  <a:srgbClr val="FFFFFF"/>
                </a:solidFill>
              </a:rPr>
              <a:t>Full model implementation  </a:t>
            </a:r>
            <a:r>
              <a:rPr lang="en-US" sz="1100" b="1" dirty="0">
                <a:solidFill>
                  <a:srgbClr val="06D6A0"/>
                </a:solidFill>
              </a:rPr>
              <a:t>✔  </a:t>
            </a:r>
            <a:r>
              <a:rPr lang="en-US" sz="1100" dirty="0">
                <a:solidFill>
                  <a:srgbClr val="FFFFFF"/>
                </a:solidFill>
              </a:rPr>
              <a:t>Real dataset training  </a:t>
            </a:r>
            <a:r>
              <a:rPr lang="en-US" sz="1100" b="1" dirty="0">
                <a:solidFill>
                  <a:srgbClr val="06D6A0"/>
                </a:solidFill>
              </a:rPr>
              <a:t>✔  </a:t>
            </a:r>
            <a:r>
              <a:rPr lang="en-US" sz="1100" dirty="0">
                <a:solidFill>
                  <a:srgbClr val="FFFFFF"/>
                </a:solidFill>
              </a:rPr>
              <a:t>End-to-end pipeline operational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28112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1463040" cy="155448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Images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MRI / 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Grayscale &amp; RGB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103120"/>
            <a:ext cx="2468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1371600"/>
            <a:ext cx="1463040" cy="155448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Resize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&amp; Normalize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84248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128×128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224×224 · /255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47288" y="2103120"/>
            <a:ext cx="2468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371600"/>
            <a:ext cx="1463040" cy="155448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94176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Rotate · Zoom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Flip · Shear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57216" y="2103120"/>
            <a:ext cx="2468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4104" y="1371600"/>
            <a:ext cx="1463040" cy="155448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04104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04104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Binary Threshold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0 / 255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67144" y="2103120"/>
            <a:ext cx="2468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1371600"/>
            <a:ext cx="1463040" cy="155448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Ready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Train / 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Split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54864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18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Grayscale Handling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383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F"/>
                </a:solidFill>
              </a:rPr>
              <a:t>Detection model uses grayscale MRI; Classification uses 3-channel RGB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54864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Class Imbalance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9319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F"/>
                </a:solidFill>
              </a:rPr>
              <a:t>Addressed via balanced sampling and augmentation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54864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15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Segmentation Masks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4805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F"/>
                </a:solidFill>
              </a:rPr>
              <a:t>Binary threshold applied; resized to match U-Net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34747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MODEL 1 — CNN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Tumor Detection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468880" cy="274320"/>
          </a:xfrm>
          <a:prstGeom prst="rect">
            <a:avLst/>
          </a:prstGeom>
          <a:solidFill>
            <a:srgbClr val="8BA5BF">
              <a:alpha val="30000"/>
            </a:srgbClr>
          </a:solidFill>
          <a:ln w="6350">
            <a:solidFill>
              <a:srgbClr val="8BA5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Input (128×128×1)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22576"/>
            <a:ext cx="2468880" cy="274320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22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Conv2D + ReLU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MaxPooling2D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980944"/>
            <a:ext cx="2468880" cy="274320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Conv2D + ReLU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2468880" cy="274320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MaxPooling2D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639312"/>
            <a:ext cx="246888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Flatten → Dense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2468880" cy="274320"/>
          </a:xfrm>
          <a:prstGeom prst="rect">
            <a:avLst/>
          </a:prstGeom>
          <a:solidFill>
            <a:srgbClr val="F4845F">
              <a:alpha val="30000"/>
            </a:srgbClr>
          </a:solidFill>
          <a:ln w="6350">
            <a:solidFill>
              <a:srgbClr val="F48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Dropout (0.5)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297680"/>
            <a:ext cx="246888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Dense → Sigmoid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1325880"/>
            <a:ext cx="2651760" cy="34747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MODEL 2 — MobileNetV2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Classification (Transfer Learning)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29000" y="1993392"/>
            <a:ext cx="2377440" cy="310896"/>
          </a:xfrm>
          <a:prstGeom prst="rect">
            <a:avLst/>
          </a:prstGeom>
          <a:solidFill>
            <a:srgbClr val="8BA5BF">
              <a:alpha val="30000"/>
            </a:srgbClr>
          </a:solidFill>
          <a:ln w="6350">
            <a:solidFill>
              <a:srgbClr val="8BA5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Input (224×224×3)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2368296"/>
            <a:ext cx="2377440" cy="310896"/>
          </a:xfrm>
          <a:prstGeom prst="rect">
            <a:avLst/>
          </a:prstGeom>
          <a:solidFill>
            <a:srgbClr val="06D6A0">
              <a:alpha val="30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3682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MobileNetV2 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2743200"/>
            <a:ext cx="2377440" cy="310896"/>
          </a:xfrm>
          <a:prstGeom prst="rect">
            <a:avLst/>
          </a:prstGeom>
          <a:solidFill>
            <a:srgbClr val="06D6A0">
              <a:alpha val="30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(Pretrained · Frozen)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29000" y="3118104"/>
            <a:ext cx="2377440" cy="310896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1181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GlobalAvgPool2D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29000" y="3493008"/>
            <a:ext cx="2377440" cy="310896"/>
          </a:xfrm>
          <a:prstGeom prst="rect">
            <a:avLst/>
          </a:prstGeom>
          <a:solidFill>
            <a:srgbClr val="0096B7">
              <a:alpha val="30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34930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Dense 128 + ReLU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29000" y="3867912"/>
            <a:ext cx="2377440" cy="310896"/>
          </a:xfrm>
          <a:prstGeom prst="rect">
            <a:avLst/>
          </a:prstGeom>
          <a:solidFill>
            <a:srgbClr val="F4845F">
              <a:alpha val="30000"/>
            </a:srgbClr>
          </a:solidFill>
          <a:ln w="6350">
            <a:solidFill>
              <a:srgbClr val="F48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Dropout (0.3)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29000" y="4242816"/>
            <a:ext cx="2377440" cy="310896"/>
          </a:xfrm>
          <a:prstGeom prst="rect">
            <a:avLst/>
          </a:prstGeom>
          <a:solidFill>
            <a:srgbClr val="FFD166">
              <a:alpha val="3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42428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Dense 4 + Softmax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1325880"/>
            <a:ext cx="2743200" cy="347472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MODEL 3 — U-Net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Segmentation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Encoder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2212848"/>
            <a:ext cx="1097280" cy="274320"/>
          </a:xfrm>
          <a:prstGeom prst="rect">
            <a:avLst/>
          </a:prstGeom>
          <a:solidFill>
            <a:srgbClr val="0096B7">
              <a:alpha val="25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Conv+BN+ReLU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63640" y="2560320"/>
            <a:ext cx="1097280" cy="274320"/>
          </a:xfrm>
          <a:prstGeom prst="rect">
            <a:avLst/>
          </a:prstGeom>
          <a:solidFill>
            <a:srgbClr val="0096B7">
              <a:alpha val="25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MaxPool↓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2907792"/>
            <a:ext cx="1097280" cy="274320"/>
          </a:xfrm>
          <a:prstGeom prst="rect">
            <a:avLst/>
          </a:prstGeom>
          <a:solidFill>
            <a:srgbClr val="0096B7">
              <a:alpha val="25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907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Conv+BN+ReLU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63640" y="3255264"/>
            <a:ext cx="1097280" cy="274320"/>
          </a:xfrm>
          <a:prstGeom prst="rect">
            <a:avLst/>
          </a:prstGeom>
          <a:solidFill>
            <a:srgbClr val="0096B7">
              <a:alpha val="25000"/>
            </a:srgbClr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255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MaxPool↓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83680" y="3621024"/>
            <a:ext cx="118872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3621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Bottleneck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9808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Decoder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98080" y="2212848"/>
            <a:ext cx="118872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UpSample↑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98080" y="2560320"/>
            <a:ext cx="118872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Conv+Skip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98080" y="2907792"/>
            <a:ext cx="118872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UpSample↑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3255264"/>
            <a:ext cx="118872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Conv+1×1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080760" y="453788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166"/>
                </a:solidFill>
              </a:rPr>
              <a:t>← Skip Connections →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920240" cy="384048"/>
          </a:xfrm>
          <a:prstGeom prst="rect">
            <a:avLst/>
          </a:prstGeom>
          <a:solidFill>
            <a:srgbClr val="1B2C4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Parameter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325880"/>
            <a:ext cx="192024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CNN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1920240" cy="384048"/>
          </a:xfrm>
          <a:prstGeom prst="rect">
            <a:avLst/>
          </a:prstGeom>
          <a:solidFill>
            <a:srgbClr val="06D6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MobileNetV2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51760" cy="384048"/>
          </a:xfrm>
          <a:prstGeom prst="rect">
            <a:avLst/>
          </a:prstGeom>
          <a:solidFill>
            <a:srgbClr val="FFD16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U-Net Segmentation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09928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0992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Epochs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709928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70992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709928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70992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709928"/>
            <a:ext cx="265176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709928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093976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93976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2093976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093976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433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2093976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093976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175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093976"/>
            <a:ext cx="265176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093976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307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478024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478024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Optimizer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2478024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2478024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2478024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478024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478024"/>
            <a:ext cx="265176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478024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Adam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2862072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862072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77440" y="2862072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2862072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Binary 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97680" y="2862072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862072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Categorical 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2862072"/>
            <a:ext cx="265176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862072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Dice + BCE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246120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Input Size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3246120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128×128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97680" y="3246120"/>
            <a:ext cx="192024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224×224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3246120"/>
            <a:ext cx="2651760" cy="38404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246120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128×128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3630168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63016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5BF"/>
                </a:solidFill>
              </a:rPr>
              <a:t>Output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77440" y="3630168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0" y="363016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Sigmoid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97680" y="3630168"/>
            <a:ext cx="192024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3630168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Softmax (4)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17920" y="3630168"/>
            <a:ext cx="2651760" cy="384048"/>
          </a:xfrm>
          <a:prstGeom prst="rect">
            <a:avLst/>
          </a:prstGeom>
          <a:solidFill>
            <a:srgbClr val="1B2C40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Sigmoid (mask)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40614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</a:rPr>
              <a:t>Callbacks Used: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43513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45F"/>
                </a:solidFill>
              </a:rPr>
              <a:t>▸  </a:t>
            </a:r>
            <a:r>
              <a:rPr lang="en-US" sz="1000" dirty="0">
                <a:solidFill>
                  <a:srgbClr val="8BA5BF"/>
                </a:solidFill>
              </a:rPr>
              <a:t>EarlyStopping — monitors val_loss, stops training when no improvement (patience=5)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4565201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45F"/>
                </a:solidFill>
              </a:rPr>
              <a:t>▸  </a:t>
            </a:r>
            <a:r>
              <a:rPr lang="en-US" sz="1000" dirty="0">
                <a:solidFill>
                  <a:srgbClr val="8BA5BF"/>
                </a:solidFill>
              </a:rPr>
              <a:t>ReduceLROnPlateau — halves learning rate on plateau (factor=0.5)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47640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45F"/>
                </a:solidFill>
              </a:rPr>
              <a:t>▸  </a:t>
            </a:r>
            <a:r>
              <a:rPr lang="en-US" sz="1000" dirty="0">
                <a:solidFill>
                  <a:srgbClr val="8BA5BF"/>
                </a:solidFill>
              </a:rPr>
              <a:t>CPU-only environment — limited RAM required smaller batch sizes and careful epoch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Graphs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61525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629A293A-F768-3D6E-DD2C-4DC604FF2F43}"/>
              </a:ext>
            </a:extLst>
          </p:cNvPr>
          <p:cNvSpPr/>
          <p:nvPr/>
        </p:nvSpPr>
        <p:spPr>
          <a:xfrm>
            <a:off x="457200" y="128953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 err="1">
                <a:solidFill>
                  <a:srgbClr val="00B4D8"/>
                </a:solidFill>
              </a:rPr>
              <a:t>Tumor_classifier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D94DA23-9080-985D-AFF3-205B7E34B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6573"/>
            <a:ext cx="3668227" cy="313746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33456BB-C15B-9202-34CC-5C7FFF51A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313" y="1666573"/>
            <a:ext cx="3718857" cy="3162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8496B-9089-56B6-93CA-208F77DC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8C3E17-9FF8-45CC-7CE2-34C13BCF0A0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05EC24-1948-5CB4-B424-ABD82BABF455}"/>
              </a:ext>
            </a:extLst>
          </p:cNvPr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0544B7-CF1B-2373-CB1C-523804BDE042}"/>
              </a:ext>
            </a:extLst>
          </p:cNvPr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Graphs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6735643-3C55-B075-72DE-5B0E5841DAE5}"/>
              </a:ext>
            </a:extLst>
          </p:cNvPr>
          <p:cNvSpPr/>
          <p:nvPr/>
        </p:nvSpPr>
        <p:spPr>
          <a:xfrm>
            <a:off x="457200" y="1058594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C18756B6-440D-7F26-6973-2C10DB1B75CD}"/>
              </a:ext>
            </a:extLst>
          </p:cNvPr>
          <p:cNvSpPr/>
          <p:nvPr/>
        </p:nvSpPr>
        <p:spPr>
          <a:xfrm>
            <a:off x="457200" y="128953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 err="1">
                <a:solidFill>
                  <a:srgbClr val="00B4D8"/>
                </a:solidFill>
              </a:rPr>
              <a:t>tumor_type_classifier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A67BF-CFF6-F8FC-802A-05B08BF9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6689"/>
            <a:ext cx="3322955" cy="3118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8B867-7A67-21F3-A3FA-E430A21FB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081" y="1734403"/>
            <a:ext cx="4511965" cy="312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8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596F7-93A4-0D99-6642-863DF046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CBDE1C-42FF-A963-C46D-BEBA68A85D6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BBE1A0-4F2A-A330-6678-8C78B81BC49D}"/>
              </a:ext>
            </a:extLst>
          </p:cNvPr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RESULTS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930CD9-4172-2C16-2705-8A3F6A485C50}"/>
              </a:ext>
            </a:extLst>
          </p:cNvPr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Graphs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5DCCE5-89DF-CDC0-CEEB-1C52CD3EA828}"/>
              </a:ext>
            </a:extLst>
          </p:cNvPr>
          <p:cNvSpPr/>
          <p:nvPr/>
        </p:nvSpPr>
        <p:spPr>
          <a:xfrm>
            <a:off x="457200" y="1057189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E00FBF6F-D6D9-0CB5-6666-0B9EE63DC911}"/>
              </a:ext>
            </a:extLst>
          </p:cNvPr>
          <p:cNvSpPr/>
          <p:nvPr/>
        </p:nvSpPr>
        <p:spPr>
          <a:xfrm>
            <a:off x="457200" y="128953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0" dirty="0" err="1">
                <a:solidFill>
                  <a:srgbClr val="00B4D8"/>
                </a:solidFill>
              </a:rPr>
              <a:t>tumor_segmentation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3CDE7F-8C4D-36F4-D047-0F4662CEA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838"/>
            <a:ext cx="7948246" cy="29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1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SEGMENTATION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Tumor Segmentation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09941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5433"/>
            <a:ext cx="3931920" cy="146304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Dice Coefficient — Why We Use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Dice = 2 × |A ∩ B| / (|A| + |B|)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F"/>
                </a:solidFill>
              </a:rPr>
              <a:t>Accuracy is misleading in segmentation — when the tumor region is small, a model predicting 'all background' gets &gt;95% accuracy but 0% usefulness. Dice measures actual overlap.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2011680" cy="2011680"/>
          </a:xfrm>
          <a:prstGeom prst="ellipse">
            <a:avLst/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</a:rPr>
              <a:t>~0.80+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Visual Output Pipeline: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1920240" cy="1005840"/>
          </a:xfrm>
          <a:prstGeom prst="rect">
            <a:avLst/>
          </a:prstGeom>
          <a:solidFill>
            <a:srgbClr val="1B2C40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767328"/>
            <a:ext cx="731520" cy="594360"/>
          </a:xfrm>
          <a:prstGeom prst="ellipse">
            <a:avLst/>
          </a:prstGeom>
          <a:solidFill>
            <a:srgbClr val="8BA5BF">
              <a:alpha val="40000"/>
            </a:srgbClr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5BF"/>
                </a:solidFill>
              </a:rPr>
              <a:t>Original MRI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4133088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657600"/>
            <a:ext cx="1920240" cy="1005840"/>
          </a:xfrm>
          <a:prstGeom prst="rect">
            <a:avLst/>
          </a:prstGeom>
          <a:solidFill>
            <a:srgbClr val="1B2C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767328"/>
            <a:ext cx="731520" cy="594360"/>
          </a:xfrm>
          <a:prstGeom prst="ellipse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Ground Truth Mask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4133088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657600"/>
            <a:ext cx="1920240" cy="1005840"/>
          </a:xfrm>
          <a:prstGeom prst="rect">
            <a:avLst/>
          </a:prstGeom>
          <a:solidFill>
            <a:srgbClr val="1B2C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3767328"/>
            <a:ext cx="731520" cy="5943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Predicted Mask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4133088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3657600"/>
            <a:ext cx="1920240" cy="1005840"/>
          </a:xfrm>
          <a:prstGeom prst="rect">
            <a:avLst/>
          </a:prstGeom>
          <a:solidFill>
            <a:srgbClr val="1B2C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3767328"/>
            <a:ext cx="731520" cy="594360"/>
          </a:xfrm>
          <a:prstGeom prst="ellipse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Tumor Overlay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Key Improvements: </a:t>
            </a:r>
            <a:r>
              <a:rPr lang="en-US" sz="1000" dirty="0">
                <a:solidFill>
                  <a:srgbClr val="8BA5BF"/>
                </a:solidFill>
              </a:rPr>
              <a:t>Batch Normalization · Dropout regularization · Dice + BCE combined loss · Binary mask thresholding at 0.5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Large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BraTS dataset (~13 GB) too large for CPU environment. Required strategic subset selection.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.nii File 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NIfTI medical imaging files require specialized parsing — not standard image formats.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Class Imbalance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Unequal class distribution skewed training, especially for Meningioma class.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Overfitting Risk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Small dataset + complex models led to overfitting without regularization.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918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Dependency Issues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Nibabel, TensorFlow, and image processing library conflicts required resolution.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743200" cy="150876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</a:rPr>
              <a:t>CPU Constraints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No GPU access — training was significantly slower, limiting model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Each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 flipV="1">
            <a:off x="457200" y="1143001"/>
            <a:ext cx="914400" cy="457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26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💾 Large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4264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Used a curated subset of BraTS — sufficient for meaningful segmentation training without storage bottleneck.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6596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0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🗄️ .nii 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10312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0208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Integrated nibabel library to parse NIfTI slices and convert to standard numpy arrays for training.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15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📊 Class Imbalance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69748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151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Applied class-weighted loss and heavy augmentation; also used MobileNetV2 which handles imbalance better.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🔁 Overfitting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329184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2095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Dropout layers, Batch Normalization, EarlyStopping callbacks and ReduceLROnPlateau controlled overfitting.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03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⚙️ Dependencies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88620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3803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Created isolated environments and pinned library versions for reproducible builds.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54864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343400"/>
            <a:ext cx="8412480" cy="475488"/>
          </a:xfrm>
          <a:prstGeom prst="rect">
            <a:avLst/>
          </a:prstGeom>
          <a:solidFill>
            <a:srgbClr val="132235"/>
          </a:solidFill>
          <a:ln w="3810">
            <a:solidFill>
              <a:srgbClr val="0096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98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🖥️ CPU Constraints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34640" y="4480560"/>
            <a:ext cx="27432" cy="18288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43982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Optimized batch sizes and epochs per model; used transfer learning to reduce training from scratch time.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6225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182880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CNN Binary Classification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06040" cy="182880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0604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MobileNetV2 Multi-class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06040" cy="1828800"/>
          </a:xfrm>
          <a:prstGeom prst="rect">
            <a:avLst/>
          </a:prstGeom>
          <a:solidFill>
            <a:srgbClr val="132235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060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08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Dice Coefficient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F"/>
                </a:solidFill>
              </a:rPr>
              <a:t>U-Net Segmentation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177112432"/>
              </p:ext>
            </p:extLst>
          </p:nvPr>
        </p:nvGraphicFramePr>
        <p:xfrm>
          <a:off x="457200" y="3368978"/>
          <a:ext cx="83210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85487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Full end-to-end pipeline operational — from MRI input to segmentation output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096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Diagnostic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29519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527048"/>
            <a:ext cx="1188720" cy="2560320"/>
          </a:xfrm>
          <a:prstGeom prst="rect">
            <a:avLst/>
          </a:prstGeom>
          <a:solidFill>
            <a:srgbClr val="132235"/>
          </a:solidFill>
          <a:ln w="19050">
            <a:solidFill>
              <a:srgbClr val="8BA5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527048"/>
            <a:ext cx="1188720" cy="91440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BA5BF"/>
                </a:solidFill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2011680"/>
            <a:ext cx="118872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MRI / 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807208"/>
            <a:ext cx="182880" cy="54864"/>
          </a:xfrm>
          <a:prstGeom prst="rect">
            <a:avLst/>
          </a:prstGeom>
          <a:solidFill>
            <a:srgbClr val="8BA5BF">
              <a:alpha val="50000"/>
            </a:srgbClr>
          </a:solidFill>
          <a:ln w="12700">
            <a:solidFill>
              <a:srgbClr val="8BA5B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521890"/>
            <a:ext cx="1463040" cy="2560320"/>
          </a:xfrm>
          <a:prstGeom prst="rect">
            <a:avLst/>
          </a:prstGeom>
          <a:solidFill>
            <a:srgbClr val="132235"/>
          </a:solidFill>
          <a:ln w="19050">
            <a:solidFill>
              <a:srgbClr val="0096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521890"/>
            <a:ext cx="1463040" cy="9144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64076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96B7"/>
                </a:solidFill>
              </a:rPr>
              <a:t>PREPROCESS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006522"/>
            <a:ext cx="14630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Normalize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Augment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774618"/>
            <a:ext cx="182880" cy="54864"/>
          </a:xfrm>
          <a:prstGeom prst="rect">
            <a:avLst/>
          </a:prstGeom>
          <a:solidFill>
            <a:srgbClr val="0096B7">
              <a:alpha val="50000"/>
            </a:srgbClr>
          </a:solidFill>
          <a:ln w="12700">
            <a:solidFill>
              <a:srgbClr val="0096B7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513332"/>
            <a:ext cx="1463040" cy="2568878"/>
          </a:xfrm>
          <a:prstGeom prst="rect">
            <a:avLst/>
          </a:prstGeom>
          <a:solidFill>
            <a:srgbClr val="13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1521890"/>
            <a:ext cx="1463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64076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006522"/>
            <a:ext cx="14630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Healthy?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Tumor?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784348"/>
            <a:ext cx="182880" cy="54864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521890"/>
            <a:ext cx="1463040" cy="2560320"/>
          </a:xfrm>
          <a:prstGeom prst="rect">
            <a:avLst/>
          </a:prstGeom>
          <a:solidFill>
            <a:srgbClr val="132235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521890"/>
            <a:ext cx="14630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4076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D6A0"/>
                </a:solidFill>
              </a:rPr>
              <a:t>CLASSIFY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006522"/>
            <a:ext cx="14630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MobileNetV2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Glioma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Meningioma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/ Pituitary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779776"/>
            <a:ext cx="182880" cy="54864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527048"/>
            <a:ext cx="1463040" cy="2560320"/>
          </a:xfrm>
          <a:prstGeom prst="rect">
            <a:avLst/>
          </a:prstGeom>
          <a:solidFill>
            <a:srgbClr val="132235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527048"/>
            <a:ext cx="14630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645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D166"/>
                </a:solidFill>
              </a:rPr>
              <a:t>SEGMENT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011680"/>
            <a:ext cx="14630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U-Net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Tumor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Region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2802050"/>
            <a:ext cx="182880" cy="54864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1530681"/>
            <a:ext cx="967154" cy="2498189"/>
          </a:xfrm>
          <a:prstGeom prst="rect">
            <a:avLst/>
          </a:prstGeom>
          <a:solidFill>
            <a:srgbClr val="132235"/>
          </a:solidFill>
          <a:ln w="1905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8046720" y="1521890"/>
            <a:ext cx="967154" cy="91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5937" y="1619144"/>
            <a:ext cx="1188720" cy="32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845F"/>
                </a:solidFill>
              </a:rPr>
              <a:t>OUTPUT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55280" y="2011680"/>
            <a:ext cx="1188720" cy="1725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Annotated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MRI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</a:rPr>
              <a:t>Healthy?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526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F"/>
                </a:solidFill>
              </a:rPr>
              <a:t>→ Stop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D6A0"/>
                </a:solidFill>
              </a:rPr>
              <a:t>→ Classify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5BF"/>
                </a:solidFill>
              </a:rPr>
              <a:t>Datasets: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5262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F"/>
                </a:solidFill>
              </a:rPr>
              <a:t>Kaggle MRI Dataset (Detection + Classification) · BraTS Subset (Segmentation)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6D6A0">
              <a:alpha val="7000"/>
            </a:srgbClr>
          </a:solidFill>
          <a:ln w="12700">
            <a:solidFill>
              <a:srgbClr val="06D6A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96% accurate tumor detection CNN deployed on real MRI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90% multi-class classification using MobileNetV2 transfer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254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0.80+ Dice score segmentation with improved U-Net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Complete end-to-end AI diagnostic pipeline fully operational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05072"/>
            <a:ext cx="8321040" cy="868680"/>
          </a:xfrm>
          <a:prstGeom prst="rect">
            <a:avLst/>
          </a:prstGeom>
          <a:solidFill>
            <a:srgbClr val="1B2C40"/>
          </a:solidFill>
          <a:ln w="635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F"/>
                </a:solidFill>
              </a:rPr>
              <a:t>🌐 Web App Integration  ⚡ GPU-accelerated Real-time Analysis  🎯 Higher Accuracy with Transformer models  📋 Clinical Reporting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1633</Words>
  <Application>Microsoft Office PowerPoint</Application>
  <PresentationFormat>On-screen Show (16:9)</PresentationFormat>
  <Paragraphs>259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Detection and Analysis using Deep Learning</dc:title>
  <dc:subject>PptxGenJS Presentation</dc:subject>
  <dc:creator>Phase II Presentation</dc:creator>
  <cp:lastModifiedBy>Aryan Sengar</cp:lastModifiedBy>
  <cp:revision>9</cp:revision>
  <dcterms:created xsi:type="dcterms:W3CDTF">2026-05-01T04:31:27Z</dcterms:created>
  <dcterms:modified xsi:type="dcterms:W3CDTF">2026-05-01T06:38:03Z</dcterms:modified>
</cp:coreProperties>
</file>