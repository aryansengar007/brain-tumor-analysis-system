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ira Sans" panose="020B0503050000020004" pitchFamily="34" charset="0"/>
      <p:regular r:id="rId13"/>
    </p:embeddedFont>
    <p:embeddedFont>
      <p:font typeface="Inconsolata Bold" pitchFamily="1" charset="0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33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Brain Tumor Detection, Classification, and Segmentation using MRI Scans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Aryan Sengar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(23CSU055) | Deep Learning Project</a:t>
            </a:r>
            <a:endParaRPr lang="en-US" sz="1750" dirty="0"/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Mentor: </a:t>
            </a: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Dr. Ashima Rani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| 20-04-2026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B0E63-6704-ABC6-4AC5-5F82FDB46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CBEBE3-4312-2873-6166-C82969D75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552388" cy="55523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37A040-D679-1A6D-D743-1296BB4FF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994" y="2672499"/>
            <a:ext cx="5552388" cy="55523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9624B8-20F9-420C-C269-7E4474FC0B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0981"/>
          <a:stretch>
            <a:fillRect/>
          </a:stretch>
        </p:blipFill>
        <p:spPr>
          <a:xfrm>
            <a:off x="-106837" y="-4713"/>
            <a:ext cx="5659225" cy="5448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E40B90-B57D-585E-E349-9D82E0BD149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978" t="48003"/>
          <a:stretch>
            <a:fillRect/>
          </a:stretch>
        </p:blipFill>
        <p:spPr>
          <a:xfrm>
            <a:off x="-106838" y="5417762"/>
            <a:ext cx="5659225" cy="2832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51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Introduction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69882"/>
            <a:ext cx="6244709" cy="35386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770942"/>
            <a:ext cx="527256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Transforming Healthcare with AI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599521" y="342304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Brain tumor detection represents a critical intersection of medical science and artificial intelligence. Early diagnosis dramatically improves patient outcomes, yet manual analysis remains time-consuming and prone to human error.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507873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project leverages deep learning to automate detection, classification, and precise segmentation of brain tumors from MRI scans, enabling faster, more accurate diagnosis and treatment planning.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23A2E3-6AFC-8758-355E-D8E8829DF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2F8EA0-DE9C-589F-E3A5-CB080EF76E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36"/>
          <a:stretch>
            <a:fillRect/>
          </a:stretch>
        </p:blipFill>
        <p:spPr>
          <a:xfrm>
            <a:off x="793790" y="2869882"/>
            <a:ext cx="6244709" cy="3704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62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88694"/>
            <a:ext cx="6407944" cy="2633543"/>
          </a:xfrm>
          <a:prstGeom prst="roundRect">
            <a:avLst>
              <a:gd name="adj" fmla="val 1292"/>
            </a:avLst>
          </a:prstGeom>
          <a:solidFill>
            <a:srgbClr val="F94CAF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15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05927"/>
            <a:ext cx="5954316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Manual diagnosis is time-intensive and subjective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Subtle tumor characteristics easily overlooked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 inter-observer variability among radiologists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Limited availability of expert neurologists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88694"/>
            <a:ext cx="6408063" cy="2633543"/>
          </a:xfrm>
          <a:prstGeom prst="roundRect">
            <a:avLst>
              <a:gd name="adj" fmla="val 1292"/>
            </a:avLst>
          </a:prstGeom>
          <a:solidFill>
            <a:srgbClr val="F94CAF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115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Impact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605927"/>
            <a:ext cx="595443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Delayed treatment initiation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Potential misdiagnosis or missed cases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Inconsistent treatment protocols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Overwhelmed healthcare systems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773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Automation Solution: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Deep learning models can process thousands of scans rapidly, identify patterns invisible to human eyes, and provide consistent, objective analysis—revolutionizing diagnostic workflows.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FD9EBF-A058-2F94-4014-299A9F216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67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133951" y="3906441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433550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679567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43355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930" y="3849707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586883"/>
            <a:ext cx="2975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Binary Classification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507730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Detect presence of tumor vs healthy brain tissue with high sensitivity and specificity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57123" y="3566160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433550"/>
          </a:solidFill>
          <a:ln/>
        </p:spPr>
      </p:sp>
      <p:sp>
        <p:nvSpPr>
          <p:cNvPr id="9" name="Shape 6"/>
          <p:cNvSpPr/>
          <p:nvPr/>
        </p:nvSpPr>
        <p:spPr>
          <a:xfrm>
            <a:off x="5216962" y="3339286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4335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7102" y="3509427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246602"/>
            <a:ext cx="35422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Tumor Type Classification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73702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Distinguish between meningioma, glioma, and pituitary tumor types for precise diagnosis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980295" y="3225998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433550"/>
          </a:solidFill>
          <a:ln/>
        </p:spPr>
      </p:sp>
      <p:sp>
        <p:nvSpPr>
          <p:cNvPr id="14" name="Shape 10"/>
          <p:cNvSpPr/>
          <p:nvPr/>
        </p:nvSpPr>
        <p:spPr>
          <a:xfrm>
            <a:off x="9640133" y="2999125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43355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0274" y="3169265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906441"/>
            <a:ext cx="3117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Precision Segmentation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39685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 pixel-level masks delineating exact tumor boundaries and regions for surgical planning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3BC0713-5763-F2FE-ADD3-E57C839A1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25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Literature Review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988344"/>
            <a:ext cx="3095982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Existing Approaches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065740"/>
            <a:ext cx="3095982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Traditional CNN architectures (VGG, ResNet, Inception) demonstrated promise in medical imaging. Transfer learning reduced training time significantly. U-Net pioneered encoder-decoder structures for segmentation.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450794" y="19883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Current Limitations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4450794" y="2640449"/>
            <a:ext cx="3906917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Single-task models lacking integration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Moderate accuracy on diverse datasets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Limited segmentation precision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Computational inefficiency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42818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project addresses these gaps through a multi-stage pipeline combining optimized architectures, domain-specific preprocessing, and ensemble techniques for superior performance.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091A18-4108-62E5-ADE8-0F45CB51BD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3" r="22197" b="86617"/>
          <a:stretch>
            <a:fillRect/>
          </a:stretch>
        </p:blipFill>
        <p:spPr>
          <a:xfrm>
            <a:off x="9144000" y="0"/>
            <a:ext cx="5486399" cy="712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44353C-3F11-60E2-2B57-072CB22E33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78" r="49916"/>
          <a:stretch>
            <a:fillRect/>
          </a:stretch>
        </p:blipFill>
        <p:spPr>
          <a:xfrm>
            <a:off x="9151500" y="719732"/>
            <a:ext cx="5486399" cy="38899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07275B-2E91-9CCD-4292-3968102FEA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t="11878"/>
          <a:stretch>
            <a:fillRect/>
          </a:stretch>
        </p:blipFill>
        <p:spPr>
          <a:xfrm>
            <a:off x="9151499" y="4609707"/>
            <a:ext cx="5478899" cy="3619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02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Proposed Methodology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959" y="2422684"/>
            <a:ext cx="7660481" cy="45465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7778" y="3533929"/>
            <a:ext cx="652129" cy="6521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16770" y="5914613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Segmentation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68" y="3535152"/>
            <a:ext cx="652130" cy="65213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16929" y="5914613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Type ID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0528" y="3535152"/>
            <a:ext cx="652130" cy="6521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77961" y="5914613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Detection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060C25-79C0-C78F-16DF-ADDD7FE88A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35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Details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85931"/>
            <a:ext cx="4196358" cy="4020145"/>
          </a:xfrm>
          <a:prstGeom prst="roundRect">
            <a:avLst>
              <a:gd name="adj" fmla="val 846"/>
            </a:avLst>
          </a:prstGeom>
          <a:solidFill>
            <a:srgbClr val="43355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912745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099792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82000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1: Binary Classification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466475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MRI + CT scans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Format: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2D slices (PNG)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Classes: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Tumor / Healthy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Purpose: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Initial detection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2685931"/>
            <a:ext cx="4196358" cy="4020145"/>
          </a:xfrm>
          <a:prstGeom prst="roundRect">
            <a:avLst>
              <a:gd name="adj" fmla="val 846"/>
            </a:avLst>
          </a:prstGeom>
          <a:solidFill>
            <a:srgbClr val="433550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776" y="2912745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099792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382000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2: Type Classification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43776" y="4664750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MRI scans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Format: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2D slices (PNG)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Classes: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Meningioma, Glioma, Pituitary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Purpose: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Subtype identification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2685931"/>
            <a:ext cx="4196358" cy="4020145"/>
          </a:xfrm>
          <a:prstGeom prst="roundRect">
            <a:avLst>
              <a:gd name="adj" fmla="val 846"/>
            </a:avLst>
          </a:prstGeom>
          <a:solidFill>
            <a:srgbClr val="433550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948" y="291274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099792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6948" y="3820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3: BraTS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6948" y="431042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BraTS challenge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Format: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3D multi-modal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Classes: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Fine-grained regions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Purpose: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Segmentation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3F01E5-535A-50AB-262C-127E5A4D01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6854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Tools and Technologies</a:t>
            </a:r>
            <a:endParaRPr lang="en-US" sz="4450" dirty="0"/>
          </a:p>
        </p:txBody>
      </p:sp>
      <p:sp>
        <p:nvSpPr>
          <p:cNvPr id="9" name="Text 1"/>
          <p:cNvSpPr/>
          <p:nvPr/>
        </p:nvSpPr>
        <p:spPr>
          <a:xfrm>
            <a:off x="8041276" y="2878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Core Stack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8041276" y="3566396"/>
            <a:ext cx="6244709" cy="329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Python: Backend logic and model implementation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TensorFlow/Keras: Deep learning framework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OpenCV: Image preprocessing and augmentation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Jupyter Notebook: Interactive experimentation and model training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Visual Studio Code: Development environment for coding and project integration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Streamlit: Web interface for model deployment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4127D1-8EF8-A40A-54DD-7CAC76B67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814FAA-C60B-4517-F768-AC9AFFE1D7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-118" r="4450" b="6583"/>
          <a:stretch>
            <a:fillRect/>
          </a:stretch>
        </p:blipFill>
        <p:spPr>
          <a:xfrm>
            <a:off x="457537" y="2606315"/>
            <a:ext cx="7102760" cy="38793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86621"/>
            <a:ext cx="5138976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Timeline &amp; Work Plan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01510"/>
            <a:ext cx="22860" cy="6041350"/>
          </a:xfrm>
          <a:prstGeom prst="roundRect">
            <a:avLst>
              <a:gd name="adj" fmla="val 134884"/>
            </a:avLst>
          </a:prstGeom>
          <a:solidFill>
            <a:srgbClr val="5C4E69"/>
          </a:solidFill>
          <a:ln/>
        </p:spPr>
      </p:sp>
      <p:sp>
        <p:nvSpPr>
          <p:cNvPr id="4" name="Shape 2"/>
          <p:cNvSpPr/>
          <p:nvPr/>
        </p:nvSpPr>
        <p:spPr>
          <a:xfrm>
            <a:off x="6490216" y="1821299"/>
            <a:ext cx="616625" cy="22860"/>
          </a:xfrm>
          <a:prstGeom prst="roundRect">
            <a:avLst>
              <a:gd name="adj" fmla="val 134884"/>
            </a:avLst>
          </a:prstGeom>
          <a:solidFill>
            <a:srgbClr val="5C4E69"/>
          </a:solidFill>
          <a:ln/>
        </p:spPr>
      </p:sp>
      <p:sp>
        <p:nvSpPr>
          <p:cNvPr id="5" name="Shape 3"/>
          <p:cNvSpPr/>
          <p:nvPr/>
        </p:nvSpPr>
        <p:spPr>
          <a:xfrm>
            <a:off x="7083981" y="1601510"/>
            <a:ext cx="462439" cy="462439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</p:sp>
      <p:sp>
        <p:nvSpPr>
          <p:cNvPr id="6" name="Text 4"/>
          <p:cNvSpPr/>
          <p:nvPr/>
        </p:nvSpPr>
        <p:spPr>
          <a:xfrm>
            <a:off x="7161074" y="1640026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4091" y="1672114"/>
            <a:ext cx="3083362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Phase 1: Data Collection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9376" y="2104906"/>
            <a:ext cx="5568077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Curate datasets, implement preprocessing pipelines, validate data quality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3559" y="3016091"/>
            <a:ext cx="616625" cy="22860"/>
          </a:xfrm>
          <a:prstGeom prst="roundRect">
            <a:avLst>
              <a:gd name="adj" fmla="val 134884"/>
            </a:avLst>
          </a:prstGeom>
          <a:solidFill>
            <a:srgbClr val="5C4E69"/>
          </a:solidFill>
          <a:ln/>
        </p:spPr>
      </p:sp>
      <p:sp>
        <p:nvSpPr>
          <p:cNvPr id="10" name="Shape 8"/>
          <p:cNvSpPr/>
          <p:nvPr/>
        </p:nvSpPr>
        <p:spPr>
          <a:xfrm>
            <a:off x="7083981" y="2796302"/>
            <a:ext cx="462439" cy="462439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</p:sp>
      <p:sp>
        <p:nvSpPr>
          <p:cNvPr id="11" name="Text 9"/>
          <p:cNvSpPr/>
          <p:nvPr/>
        </p:nvSpPr>
        <p:spPr>
          <a:xfrm>
            <a:off x="7161074" y="2834819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42948" y="2866906"/>
            <a:ext cx="334029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Phase 2: Model Development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42948" y="3299698"/>
            <a:ext cx="5568077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Build and train three-stage pipeline, optimize hyperparameters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0216" y="4059912"/>
            <a:ext cx="616625" cy="22860"/>
          </a:xfrm>
          <a:prstGeom prst="roundRect">
            <a:avLst>
              <a:gd name="adj" fmla="val 134884"/>
            </a:avLst>
          </a:prstGeom>
          <a:solidFill>
            <a:srgbClr val="5C4E6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3981" y="3840123"/>
            <a:ext cx="462439" cy="462439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</p:sp>
      <p:sp>
        <p:nvSpPr>
          <p:cNvPr id="16" name="Text 14"/>
          <p:cNvSpPr/>
          <p:nvPr/>
        </p:nvSpPr>
        <p:spPr>
          <a:xfrm>
            <a:off x="7161074" y="3878640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17965" y="391072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Phase 3: Integration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9376" y="4343519"/>
            <a:ext cx="5568077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Connect models into unified workflow, implement validation framework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3559" y="5103733"/>
            <a:ext cx="616625" cy="22860"/>
          </a:xfrm>
          <a:prstGeom prst="roundRect">
            <a:avLst>
              <a:gd name="adj" fmla="val 134884"/>
            </a:avLst>
          </a:prstGeom>
          <a:solidFill>
            <a:srgbClr val="5C4E69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3981" y="4883944"/>
            <a:ext cx="462439" cy="462439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</p:sp>
      <p:sp>
        <p:nvSpPr>
          <p:cNvPr id="21" name="Text 19"/>
          <p:cNvSpPr/>
          <p:nvPr/>
        </p:nvSpPr>
        <p:spPr>
          <a:xfrm>
            <a:off x="7161074" y="4922460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42948" y="495454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Phase 4: Testing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2948" y="5387340"/>
            <a:ext cx="5568077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Evaluate performance metrics, conduct error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0216" y="6147554"/>
            <a:ext cx="616625" cy="22860"/>
          </a:xfrm>
          <a:prstGeom prst="roundRect">
            <a:avLst>
              <a:gd name="adj" fmla="val 134884"/>
            </a:avLst>
          </a:prstGeom>
          <a:solidFill>
            <a:srgbClr val="5C4E69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3981" y="5927765"/>
            <a:ext cx="462439" cy="462439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</p:sp>
      <p:sp>
        <p:nvSpPr>
          <p:cNvPr id="26" name="Text 24"/>
          <p:cNvSpPr/>
          <p:nvPr/>
        </p:nvSpPr>
        <p:spPr>
          <a:xfrm>
            <a:off x="7161074" y="5966281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17965" y="599836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Phase 5: Deployment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9376" y="6431161"/>
            <a:ext cx="5568077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Deploy web interface, document methodology and results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7F63C63-9A3A-F305-E371-A221305B7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7596"/>
            <a:ext cx="7370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Expected Outcomes &amp;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335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95%+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Target 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6556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 precision across all three stages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04335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3-Stage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Integrated Pipeline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56556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Complete diagnostic workflow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04335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24/7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Availability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56556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Continuous automated analysis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600813"/>
            <a:ext cx="408193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Transformative Potential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93790" y="5252918"/>
            <a:ext cx="760428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multi-stage deep learning system promises to revolutionize neuro-oncology by enabling rapid, accurate tumor diagnosis. By automating detection, classification, and segmentation, healthcare providers can focus on treatment planning while AI handles initial screening—expanding access to quality care globally.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A52B53-00E9-EBAE-8AA5-B4B409836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3081" y="7486546"/>
            <a:ext cx="2467319" cy="7430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A777433-7C24-7E67-CB8C-52F28E98EA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50" t="4458" r="5058" b="13187"/>
          <a:stretch>
            <a:fillRect/>
          </a:stretch>
        </p:blipFill>
        <p:spPr>
          <a:xfrm>
            <a:off x="8629063" y="4600813"/>
            <a:ext cx="5672353" cy="2790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576</Words>
  <Application>Microsoft Office PowerPoint</Application>
  <PresentationFormat>Custom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Inconsolata Bold</vt:lpstr>
      <vt:lpstr>Arial</vt:lpstr>
      <vt:lpstr>Fira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Aryan Sengar</cp:lastModifiedBy>
  <cp:revision>6</cp:revision>
  <dcterms:created xsi:type="dcterms:W3CDTF">2026-04-20T17:53:25Z</dcterms:created>
  <dcterms:modified xsi:type="dcterms:W3CDTF">2026-05-01T06:18:26Z</dcterms:modified>
</cp:coreProperties>
</file>