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93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masoudnickparvar/brain-tumor-mri-dataset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457200" y="-457200"/>
            <a:ext cx="2926080" cy="2926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>
            <a:off x="6675120" y="2377440"/>
            <a:ext cx="2926080" cy="29260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32000"/>
          </a:blip>
          <a:stretch>
            <a:fillRect/>
          </a:stretch>
        </p:blipFill>
        <p:spPr>
          <a:xfrm>
            <a:off x="4754880" y="157558"/>
            <a:ext cx="3840480" cy="38404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00D4FF">
              <a:alpha val="7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7472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347472" y="10881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&amp; Selection Rationale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347472" y="13716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deep learning models — each optimised for a distinct stage of the diagnostic pipeline.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47472" y="1691640"/>
            <a:ext cx="2816352" cy="2651760"/>
          </a:xfrm>
          <a:prstGeom prst="rect">
            <a:avLst/>
          </a:prstGeom>
          <a:solidFill>
            <a:srgbClr val="0B1A30"/>
          </a:solidFill>
          <a:ln w="1524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7472" y="1691640"/>
            <a:ext cx="50292" cy="2651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66344" y="178308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466344" y="225856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Binary Detection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66344" y="260604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128×128 Grayscale MRI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66344" y="2852928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× 2 + MaxPool + Dense layers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66344" y="3099816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Healthy / Tumor (Sigmoid)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66344" y="359359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Test Accuracy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347472" y="3959352"/>
            <a:ext cx="2816352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6344" y="39776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 — binary detection stage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246120" y="1691640"/>
            <a:ext cx="2816352" cy="2651760"/>
          </a:xfrm>
          <a:prstGeom prst="rect">
            <a:avLst/>
          </a:prstGeom>
          <a:solidFill>
            <a:srgbClr val="0B1A30"/>
          </a:solidFill>
          <a:ln w="15240">
            <a:solidFill>
              <a:srgbClr val="9D5A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46120" y="1691640"/>
            <a:ext cx="50292" cy="2651760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64992" y="178308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3364992" y="225856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Classification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364992" y="260604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224×224 RGB MRI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364992" y="2852928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MobileNetV2 + Dense 128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364992" y="3099816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4-class Softmax (Glioma / Meningioma / Pituitary / None)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3364992" y="359359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Test Accuracy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3246120" y="3959352"/>
            <a:ext cx="2816352" cy="384048"/>
          </a:xfrm>
          <a:prstGeom prst="rect">
            <a:avLst/>
          </a:prstGeom>
          <a:solidFill>
            <a:srgbClr val="9D5AF0">
              <a:alpha val="20000"/>
            </a:srgbClr>
          </a:solidFill>
          <a:ln w="10160">
            <a:solidFill>
              <a:srgbClr val="9D5A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364992" y="39776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 — tumor type classification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144768" y="1691640"/>
            <a:ext cx="2816352" cy="2651760"/>
          </a:xfrm>
          <a:prstGeom prst="rect">
            <a:avLst/>
          </a:prstGeom>
          <a:solidFill>
            <a:srgbClr val="0B1A30"/>
          </a:solidFill>
          <a:ln w="15240">
            <a:solidFill>
              <a:srgbClr val="10B981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144768" y="1691640"/>
            <a:ext cx="50292" cy="2651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63640" y="178308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3" name="Text 28"/>
          <p:cNvSpPr/>
          <p:nvPr/>
        </p:nvSpPr>
        <p:spPr>
          <a:xfrm>
            <a:off x="6263640" y="225856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Segmentation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263640" y="260604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128×128 MRI + Binary Mask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263640" y="2852928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+ Skip Connections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63640" y="3099816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Pixel-wise tumor mask (Sigmoid)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263640" y="359359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 0.80+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6144768" y="3959352"/>
            <a:ext cx="2816352" cy="384048"/>
          </a:xfrm>
          <a:prstGeom prst="rect">
            <a:avLst/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263640" y="39776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 — pixel-wise localisation</a:t>
            </a:r>
            <a:endParaRPr lang="en-US" sz="85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70382" y="4478274"/>
            <a:ext cx="10849356" cy="516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6492240" y="-365760"/>
            <a:ext cx="3108960" cy="310896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78000"/>
          </a:blip>
          <a:stretch>
            <a:fillRect/>
          </a:stretch>
        </p:blipFill>
        <p:spPr>
          <a:xfrm>
            <a:off x="-365760" y="329184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182880" y="2011680"/>
            <a:ext cx="3657600" cy="36576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105156"/>
            <a:ext cx="1783080" cy="274320"/>
          </a:xfrm>
          <a:prstGeom prst="roundRect">
            <a:avLst/>
          </a:prstGeom>
          <a:solidFill>
            <a:srgbClr val="7C3AED">
              <a:alpha val="7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283464" y="118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7472" y="3971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3400" dirty="0"/>
          </a:p>
        </p:txBody>
      </p:sp>
      <p:sp>
        <p:nvSpPr>
          <p:cNvPr id="8" name="Text 3"/>
          <p:cNvSpPr/>
          <p:nvPr/>
        </p:nvSpPr>
        <p:spPr>
          <a:xfrm>
            <a:off x="347472" y="89781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directly from model training and evaluation outputs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47472" y="1285669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BINARY DETECTION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47472" y="1673352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1737360"/>
            <a:ext cx="2340864" cy="1188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0" y="167335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320040" y="2044874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(Tumor)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2133600"/>
            <a:ext cx="2340864" cy="1188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0" y="204868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347472" y="251460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(Tumor)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2586228"/>
            <a:ext cx="2340864" cy="11887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572000" y="251460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347472" y="2935224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7128" y="3008376"/>
            <a:ext cx="2340864" cy="11887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572000" y="293522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347472" y="34015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CLASSIFICATION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347472" y="3666744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6272" y="3730752"/>
            <a:ext cx="2340864" cy="11887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572000" y="366674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000" dirty="0"/>
          </a:p>
        </p:txBody>
      </p:sp>
      <p:sp>
        <p:nvSpPr>
          <p:cNvPr id="26" name="Text 16"/>
          <p:cNvSpPr/>
          <p:nvPr/>
        </p:nvSpPr>
        <p:spPr>
          <a:xfrm>
            <a:off x="347472" y="4069080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 F1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6272" y="4133088"/>
            <a:ext cx="2340864" cy="11887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572000" y="406908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00" dirty="0"/>
          </a:p>
        </p:txBody>
      </p:sp>
      <p:sp>
        <p:nvSpPr>
          <p:cNvPr id="29" name="Text 18"/>
          <p:cNvSpPr/>
          <p:nvPr/>
        </p:nvSpPr>
        <p:spPr>
          <a:xfrm>
            <a:off x="347472" y="45171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SEGMENTATION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347472" y="4773168"/>
            <a:ext cx="17190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Coefficient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6272" y="4837176"/>
            <a:ext cx="2340864" cy="11887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572000" y="47731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0.80+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5212080" y="1009824"/>
            <a:ext cx="1792224" cy="1078992"/>
          </a:xfrm>
          <a:prstGeom prst="rect">
            <a:avLst/>
          </a:prstGeom>
          <a:solidFill>
            <a:srgbClr val="0B1A30"/>
          </a:solidFill>
          <a:ln w="1397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5212080" y="1009824"/>
            <a:ext cx="45720" cy="10789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5321808" y="110126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2200" dirty="0"/>
          </a:p>
        </p:txBody>
      </p:sp>
      <p:sp>
        <p:nvSpPr>
          <p:cNvPr id="36" name="Text 24"/>
          <p:cNvSpPr/>
          <p:nvPr/>
        </p:nvSpPr>
        <p:spPr>
          <a:xfrm>
            <a:off x="5321808" y="15767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Detection</a:t>
            </a:r>
            <a:endParaRPr lang="en-US" sz="1000" dirty="0"/>
          </a:p>
        </p:txBody>
      </p:sp>
      <p:sp>
        <p:nvSpPr>
          <p:cNvPr id="37" name="Text 25"/>
          <p:cNvSpPr/>
          <p:nvPr/>
        </p:nvSpPr>
        <p:spPr>
          <a:xfrm>
            <a:off x="5321808" y="18053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</a:t>
            </a:r>
            <a:endParaRPr lang="en-US" sz="850" dirty="0"/>
          </a:p>
        </p:txBody>
      </p:sp>
      <p:sp>
        <p:nvSpPr>
          <p:cNvPr id="38" name="Shape 26"/>
          <p:cNvSpPr/>
          <p:nvPr/>
        </p:nvSpPr>
        <p:spPr>
          <a:xfrm>
            <a:off x="7114032" y="1009824"/>
            <a:ext cx="1792224" cy="1078992"/>
          </a:xfrm>
          <a:prstGeom prst="rect">
            <a:avLst/>
          </a:prstGeom>
          <a:solidFill>
            <a:srgbClr val="0B1A30"/>
          </a:solidFill>
          <a:ln w="13970">
            <a:solidFill>
              <a:srgbClr val="9D5A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7114032" y="1009824"/>
            <a:ext cx="45720" cy="1078992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7223760" y="110126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2200" dirty="0"/>
          </a:p>
        </p:txBody>
      </p:sp>
      <p:sp>
        <p:nvSpPr>
          <p:cNvPr id="41" name="Text 29"/>
          <p:cNvSpPr/>
          <p:nvPr/>
        </p:nvSpPr>
        <p:spPr>
          <a:xfrm>
            <a:off x="7223760" y="15767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7223760" y="18053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850" dirty="0"/>
          </a:p>
        </p:txBody>
      </p:sp>
      <p:sp>
        <p:nvSpPr>
          <p:cNvPr id="43" name="Shape 31"/>
          <p:cNvSpPr/>
          <p:nvPr/>
        </p:nvSpPr>
        <p:spPr>
          <a:xfrm>
            <a:off x="5212080" y="2198544"/>
            <a:ext cx="1792224" cy="1078992"/>
          </a:xfrm>
          <a:prstGeom prst="rect">
            <a:avLst/>
          </a:prstGeom>
          <a:solidFill>
            <a:srgbClr val="0B1A30"/>
          </a:solidFill>
          <a:ln w="13970">
            <a:solidFill>
              <a:srgbClr val="10B981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5212080" y="2198544"/>
            <a:ext cx="4572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5321808" y="228998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0.80+</a:t>
            </a:r>
            <a:endParaRPr lang="en-US" sz="2200" dirty="0"/>
          </a:p>
        </p:txBody>
      </p:sp>
      <p:sp>
        <p:nvSpPr>
          <p:cNvPr id="46" name="Text 34"/>
          <p:cNvSpPr/>
          <p:nvPr/>
        </p:nvSpPr>
        <p:spPr>
          <a:xfrm>
            <a:off x="5321808" y="27654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5321808" y="29940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Segmentation</a:t>
            </a:r>
            <a:endParaRPr lang="en-US" sz="850" dirty="0"/>
          </a:p>
        </p:txBody>
      </p:sp>
      <p:sp>
        <p:nvSpPr>
          <p:cNvPr id="48" name="Shape 36"/>
          <p:cNvSpPr/>
          <p:nvPr/>
        </p:nvSpPr>
        <p:spPr>
          <a:xfrm>
            <a:off x="7114032" y="2198544"/>
            <a:ext cx="1792224" cy="1078992"/>
          </a:xfrm>
          <a:prstGeom prst="rect">
            <a:avLst/>
          </a:prstGeom>
          <a:solidFill>
            <a:srgbClr val="0B1A30"/>
          </a:solidFill>
          <a:ln w="13970">
            <a:solidFill>
              <a:srgbClr val="F59E0B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9" name="Shape 37"/>
          <p:cNvSpPr/>
          <p:nvPr/>
        </p:nvSpPr>
        <p:spPr>
          <a:xfrm>
            <a:off x="7114032" y="2198544"/>
            <a:ext cx="4572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7223760" y="228998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2200" dirty="0"/>
          </a:p>
        </p:txBody>
      </p:sp>
      <p:sp>
        <p:nvSpPr>
          <p:cNvPr id="51" name="Text 39"/>
          <p:cNvSpPr/>
          <p:nvPr/>
        </p:nvSpPr>
        <p:spPr>
          <a:xfrm>
            <a:off x="7223760" y="276547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000" dirty="0"/>
          </a:p>
        </p:txBody>
      </p:sp>
      <p:sp>
        <p:nvSpPr>
          <p:cNvPr id="52" name="Text 40"/>
          <p:cNvSpPr/>
          <p:nvPr/>
        </p:nvSpPr>
        <p:spPr>
          <a:xfrm>
            <a:off x="7223760" y="299407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Epoch 10</a:t>
            </a:r>
            <a:endParaRPr lang="en-US" sz="850" dirty="0"/>
          </a:p>
        </p:txBody>
      </p:sp>
      <p:sp>
        <p:nvSpPr>
          <p:cNvPr id="53" name="Text 41"/>
          <p:cNvSpPr/>
          <p:nvPr/>
        </p:nvSpPr>
        <p:spPr>
          <a:xfrm>
            <a:off x="5212080" y="342900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 — MobileNetV2</a:t>
            </a:r>
            <a:endParaRPr lang="en-US" sz="95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632888"/>
              </p:ext>
            </p:extLst>
          </p:nvPr>
        </p:nvGraphicFramePr>
        <p:xfrm>
          <a:off x="5212080" y="3685032"/>
          <a:ext cx="3694176" cy="1325880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D4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Glioma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D4FF"/>
                          </a:solidFill>
                        </a:rPr>
                        <a:t>0.94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0.76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0.84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Meningioma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D4FF"/>
                          </a:solidFill>
                        </a:rPr>
                        <a:t>0.85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D4FF"/>
                          </a:solidFill>
                        </a:rPr>
                        <a:t>0.86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0.86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Pituitary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D4FF"/>
                          </a:solidFill>
                        </a:rPr>
                        <a:t>0.88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0.94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No Tumor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D4FF"/>
                          </a:solidFill>
                        </a:rPr>
                        <a:t>0.94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0.96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6949440" y="-36576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>
            <a:off x="-365760" y="2926080"/>
            <a:ext cx="274320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10B981">
              <a:alpha val="7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47472" y="5303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347472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and training accuracy curves from model runs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47472" y="1389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BINARY DETECTION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47472" y="1636776"/>
            <a:ext cx="4160520" cy="1554480"/>
          </a:xfrm>
          <a:prstGeom prst="rect">
            <a:avLst/>
          </a:prstGeom>
          <a:solidFill>
            <a:srgbClr val="061020"/>
          </a:solidFill>
          <a:ln w="1397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1673352"/>
            <a:ext cx="4087368" cy="14813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54296" y="1636776"/>
            <a:ext cx="4160520" cy="1554480"/>
          </a:xfrm>
          <a:prstGeom prst="rect">
            <a:avLst/>
          </a:prstGeom>
          <a:solidFill>
            <a:srgbClr val="061020"/>
          </a:solidFill>
          <a:ln w="1397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1673352"/>
            <a:ext cx="4087368" cy="1481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7472" y="32552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CLASSIFICATION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347472" y="3502152"/>
            <a:ext cx="4160520" cy="1554480"/>
          </a:xfrm>
          <a:prstGeom prst="rect">
            <a:avLst/>
          </a:prstGeom>
          <a:solidFill>
            <a:srgbClr val="061020"/>
          </a:solidFill>
          <a:ln w="13970">
            <a:solidFill>
              <a:srgbClr val="9D5A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538728"/>
            <a:ext cx="4087368" cy="148132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654296" y="3502152"/>
            <a:ext cx="4160520" cy="1554480"/>
          </a:xfrm>
          <a:prstGeom prst="rect">
            <a:avLst/>
          </a:prstGeom>
          <a:solidFill>
            <a:srgbClr val="061020"/>
          </a:solidFill>
          <a:ln w="13970">
            <a:solidFill>
              <a:srgbClr val="9D5A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3538728"/>
            <a:ext cx="4087368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6858000" y="-365760"/>
            <a:ext cx="2926080" cy="2926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>
            <a:off x="-342900" y="3401568"/>
            <a:ext cx="2560320" cy="25603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4952034" y="962283"/>
            <a:ext cx="4389120" cy="43891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10B981">
              <a:alpha val="7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RESULTS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7472" y="453136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Tumor Segmentation Output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347472" y="9784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prediction using Encoder-Decoder with Skip Connections — trained for 30 epochs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10895" y="1289231"/>
            <a:ext cx="6595595" cy="1683098"/>
          </a:xfrm>
          <a:prstGeom prst="rect">
            <a:avLst/>
          </a:prstGeom>
          <a:solidFill>
            <a:srgbClr val="061020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1" y="1317974"/>
            <a:ext cx="6510529" cy="16181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8485" y="295848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MRI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1990203" y="295156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Mask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3284086" y="295156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Mask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605804" y="2936121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Overlay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310896" y="3317805"/>
            <a:ext cx="6968836" cy="1372559"/>
          </a:xfrm>
          <a:prstGeom prst="rect">
            <a:avLst/>
          </a:prstGeom>
          <a:solidFill>
            <a:srgbClr val="061020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rcRect l="-1992" t="-34687" r="1119" b="11802"/>
          <a:stretch>
            <a:fillRect/>
          </a:stretch>
        </p:blipFill>
        <p:spPr>
          <a:xfrm>
            <a:off x="185264" y="2884731"/>
            <a:ext cx="7033894" cy="1711627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10896" y="4780437"/>
            <a:ext cx="8449056" cy="256032"/>
          </a:xfrm>
          <a:prstGeom prst="rect">
            <a:avLst/>
          </a:prstGeom>
          <a:solidFill>
            <a:srgbClr val="071A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20624" y="4817013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Dice: </a:t>
            </a: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0.9164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Dice: </a:t>
            </a: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0.8041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(ReduceLROnPlateau + EarlyStopping)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858000" y="-365760"/>
            <a:ext cx="2926080" cy="2926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78000"/>
          </a:blip>
          <a:stretch>
            <a:fillRect/>
          </a:stretch>
        </p:blipFill>
        <p:spPr>
          <a:xfrm>
            <a:off x="-365760" y="2926080"/>
            <a:ext cx="2926080" cy="29260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28000"/>
          </a:blip>
          <a:stretch>
            <a:fillRect/>
          </a:stretch>
        </p:blipFill>
        <p:spPr>
          <a:xfrm>
            <a:off x="4754880" y="731520"/>
            <a:ext cx="4572000" cy="4572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F59E0B">
              <a:alpha val="7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7472" y="5303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347472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models vs existing baseline methods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972218"/>
              </p:ext>
            </p:extLst>
          </p:nvPr>
        </p:nvGraphicFramePr>
        <p:xfrm>
          <a:off x="347472" y="1389888"/>
          <a:ext cx="8449056" cy="2907792"/>
        </p:xfrm>
        <a:graphic>
          <a:graphicData uri="http://schemas.openxmlformats.org/drawingml/2006/table">
            <a:tbl>
              <a:tblPr/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Architecture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Speed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Generalisation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Basic CNN (Baseline)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~85%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Simple Conv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Fast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Limited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</a:rPr>
                        <a:t>Our CNN Detection ✓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Binary Classifier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Fast (10 ep)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ResNet50 (Literature)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~91%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Deep ResNet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Slow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Good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VGG16 Transfer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~88%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VGG16 TL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Moderate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Good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D5AF0"/>
                          </a:solidFill>
                        </a:rPr>
                        <a:t>Our MobileNetV2 ✓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90.0%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MobileNetV2 TL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Efficient (15 ep)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Basic U-Net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Dice ~0.70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Vanilla U-Net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Slow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Moderate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Our U-Net ✓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Dice 0.80+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BN + Dropout</a:t>
                      </a:r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Optimised (30 ep)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Strong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347472" y="4370832"/>
            <a:ext cx="2724912" cy="548640"/>
          </a:xfrm>
          <a:prstGeom prst="rect">
            <a:avLst/>
          </a:prstGeom>
          <a:solidFill>
            <a:srgbClr val="071A0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347472" y="4370832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57200" y="4425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 pp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457200" y="468172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CNN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3209544" y="4370832"/>
            <a:ext cx="2724912" cy="548640"/>
          </a:xfrm>
          <a:prstGeom prst="rect">
            <a:avLst/>
          </a:prstGeom>
          <a:solidFill>
            <a:srgbClr val="130A2A"/>
          </a:solidFill>
          <a:ln w="15240">
            <a:solidFill>
              <a:srgbClr val="9D5AF0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209544" y="4370832"/>
            <a:ext cx="45720" cy="548640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319272" y="4425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Eff. TL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3319272" y="468172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with MobileNetV2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071616" y="4370832"/>
            <a:ext cx="2724912" cy="548640"/>
          </a:xfrm>
          <a:prstGeom prst="rect">
            <a:avLst/>
          </a:prstGeom>
          <a:solidFill>
            <a:srgbClr val="06131A"/>
          </a:solidFill>
          <a:ln w="15240">
            <a:solidFill>
              <a:srgbClr val="00D4FF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071616" y="4370832"/>
            <a:ext cx="4572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181344" y="44256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0.80+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181344" y="468172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vs vanilla U-Net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-365760" y="-365760"/>
            <a:ext cx="2926080" cy="2926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>
            <a:off x="6675120" y="2743200"/>
            <a:ext cx="2926080" cy="29260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5120640" y="-182880"/>
            <a:ext cx="4572000" cy="4572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0EA5E9">
              <a:alpha val="7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7472" y="5303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Deployment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347472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and deployment possibilities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47472" y="1389888"/>
            <a:ext cx="2761488" cy="1188720"/>
          </a:xfrm>
          <a:prstGeom prst="rect">
            <a:avLst/>
          </a:prstGeom>
          <a:solidFill>
            <a:srgbClr val="0B1A30"/>
          </a:solidFill>
          <a:ln w="1397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347472" y="1389888"/>
            <a:ext cx="4572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8912" y="148132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69264" y="14813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Diagnostic Support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1865376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MRI screening for accurate, faster tumor detection in clinical settings.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191256" y="1389888"/>
            <a:ext cx="2761488" cy="1188720"/>
          </a:xfrm>
          <a:prstGeom prst="rect">
            <a:avLst/>
          </a:prstGeom>
          <a:solidFill>
            <a:srgbClr val="0B1A30"/>
          </a:solidFill>
          <a:ln w="13970">
            <a:solidFill>
              <a:srgbClr val="9D5A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191256" y="1389888"/>
            <a:ext cx="45720" cy="1188720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82696" y="148132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813048" y="14813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Analysis Automation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300984" y="1865376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manual radiologist review, significantly reducing analysis time.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035040" y="1389888"/>
            <a:ext cx="2761488" cy="1188720"/>
          </a:xfrm>
          <a:prstGeom prst="rect">
            <a:avLst/>
          </a:prstGeom>
          <a:solidFill>
            <a:srgbClr val="0B1A30"/>
          </a:solidFill>
          <a:ln w="13970">
            <a:solidFill>
              <a:srgbClr val="10B981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35040" y="1389888"/>
            <a:ext cx="457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26480" y="148132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656832" y="14813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Assistance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44768" y="1865376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and multi-class classifications to support oncologists.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47472" y="2688336"/>
            <a:ext cx="2761488" cy="1188720"/>
          </a:xfrm>
          <a:prstGeom prst="rect">
            <a:avLst/>
          </a:prstGeom>
          <a:solidFill>
            <a:srgbClr val="0B1A30"/>
          </a:solidFill>
          <a:ln w="13970">
            <a:solidFill>
              <a:srgbClr val="0EA5E9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47472" y="2688336"/>
            <a:ext cx="45720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38912" y="277977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969264" y="27797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Healthcare Access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31638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enables AI diagnostics in rural and underserved regions.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191256" y="2688336"/>
            <a:ext cx="2761488" cy="1188720"/>
          </a:xfrm>
          <a:prstGeom prst="rect">
            <a:avLst/>
          </a:prstGeom>
          <a:solidFill>
            <a:srgbClr val="0B1A30"/>
          </a:solidFill>
          <a:ln w="13970">
            <a:solidFill>
              <a:srgbClr val="F59E0B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191256" y="2688336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82696" y="277977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813048" y="27797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Education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3300984" y="31638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resource with annotated MRI examples for radiology students.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035040" y="2688336"/>
            <a:ext cx="2761488" cy="1188720"/>
          </a:xfrm>
          <a:prstGeom prst="rect">
            <a:avLst/>
          </a:prstGeom>
          <a:solidFill>
            <a:srgbClr val="0B1A30"/>
          </a:solidFill>
          <a:ln w="13970">
            <a:solidFill>
              <a:srgbClr val="EF4444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035040" y="2688336"/>
            <a:ext cx="4572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126480" y="277977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6656832" y="2779776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Radiology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144768" y="3163824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Streamlit dashboard for real-time MRI upload and reporting.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347472" y="4078224"/>
            <a:ext cx="8449056" cy="457200"/>
          </a:xfrm>
          <a:prstGeom prst="rect">
            <a:avLst/>
          </a:prstGeom>
          <a:solidFill>
            <a:srgbClr val="0610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75488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Deployment: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475488" y="43159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Streamlit web app  •  Mobile via QR code  •  Real-time GPU inference  •  Cloud integration (AWS / GCP)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-365760" y="-36576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>
            <a:off x="6400800" y="237744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10B981">
              <a:alpha val="7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47472" y="5303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347472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objectives achieved — end-to-end pipeline fully operational and validated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47472" y="1389888"/>
            <a:ext cx="4187952" cy="969264"/>
          </a:xfrm>
          <a:prstGeom prst="rect">
            <a:avLst/>
          </a:prstGeom>
          <a:solidFill>
            <a:srgbClr val="06121A"/>
          </a:solidFill>
          <a:ln w="1397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47472" y="1389888"/>
            <a:ext cx="45720" cy="9692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" y="14813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97.3% Detection Accuracy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75488" y="184708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Binary Classifier — real Kaggle MRI dataset (1,924 test samples)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45152" y="1389888"/>
            <a:ext cx="4187952" cy="969264"/>
          </a:xfrm>
          <a:prstGeom prst="rect">
            <a:avLst/>
          </a:prstGeom>
          <a:solidFill>
            <a:srgbClr val="0D0622"/>
          </a:solidFill>
          <a:ln w="13970">
            <a:solidFill>
              <a:srgbClr val="9D5A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45152" y="1389888"/>
            <a:ext cx="45720" cy="969264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73168" y="14813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90.0% Classification Accuracy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773168" y="184708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4 classes: Glioma, Meningioma, Pituitary, No Tumor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7472" y="2450592"/>
            <a:ext cx="4187952" cy="969264"/>
          </a:xfrm>
          <a:prstGeom prst="rect">
            <a:avLst/>
          </a:prstGeom>
          <a:solidFill>
            <a:srgbClr val="071A0F"/>
          </a:solidFill>
          <a:ln w="13970">
            <a:solidFill>
              <a:srgbClr val="10B981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7472" y="2450592"/>
            <a:ext cx="45720" cy="9692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" y="25420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Dice Score 0.80+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75488" y="290779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— Batch Norm + Dropout + combined Dice+BCE loss function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45152" y="2450592"/>
            <a:ext cx="4187952" cy="969264"/>
          </a:xfrm>
          <a:prstGeom prst="rect">
            <a:avLst/>
          </a:prstGeom>
          <a:solidFill>
            <a:srgbClr val="1A1006"/>
          </a:solidFill>
          <a:ln w="13970">
            <a:solidFill>
              <a:srgbClr val="F59E0B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45152" y="2450592"/>
            <a:ext cx="45720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73168" y="25420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End-to-End Pipeline Operational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773168" y="290779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MRI → Detect → Classify → Segment → Annotated Report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7472" y="3511296"/>
            <a:ext cx="4187952" cy="969264"/>
          </a:xfrm>
          <a:prstGeom prst="rect">
            <a:avLst/>
          </a:prstGeom>
          <a:solidFill>
            <a:srgbClr val="06101A"/>
          </a:solidFill>
          <a:ln w="13970">
            <a:solidFill>
              <a:srgbClr val="0EA5E9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47472" y="3511296"/>
            <a:ext cx="45720" cy="9692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" y="360273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Datasets Validated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75488" y="396849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(detection + classification + segmentation)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645152" y="3511296"/>
            <a:ext cx="4187952" cy="969264"/>
          </a:xfrm>
          <a:prstGeom prst="rect">
            <a:avLst/>
          </a:prstGeom>
          <a:solidFill>
            <a:srgbClr val="1A0606"/>
          </a:solidFill>
          <a:ln w="13970">
            <a:solidFill>
              <a:srgbClr val="EF4444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45152" y="3511296"/>
            <a:ext cx="45720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73168" y="360273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 App Prototype Built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773168" y="396849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Streamlit backend — operational and demo-ready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47472" y="4645152"/>
            <a:ext cx="8449056" cy="256032"/>
          </a:xfrm>
          <a:prstGeom prst="rect">
            <a:avLst/>
          </a:prstGeom>
          <a:solidFill>
            <a:srgbClr val="0B1A3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5488" y="4681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deep learning pipelines are clinically feasible, accurate, and ready for real-world deployment in medical imaging.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-365760" y="-36576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78000"/>
          </a:blip>
          <a:stretch>
            <a:fillRect/>
          </a:stretch>
        </p:blipFill>
        <p:spPr>
          <a:xfrm>
            <a:off x="6766560" y="2743200"/>
            <a:ext cx="3108960" cy="310896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4937760" y="365760"/>
            <a:ext cx="4937760" cy="49377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9D5AF0">
              <a:alpha val="78000"/>
            </a:srgbClr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47472" y="5303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347472" y="106070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improvements planned for the next development cycle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347472" y="1389888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00D4FF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347472" y="1389888"/>
            <a:ext cx="45720" cy="5852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8912" y="146304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96112" y="144475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UI/UX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96112" y="169164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interface with intuitive user flows and visual feedback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45152" y="1389888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9D5AF0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45152" y="1389888"/>
            <a:ext cx="45720" cy="585216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1463040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193792" y="144475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Website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193792" y="169164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hosted platform with domain, SSL, and production backend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47472" y="2048256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7472" y="2048256"/>
            <a:ext cx="45720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38912" y="212140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96112" y="21031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96112" y="235000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apps for on-the-go MRI analysis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645152" y="2048256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45152" y="2048256"/>
            <a:ext cx="45720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36592" y="2121408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5193792" y="21031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193792" y="235000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hosting with auto-scaling and global accessibility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47472" y="2706624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47472" y="2706624"/>
            <a:ext cx="4572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38912" y="277977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896112" y="276148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GPU Inference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96112" y="300837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CUDA-accelerated prediction — target latency under 1 second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4645152" y="2706624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645152" y="2706624"/>
            <a:ext cx="4572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36592" y="2779776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5193792" y="276148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Optimisation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5193792" y="300837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Pruning, quantisation, and distillation for lightweight models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347472" y="3364992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00D4FF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347472" y="3364992"/>
            <a:ext cx="45720" cy="5852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38912" y="343814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896112" y="341985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896112" y="36667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MRI stream processing with instant detection and overlay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4645152" y="3364992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9D5AF0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645152" y="3364992"/>
            <a:ext cx="45720" cy="585216"/>
          </a:xfrm>
          <a:prstGeom prst="rect">
            <a:avLst/>
          </a:prstGeom>
          <a:solidFill>
            <a:srgbClr val="9D5AF0"/>
          </a:solidFill>
          <a:ln w="12700">
            <a:solidFill>
              <a:srgbClr val="9D5AF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736592" y="3438144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7" name="Text 42"/>
          <p:cNvSpPr/>
          <p:nvPr/>
        </p:nvSpPr>
        <p:spPr>
          <a:xfrm>
            <a:off x="5193792" y="341985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5193792" y="366674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diverse datasets for improved generalisation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347472" y="4023360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347472" y="4023360"/>
            <a:ext cx="45720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38912" y="40965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2" name="Text 47"/>
          <p:cNvSpPr/>
          <p:nvPr/>
        </p:nvSpPr>
        <p:spPr>
          <a:xfrm>
            <a:off x="896112" y="40782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Reports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896112" y="43251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clinical reports with size, location, and confidence scores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4645152" y="4023360"/>
            <a:ext cx="4187952" cy="585216"/>
          </a:xfrm>
          <a:prstGeom prst="rect">
            <a:avLst/>
          </a:prstGeom>
          <a:solidFill>
            <a:srgbClr val="0B1A30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4645152" y="4023360"/>
            <a:ext cx="45720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736592" y="4096512"/>
            <a:ext cx="402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🌏</a:t>
            </a:r>
            <a:endParaRPr lang="en-US" sz="1800" dirty="0"/>
          </a:p>
        </p:txBody>
      </p:sp>
      <p:sp>
        <p:nvSpPr>
          <p:cNvPr id="57" name="Text 52"/>
          <p:cNvSpPr/>
          <p:nvPr/>
        </p:nvSpPr>
        <p:spPr>
          <a:xfrm>
            <a:off x="5193792" y="407822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58" name="Text 53"/>
          <p:cNvSpPr/>
          <p:nvPr/>
        </p:nvSpPr>
        <p:spPr>
          <a:xfrm>
            <a:off x="5193792" y="432511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interface supporting multiple languages for global use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>
            <a:off x="6858000" y="-365760"/>
            <a:ext cx="2926080" cy="29260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68000"/>
          </a:blip>
          <a:stretch>
            <a:fillRect/>
          </a:stretch>
        </p:blipFill>
        <p:spPr>
          <a:xfrm>
            <a:off x="-365760" y="2926080"/>
            <a:ext cx="274320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7472" y="182880"/>
            <a:ext cx="1783080" cy="274320"/>
          </a:xfrm>
          <a:prstGeom prst="roundRect">
            <a:avLst/>
          </a:prstGeom>
          <a:solidFill>
            <a:srgbClr val="0EA5E9">
              <a:alpha val="7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47472" y="182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47472" y="5303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347472" y="1152144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122529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1463040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</a:rPr>
              <a:t>https://www.mayoclinic.org/diseases-conditions/brain-tumor/symptoms-causes/syc-20350084</a:t>
            </a:r>
          </a:p>
        </p:txBody>
      </p:sp>
      <p:sp>
        <p:nvSpPr>
          <p:cNvPr id="10" name="Shape 6"/>
          <p:cNvSpPr/>
          <p:nvPr/>
        </p:nvSpPr>
        <p:spPr>
          <a:xfrm>
            <a:off x="347472" y="2048256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21214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2359152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</a:rPr>
              <a:t>https://en.wikipedia.org/wiki/Brain_tumor</a:t>
            </a:r>
          </a:p>
        </p:txBody>
      </p:sp>
      <p:sp>
        <p:nvSpPr>
          <p:cNvPr id="13" name="Shape 9"/>
          <p:cNvSpPr/>
          <p:nvPr/>
        </p:nvSpPr>
        <p:spPr>
          <a:xfrm>
            <a:off x="347472" y="2944368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" y="301752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325526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https://my.clevelandclinic.org/health/diseases/6149-brain-cancer-brain-tumor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47472" y="3840480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3"/>
          <p:cNvSpPr/>
          <p:nvPr/>
        </p:nvSpPr>
        <p:spPr>
          <a:xfrm>
            <a:off x="457200" y="391363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29768" y="4210673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types Dataset -</a:t>
            </a:r>
          </a:p>
          <a:p>
            <a:r>
              <a:rPr lang="en-US" sz="1050" u="sng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https://www.kaggle.com/datasets/masoudnickparvar/brain-tumor-mri-dataset</a:t>
            </a:r>
            <a:endParaRPr lang="en-IN" sz="1050" u="sng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672584" y="1152144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6"/>
          <p:cNvSpPr/>
          <p:nvPr/>
        </p:nvSpPr>
        <p:spPr>
          <a:xfrm>
            <a:off x="4782312" y="122529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82312" y="1463040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Segmentation Dataset –</a:t>
            </a:r>
          </a:p>
          <a:p>
            <a:r>
              <a:rPr lang="en-IN" sz="1050" u="sng" dirty="0">
                <a:solidFill>
                  <a:schemeClr val="bg1"/>
                </a:solidFill>
              </a:rPr>
              <a:t>https://www.kaggle.com/datasets/nikhilroxtomar/brain-tumor-segmentation?utm_source=chatgpt.com</a:t>
            </a:r>
            <a:endParaRPr lang="en-US" sz="1050" u="sng" dirty="0">
              <a:solidFill>
                <a:schemeClr val="bg1"/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672584" y="2048256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782312" y="21214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82312" y="2359152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https://www.cancer.gov/types/brain/hp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672584" y="2944368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782312" y="301752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82312" y="3255264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https://www.hopkinsmedicine.org/health/conditions-and-diseases/brain-tumor/brain-tumor-surgery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672584" y="3840480"/>
            <a:ext cx="4160520" cy="804672"/>
          </a:xfrm>
          <a:prstGeom prst="rect">
            <a:avLst/>
          </a:prstGeom>
          <a:solidFill>
            <a:srgbClr val="061020"/>
          </a:solidFill>
          <a:ln w="12700">
            <a:solidFill>
              <a:srgbClr val="1A2A4A"/>
            </a:solidFill>
            <a:prstDash val="solid"/>
          </a:ln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782312" y="391363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782312" y="4151376"/>
            <a:ext cx="3995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https://www.cancerresearchuk.org/about-cancer/brain-tumours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84000"/>
          </a:blip>
          <a:stretch>
            <a:fillRect/>
          </a:stretch>
        </p:blipFill>
        <p:spPr>
          <a:xfrm>
            <a:off x="-731520" y="-731520"/>
            <a:ext cx="5029200" cy="5029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84000"/>
          </a:blip>
          <a:stretch>
            <a:fillRect/>
          </a:stretch>
        </p:blipFill>
        <p:spPr>
          <a:xfrm>
            <a:off x="4251960" y="-452159"/>
            <a:ext cx="5029200" cy="502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>
            <a:off x="36576" y="41148"/>
            <a:ext cx="4572000" cy="457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6576" y="1359877"/>
            <a:ext cx="3508848" cy="20989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472272" y="457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Shape 1"/>
          <p:cNvSpPr/>
          <p:nvPr/>
        </p:nvSpPr>
        <p:spPr>
          <a:xfrm>
            <a:off x="3545424" y="1435608"/>
            <a:ext cx="4425696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522564" y="1536661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10" name="Shape 3"/>
          <p:cNvSpPr/>
          <p:nvPr/>
        </p:nvSpPr>
        <p:spPr>
          <a:xfrm>
            <a:off x="3545424" y="2003474"/>
            <a:ext cx="4425696" cy="621792"/>
          </a:xfrm>
          <a:prstGeom prst="rect">
            <a:avLst/>
          </a:prstGeom>
          <a:solidFill>
            <a:srgbClr val="0B1A30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3714588" y="2048373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&amp; Analysis Using Deep Learning</a:t>
            </a:r>
            <a:endParaRPr lang="en-US" sz="1150" dirty="0"/>
          </a:p>
        </p:txBody>
      </p:sp>
      <p:sp>
        <p:nvSpPr>
          <p:cNvPr id="12" name="Shape 5"/>
          <p:cNvSpPr/>
          <p:nvPr/>
        </p:nvSpPr>
        <p:spPr>
          <a:xfrm>
            <a:off x="3545424" y="2728663"/>
            <a:ext cx="4425696" cy="694944"/>
          </a:xfrm>
          <a:prstGeom prst="rect">
            <a:avLst/>
          </a:prstGeom>
          <a:solidFill>
            <a:srgbClr val="061020"/>
          </a:solidFill>
          <a:ln w="15240">
            <a:solidFill>
              <a:srgbClr val="00D4FF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3384434" y="2721155"/>
            <a:ext cx="4425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Detection   </a:t>
            </a:r>
            <a:r>
              <a:rPr lang="en-US" sz="1700" b="1" dirty="0">
                <a:solidFill>
                  <a:srgbClr val="9D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Classification   </a:t>
            </a: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0.80+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Dice Score</a:t>
            </a:r>
            <a:endParaRPr lang="en-US" sz="1700" dirty="0"/>
          </a:p>
        </p:txBody>
      </p:sp>
      <p:sp>
        <p:nvSpPr>
          <p:cNvPr id="14" name="Shape 7"/>
          <p:cNvSpPr/>
          <p:nvPr/>
        </p:nvSpPr>
        <p:spPr>
          <a:xfrm>
            <a:off x="3545424" y="3541893"/>
            <a:ext cx="4425696" cy="987552"/>
          </a:xfrm>
          <a:prstGeom prst="rect">
            <a:avLst/>
          </a:prstGeom>
          <a:solidFill>
            <a:srgbClr val="0B1A30"/>
          </a:solidFill>
          <a:ln w="15240">
            <a:solidFill>
              <a:srgbClr val="10B981"/>
            </a:solidFill>
            <a:prstDash val="solid"/>
          </a:ln>
          <a:effectLst>
            <a:outerShdw blurRad="127000" dist="38100" dir="162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3557044" y="3549044"/>
            <a:ext cx="54864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3812437" y="3602736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3841705" y="385079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Sengar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3841705" y="427177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&amp; Analysis  —  Phase III  |  2025–26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-354492" y="4946669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Python  •  TensorFlow / Keras  •  OpenCV  •  Streamlit  •  React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1002</Words>
  <Application>Microsoft Office PowerPoint</Application>
  <PresentationFormat>On-screen Show (16:9)</PresentationFormat>
  <Paragraphs>250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Detection &amp; Analysis — Phase III</dc:title>
  <dc:subject>PptxGenJS Presentation</dc:subject>
  <dc:creator>Aryan Sengar</dc:creator>
  <cp:lastModifiedBy>Aryan Sengar</cp:lastModifiedBy>
  <cp:revision>5</cp:revision>
  <dcterms:created xsi:type="dcterms:W3CDTF">2026-05-08T04:01:09Z</dcterms:created>
  <dcterms:modified xsi:type="dcterms:W3CDTF">2026-05-08T05:11:39Z</dcterms:modified>
</cp:coreProperties>
</file>