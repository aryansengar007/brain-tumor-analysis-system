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9" r:id="rId17"/>
    <p:sldId id="271" r:id="rId18"/>
    <p:sldId id="272" r:id="rId19"/>
    <p:sldId id="273" r:id="rId20"/>
    <p:sldId id="274" r:id="rId21"/>
    <p:sldId id="275" r:id="rId22"/>
    <p:sldId id="276" r:id="rId23"/>
    <p:sldId id="277" r:id="rId2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0" d="100"/>
          <a:sy n="130"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74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16E1-38A2-B22D-84BE-521D87786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0D7F0-0415-EBAD-9385-B1B0BF16F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187C0-3B25-7B31-8DFB-2120B1F592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2FAF24-2DC7-EE51-65F0-FCB4D0093C9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98037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kaggle.com/datasets/masoudnickparvar/brain-tumor-mri-dataset"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CB"/>
          </a:solidFill>
          <a:ln w="12700">
            <a:solidFill>
              <a:srgbClr val="00C2CB"/>
            </a:solidFill>
            <a:prstDash val="solid"/>
          </a:ln>
        </p:spPr>
      </p:sp>
      <p:sp>
        <p:nvSpPr>
          <p:cNvPr id="3" name="Shape 1"/>
          <p:cNvSpPr/>
          <p:nvPr/>
        </p:nvSpPr>
        <p:spPr>
          <a:xfrm>
            <a:off x="0" y="5088636"/>
            <a:ext cx="9144000" cy="54864"/>
          </a:xfrm>
          <a:prstGeom prst="rect">
            <a:avLst/>
          </a:prstGeom>
          <a:solidFill>
            <a:srgbClr val="00C2CB"/>
          </a:solidFill>
          <a:ln w="12700">
            <a:solidFill>
              <a:srgbClr val="00C2CB"/>
            </a:solidFill>
            <a:prstDash val="solid"/>
          </a:ln>
        </p:spPr>
      </p:sp>
      <p:sp>
        <p:nvSpPr>
          <p:cNvPr id="4" name="Shape 2"/>
          <p:cNvSpPr/>
          <p:nvPr/>
        </p:nvSpPr>
        <p:spPr>
          <a:xfrm>
            <a:off x="0" y="54864"/>
            <a:ext cx="164592" cy="5033772"/>
          </a:xfrm>
          <a:prstGeom prst="rect">
            <a:avLst/>
          </a:prstGeom>
          <a:solidFill>
            <a:srgbClr val="112D4E"/>
          </a:solidFill>
          <a:ln w="12700">
            <a:solidFill>
              <a:srgbClr val="112D4E"/>
            </a:solidFill>
            <a:prstDash val="solid"/>
          </a:ln>
        </p:spPr>
      </p:sp>
      <p:pic>
        <p:nvPicPr>
          <p:cNvPr id="5" name="Image 0" descr="preencoded.png"/>
          <p:cNvPicPr>
            <a:picLocks noChangeAspect="1"/>
          </p:cNvPicPr>
          <p:nvPr/>
        </p:nvPicPr>
        <p:blipFill>
          <a:blip r:embed="rId3"/>
          <a:stretch>
            <a:fillRect/>
          </a:stretch>
        </p:blipFill>
        <p:spPr>
          <a:xfrm>
            <a:off x="6858000" y="731520"/>
            <a:ext cx="1828800" cy="1828800"/>
          </a:xfrm>
          <a:prstGeom prst="rect">
            <a:avLst/>
          </a:prstGeom>
        </p:spPr>
      </p:pic>
      <p:sp>
        <p:nvSpPr>
          <p:cNvPr id="6" name="Shape 3"/>
          <p:cNvSpPr/>
          <p:nvPr/>
        </p:nvSpPr>
        <p:spPr>
          <a:xfrm>
            <a:off x="6720840" y="594360"/>
            <a:ext cx="2103120" cy="2103120"/>
          </a:xfrm>
          <a:prstGeom prst="ellipse">
            <a:avLst/>
          </a:prstGeom>
          <a:solidFill>
            <a:srgbClr val="00C2CB">
              <a:alpha val="12000"/>
            </a:srgbClr>
          </a:solidFill>
          <a:ln w="19050">
            <a:solidFill>
              <a:srgbClr val="00C2CB"/>
            </a:solidFill>
            <a:prstDash val="solid"/>
          </a:ln>
        </p:spPr>
      </p:sp>
      <p:sp>
        <p:nvSpPr>
          <p:cNvPr id="7" name="Text 4"/>
          <p:cNvSpPr/>
          <p:nvPr/>
        </p:nvSpPr>
        <p:spPr>
          <a:xfrm>
            <a:off x="457200" y="640080"/>
            <a:ext cx="6217920" cy="6858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AI-Powered Brain Tumor</a:t>
            </a:r>
            <a:endParaRPr lang="en-US" sz="3000" dirty="0"/>
          </a:p>
        </p:txBody>
      </p:sp>
      <p:sp>
        <p:nvSpPr>
          <p:cNvPr id="8" name="Text 5"/>
          <p:cNvSpPr/>
          <p:nvPr/>
        </p:nvSpPr>
        <p:spPr>
          <a:xfrm>
            <a:off x="457200" y="1280160"/>
            <a:ext cx="621792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Detection, Classification &amp;</a:t>
            </a:r>
            <a:endParaRPr lang="en-US" sz="3000" dirty="0"/>
          </a:p>
        </p:txBody>
      </p:sp>
      <p:sp>
        <p:nvSpPr>
          <p:cNvPr id="9" name="Text 6"/>
          <p:cNvSpPr/>
          <p:nvPr/>
        </p:nvSpPr>
        <p:spPr>
          <a:xfrm>
            <a:off x="457200" y="1828800"/>
            <a:ext cx="6217920" cy="594360"/>
          </a:xfrm>
          <a:prstGeom prst="rect">
            <a:avLst/>
          </a:prstGeom>
          <a:noFill/>
          <a:ln/>
        </p:spPr>
        <p:txBody>
          <a:bodyPr wrap="square" lIns="0" tIns="0" rIns="0" bIns="0" rtlCol="0" anchor="ctr"/>
          <a:lstStyle/>
          <a:p>
            <a:pPr marL="0" indent="0">
              <a:buNone/>
            </a:pPr>
            <a:r>
              <a:rPr lang="en-US" sz="3000" b="1" dirty="0">
                <a:solidFill>
                  <a:srgbClr val="00C2CB"/>
                </a:solidFill>
                <a:latin typeface="Calibri" pitchFamily="34" charset="0"/>
                <a:ea typeface="Calibri" pitchFamily="34" charset="-122"/>
                <a:cs typeface="Calibri" pitchFamily="34" charset="-120"/>
              </a:rPr>
              <a:t>Segmentation System</a:t>
            </a:r>
            <a:endParaRPr lang="en-US" sz="3000" dirty="0"/>
          </a:p>
        </p:txBody>
      </p:sp>
      <p:sp>
        <p:nvSpPr>
          <p:cNvPr id="10" name="Text 7"/>
          <p:cNvSpPr/>
          <p:nvPr/>
        </p:nvSpPr>
        <p:spPr>
          <a:xfrm>
            <a:off x="457200" y="2395728"/>
            <a:ext cx="6217920" cy="411480"/>
          </a:xfrm>
          <a:prstGeom prst="rect">
            <a:avLst/>
          </a:prstGeom>
          <a:noFill/>
          <a:ln/>
        </p:spPr>
        <p:txBody>
          <a:bodyPr wrap="square" lIns="0" tIns="0" rIns="0" bIns="0" rtlCol="0" anchor="ctr"/>
          <a:lstStyle/>
          <a:p>
            <a:pPr marL="0" indent="0">
              <a:buNone/>
            </a:pPr>
            <a:r>
              <a:rPr lang="en-US" sz="1800" i="1" dirty="0">
                <a:solidFill>
                  <a:srgbClr val="38BDF8"/>
                </a:solidFill>
                <a:latin typeface="Calibri" pitchFamily="34" charset="0"/>
                <a:ea typeface="Calibri" pitchFamily="34" charset="-122"/>
                <a:cs typeface="Calibri" pitchFamily="34" charset="-120"/>
              </a:rPr>
              <a:t>Using Deep Learning</a:t>
            </a:r>
            <a:endParaRPr lang="en-US" sz="1800" dirty="0"/>
          </a:p>
        </p:txBody>
      </p:sp>
      <p:sp>
        <p:nvSpPr>
          <p:cNvPr id="11" name="Shape 8"/>
          <p:cNvSpPr/>
          <p:nvPr/>
        </p:nvSpPr>
        <p:spPr>
          <a:xfrm>
            <a:off x="457200" y="2907792"/>
            <a:ext cx="4114800" cy="27432"/>
          </a:xfrm>
          <a:prstGeom prst="rect">
            <a:avLst/>
          </a:prstGeom>
          <a:solidFill>
            <a:srgbClr val="1E4060"/>
          </a:solidFill>
          <a:ln w="12700">
            <a:solidFill>
              <a:srgbClr val="1E4060"/>
            </a:solidFill>
            <a:prstDash val="solid"/>
          </a:ln>
        </p:spPr>
      </p:sp>
      <p:sp>
        <p:nvSpPr>
          <p:cNvPr id="12" name="Text 9"/>
          <p:cNvSpPr/>
          <p:nvPr/>
        </p:nvSpPr>
        <p:spPr>
          <a:xfrm>
            <a:off x="457200" y="2999232"/>
            <a:ext cx="5943600" cy="274320"/>
          </a:xfrm>
          <a:prstGeom prst="rect">
            <a:avLst/>
          </a:prstGeom>
          <a:noFill/>
          <a:ln/>
        </p:spPr>
        <p:txBody>
          <a:bodyPr wrap="square" lIns="0" tIns="0" rIns="0" bIns="0" rtlCol="0" anchor="ctr"/>
          <a:lstStyle/>
          <a:p>
            <a:pPr marL="0" indent="0">
              <a:buNone/>
            </a:pPr>
            <a:r>
              <a:rPr lang="en-US" sz="1300" dirty="0">
                <a:solidFill>
                  <a:srgbClr val="7FA8BD"/>
                </a:solidFill>
                <a:latin typeface="Calibri" pitchFamily="34" charset="0"/>
                <a:ea typeface="Calibri" pitchFamily="34" charset="-122"/>
                <a:cs typeface="Calibri" pitchFamily="34" charset="-120"/>
              </a:rPr>
              <a:t>Presented by: </a:t>
            </a:r>
            <a:r>
              <a:rPr lang="en-US" sz="1300" b="1" dirty="0">
                <a:solidFill>
                  <a:srgbClr val="FFFFFF"/>
                </a:solidFill>
                <a:latin typeface="Calibri" pitchFamily="34" charset="0"/>
                <a:ea typeface="Calibri" pitchFamily="34" charset="-122"/>
                <a:cs typeface="Calibri" pitchFamily="34" charset="-120"/>
              </a:rPr>
              <a:t>Aryan Sengar (23CSU055)</a:t>
            </a:r>
            <a:endParaRPr lang="en-US" sz="1300" dirty="0"/>
          </a:p>
        </p:txBody>
      </p:sp>
      <p:sp>
        <p:nvSpPr>
          <p:cNvPr id="13" name="Text 10"/>
          <p:cNvSpPr/>
          <p:nvPr/>
        </p:nvSpPr>
        <p:spPr>
          <a:xfrm>
            <a:off x="457200" y="3291840"/>
            <a:ext cx="5943600" cy="256032"/>
          </a:xfrm>
          <a:prstGeom prst="rect">
            <a:avLst/>
          </a:prstGeom>
          <a:noFill/>
          <a:ln/>
        </p:spPr>
        <p:txBody>
          <a:bodyPr wrap="square" lIns="0" tIns="0" rIns="0" bIns="0" rtlCol="0" anchor="ctr"/>
          <a:lstStyle/>
          <a:p>
            <a:pPr marL="0" indent="0">
              <a:buNone/>
            </a:pPr>
            <a:r>
              <a:rPr lang="en-US" sz="1200" dirty="0">
                <a:solidFill>
                  <a:srgbClr val="7FA8BD"/>
                </a:solidFill>
                <a:latin typeface="Calibri" pitchFamily="34" charset="0"/>
                <a:ea typeface="Calibri" pitchFamily="34" charset="-122"/>
                <a:cs typeface="Calibri" pitchFamily="34" charset="-120"/>
              </a:rPr>
              <a:t>Mentor: </a:t>
            </a:r>
            <a:r>
              <a:rPr lang="en-US" sz="1200" dirty="0">
                <a:solidFill>
                  <a:srgbClr val="E2F4F7"/>
                </a:solidFill>
                <a:latin typeface="Calibri" pitchFamily="34" charset="0"/>
                <a:ea typeface="Calibri" pitchFamily="34" charset="-122"/>
                <a:cs typeface="Calibri" pitchFamily="34" charset="-120"/>
              </a:rPr>
              <a:t>Dr. Ashima Rani</a:t>
            </a:r>
            <a:endParaRPr lang="en-US" sz="1200" dirty="0"/>
          </a:p>
        </p:txBody>
      </p:sp>
      <p:sp>
        <p:nvSpPr>
          <p:cNvPr id="14" name="Text 11"/>
          <p:cNvSpPr/>
          <p:nvPr/>
        </p:nvSpPr>
        <p:spPr>
          <a:xfrm>
            <a:off x="457200" y="3566160"/>
            <a:ext cx="5943600" cy="237744"/>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Third Year Project — B.Tech CSE  |  2025–26</a:t>
            </a:r>
            <a:endParaRPr lang="en-US" sz="1100" dirty="0"/>
          </a:p>
        </p:txBody>
      </p:sp>
      <p:sp>
        <p:nvSpPr>
          <p:cNvPr id="15" name="Shape 12"/>
          <p:cNvSpPr/>
          <p:nvPr/>
        </p:nvSpPr>
        <p:spPr>
          <a:xfrm>
            <a:off x="457200" y="4160520"/>
            <a:ext cx="1280160" cy="292608"/>
          </a:xfrm>
          <a:prstGeom prst="rect">
            <a:avLst/>
          </a:prstGeom>
          <a:solidFill>
            <a:srgbClr val="112D4E"/>
          </a:solidFill>
          <a:ln w="12700">
            <a:solidFill>
              <a:srgbClr val="1E4060"/>
            </a:solidFill>
            <a:prstDash val="solid"/>
          </a:ln>
        </p:spPr>
      </p:sp>
      <p:sp>
        <p:nvSpPr>
          <p:cNvPr id="16" name="Text 13"/>
          <p:cNvSpPr/>
          <p:nvPr/>
        </p:nvSpPr>
        <p:spPr>
          <a:xfrm>
            <a:off x="45720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Python</a:t>
            </a:r>
            <a:endParaRPr lang="en-US" sz="1000" dirty="0"/>
          </a:p>
        </p:txBody>
      </p:sp>
      <p:sp>
        <p:nvSpPr>
          <p:cNvPr id="17" name="Shape 14"/>
          <p:cNvSpPr/>
          <p:nvPr/>
        </p:nvSpPr>
        <p:spPr>
          <a:xfrm>
            <a:off x="1874520" y="4160520"/>
            <a:ext cx="1280160" cy="292608"/>
          </a:xfrm>
          <a:prstGeom prst="rect">
            <a:avLst/>
          </a:prstGeom>
          <a:solidFill>
            <a:srgbClr val="112D4E"/>
          </a:solidFill>
          <a:ln w="12700">
            <a:solidFill>
              <a:srgbClr val="1E4060"/>
            </a:solidFill>
            <a:prstDash val="solid"/>
          </a:ln>
        </p:spPr>
      </p:sp>
      <p:sp>
        <p:nvSpPr>
          <p:cNvPr id="18" name="Text 15"/>
          <p:cNvSpPr/>
          <p:nvPr/>
        </p:nvSpPr>
        <p:spPr>
          <a:xfrm>
            <a:off x="187452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TensorFlow</a:t>
            </a:r>
            <a:endParaRPr lang="en-US" sz="1000" dirty="0"/>
          </a:p>
        </p:txBody>
      </p:sp>
      <p:sp>
        <p:nvSpPr>
          <p:cNvPr id="19" name="Shape 16"/>
          <p:cNvSpPr/>
          <p:nvPr/>
        </p:nvSpPr>
        <p:spPr>
          <a:xfrm>
            <a:off x="3291840" y="4160520"/>
            <a:ext cx="1280160" cy="292608"/>
          </a:xfrm>
          <a:prstGeom prst="rect">
            <a:avLst/>
          </a:prstGeom>
          <a:solidFill>
            <a:srgbClr val="112D4E"/>
          </a:solidFill>
          <a:ln w="12700">
            <a:solidFill>
              <a:srgbClr val="1E4060"/>
            </a:solidFill>
            <a:prstDash val="solid"/>
          </a:ln>
        </p:spPr>
      </p:sp>
      <p:sp>
        <p:nvSpPr>
          <p:cNvPr id="20" name="Text 17"/>
          <p:cNvSpPr/>
          <p:nvPr/>
        </p:nvSpPr>
        <p:spPr>
          <a:xfrm>
            <a:off x="329184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FastAPI</a:t>
            </a:r>
            <a:endParaRPr lang="en-US" sz="1000" dirty="0"/>
          </a:p>
        </p:txBody>
      </p:sp>
      <p:sp>
        <p:nvSpPr>
          <p:cNvPr id="21" name="Shape 18"/>
          <p:cNvSpPr/>
          <p:nvPr/>
        </p:nvSpPr>
        <p:spPr>
          <a:xfrm>
            <a:off x="4709160" y="4160520"/>
            <a:ext cx="1280160" cy="292608"/>
          </a:xfrm>
          <a:prstGeom prst="rect">
            <a:avLst/>
          </a:prstGeom>
          <a:solidFill>
            <a:srgbClr val="112D4E"/>
          </a:solidFill>
          <a:ln w="12700">
            <a:solidFill>
              <a:srgbClr val="1E4060"/>
            </a:solidFill>
            <a:prstDash val="solid"/>
          </a:ln>
        </p:spPr>
      </p:sp>
      <p:sp>
        <p:nvSpPr>
          <p:cNvPr id="22" name="Text 19"/>
          <p:cNvSpPr/>
          <p:nvPr/>
        </p:nvSpPr>
        <p:spPr>
          <a:xfrm>
            <a:off x="470916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React</a:t>
            </a:r>
            <a:endParaRPr lang="en-US" sz="1000" dirty="0"/>
          </a:p>
        </p:txBody>
      </p:sp>
      <p:sp>
        <p:nvSpPr>
          <p:cNvPr id="23" name="Shape 20"/>
          <p:cNvSpPr/>
          <p:nvPr/>
        </p:nvSpPr>
        <p:spPr>
          <a:xfrm>
            <a:off x="6126480" y="4160520"/>
            <a:ext cx="1280160" cy="292608"/>
          </a:xfrm>
          <a:prstGeom prst="rect">
            <a:avLst/>
          </a:prstGeom>
          <a:solidFill>
            <a:srgbClr val="112D4E"/>
          </a:solidFill>
          <a:ln w="12700">
            <a:solidFill>
              <a:srgbClr val="1E4060"/>
            </a:solidFill>
            <a:prstDash val="solid"/>
          </a:ln>
        </p:spPr>
      </p:sp>
      <p:sp>
        <p:nvSpPr>
          <p:cNvPr id="24" name="Text 21"/>
          <p:cNvSpPr/>
          <p:nvPr/>
        </p:nvSpPr>
        <p:spPr>
          <a:xfrm>
            <a:off x="612648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OpenCV</a:t>
            </a:r>
            <a:endParaRPr lang="en-US" sz="1000" dirty="0"/>
          </a:p>
        </p:txBody>
      </p:sp>
      <p:sp>
        <p:nvSpPr>
          <p:cNvPr id="25" name="Shape 22"/>
          <p:cNvSpPr/>
          <p:nvPr/>
        </p:nvSpPr>
        <p:spPr>
          <a:xfrm>
            <a:off x="7543800" y="4160520"/>
            <a:ext cx="1280160" cy="292608"/>
          </a:xfrm>
          <a:prstGeom prst="rect">
            <a:avLst/>
          </a:prstGeom>
          <a:solidFill>
            <a:srgbClr val="112D4E"/>
          </a:solidFill>
          <a:ln w="12700">
            <a:solidFill>
              <a:srgbClr val="1E4060"/>
            </a:solidFill>
            <a:prstDash val="solid"/>
          </a:ln>
        </p:spPr>
      </p:sp>
      <p:sp>
        <p:nvSpPr>
          <p:cNvPr id="26" name="Text 23"/>
          <p:cNvSpPr/>
          <p:nvPr/>
        </p:nvSpPr>
        <p:spPr>
          <a:xfrm>
            <a:off x="7543800" y="4160520"/>
            <a:ext cx="128016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U-Net</a:t>
            </a:r>
            <a:endParaRPr lang="en-US" sz="1000" dirty="0"/>
          </a:p>
        </p:txBody>
      </p:sp>
      <p:sp>
        <p:nvSpPr>
          <p:cNvPr id="27" name="Text 24"/>
          <p:cNvSpPr/>
          <p:nvPr/>
        </p:nvSpPr>
        <p:spPr>
          <a:xfrm>
            <a:off x="7772400" y="4754880"/>
            <a:ext cx="1188720" cy="201168"/>
          </a:xfrm>
          <a:prstGeom prst="rect">
            <a:avLst/>
          </a:prstGeom>
          <a:noFill/>
          <a:ln/>
        </p:spPr>
        <p:txBody>
          <a:bodyPr wrap="square" lIns="0" tIns="0" rIns="0" bIns="0" rtlCol="0" anchor="ctr"/>
          <a:lstStyle/>
          <a:p>
            <a:pPr marL="0" indent="0" algn="r">
              <a:buNone/>
            </a:pPr>
            <a:r>
              <a:rPr lang="en-US" sz="1000" dirty="0">
                <a:solidFill>
                  <a:srgbClr val="7FA8BD"/>
                </a:solidFill>
                <a:latin typeface="Calibri" pitchFamily="34" charset="0"/>
                <a:ea typeface="Calibri" pitchFamily="34" charset="-122"/>
                <a:cs typeface="Calibri" pitchFamily="34" charset="-120"/>
              </a:rPr>
              <a:t>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Transforming Healthcare with AI-Driven Medical Imaging</a:t>
            </a:r>
            <a:endParaRPr lang="en-US" sz="1100" dirty="0"/>
          </a:p>
        </p:txBody>
      </p:sp>
      <p:sp>
        <p:nvSpPr>
          <p:cNvPr id="5" name="Shape 3"/>
          <p:cNvSpPr/>
          <p:nvPr/>
        </p:nvSpPr>
        <p:spPr>
          <a:xfrm>
            <a:off x="320040" y="1024128"/>
            <a:ext cx="5029200" cy="3566160"/>
          </a:xfrm>
          <a:prstGeom prst="rect">
            <a:avLst/>
          </a:prstGeom>
          <a:solidFill>
            <a:srgbClr val="132840"/>
          </a:solidFill>
          <a:ln w="12700">
            <a:solidFill>
              <a:srgbClr val="1E4060"/>
            </a:solidFill>
            <a:prstDash val="solid"/>
          </a:ln>
        </p:spPr>
      </p:sp>
      <p:sp>
        <p:nvSpPr>
          <p:cNvPr id="6" name="Text 4"/>
          <p:cNvSpPr/>
          <p:nvPr/>
        </p:nvSpPr>
        <p:spPr>
          <a:xfrm>
            <a:off x="502920" y="1097280"/>
            <a:ext cx="4663440" cy="320040"/>
          </a:xfrm>
          <a:prstGeom prst="rect">
            <a:avLst/>
          </a:prstGeom>
          <a:noFill/>
          <a:ln/>
        </p:spPr>
        <p:txBody>
          <a:bodyPr wrap="square" lIns="0" tIns="0" rIns="0" bIns="0" rtlCol="0" anchor="ctr"/>
          <a:lstStyle/>
          <a:p>
            <a:pPr marL="0" indent="0">
              <a:buNone/>
            </a:pPr>
            <a:r>
              <a:rPr lang="en-US" sz="1400" b="1" dirty="0">
                <a:solidFill>
                  <a:srgbClr val="00C2CB"/>
                </a:solidFill>
                <a:latin typeface="Calibri" pitchFamily="34" charset="0"/>
                <a:ea typeface="Calibri" pitchFamily="34" charset="-122"/>
                <a:cs typeface="Calibri" pitchFamily="34" charset="-120"/>
              </a:rPr>
              <a:t>Why This Project?</a:t>
            </a:r>
            <a:endParaRPr lang="en-US" sz="1400" dirty="0"/>
          </a:p>
        </p:txBody>
      </p:sp>
      <p:sp>
        <p:nvSpPr>
          <p:cNvPr id="7" name="Text 5"/>
          <p:cNvSpPr/>
          <p:nvPr/>
        </p:nvSpPr>
        <p:spPr>
          <a:xfrm>
            <a:off x="502920" y="1481328"/>
            <a:ext cx="4663440" cy="2926080"/>
          </a:xfrm>
          <a:prstGeom prst="rect">
            <a:avLst/>
          </a:prstGeom>
          <a:noFill/>
          <a:ln/>
        </p:spPr>
        <p:txBody>
          <a:bodyPr wrap="square" lIns="0" tIns="0" rIns="0" bIns="0" rtlCol="0" anchor="ctr"/>
          <a:lstStyle/>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Brain tumors affect millions globally — early detection is critical for survival.</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 </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Manual MRI analysis by radiologists is time-consuming, subjective, and prone to inconsistencies.</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 </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AI-powered deep learning can automate screening, providing fast, consistent, and objective analysis.</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 </a:t>
            </a:r>
            <a:endParaRPr lang="en-US" sz="1250" dirty="0"/>
          </a:p>
          <a:p>
            <a:pPr marL="0" indent="0">
              <a:lnSpc>
                <a:spcPct val="125000"/>
              </a:lnSpc>
              <a:buNone/>
            </a:pPr>
            <a:r>
              <a:rPr lang="en-US" sz="1250" dirty="0">
                <a:solidFill>
                  <a:srgbClr val="E2F4F7"/>
                </a:solidFill>
                <a:latin typeface="Calibri" pitchFamily="34" charset="0"/>
                <a:ea typeface="Calibri" pitchFamily="34" charset="-122"/>
                <a:cs typeface="Calibri" pitchFamily="34" charset="-120"/>
              </a:rPr>
              <a:t>This system integrates three specialized neural networks into a unified diagnostic pipeline — covering detection, classification, and pixel-level segmentation.</a:t>
            </a:r>
            <a:endParaRPr lang="en-US" sz="1250" dirty="0"/>
          </a:p>
        </p:txBody>
      </p:sp>
      <p:sp>
        <p:nvSpPr>
          <p:cNvPr id="8" name="Shape 6"/>
          <p:cNvSpPr/>
          <p:nvPr/>
        </p:nvSpPr>
        <p:spPr>
          <a:xfrm>
            <a:off x="5577840" y="1024128"/>
            <a:ext cx="1554480" cy="1051560"/>
          </a:xfrm>
          <a:prstGeom prst="rect">
            <a:avLst/>
          </a:prstGeom>
          <a:solidFill>
            <a:srgbClr val="132840"/>
          </a:solidFill>
          <a:ln w="12700">
            <a:solidFill>
              <a:srgbClr val="1E4060"/>
            </a:solidFill>
            <a:prstDash val="solid"/>
          </a:ln>
        </p:spPr>
      </p:sp>
      <p:sp>
        <p:nvSpPr>
          <p:cNvPr id="9" name="Text 7"/>
          <p:cNvSpPr/>
          <p:nvPr/>
        </p:nvSpPr>
        <p:spPr>
          <a:xfrm>
            <a:off x="5577840" y="1097280"/>
            <a:ext cx="1554480" cy="578358"/>
          </a:xfrm>
          <a:prstGeom prst="rect">
            <a:avLst/>
          </a:prstGeom>
          <a:noFill/>
          <a:ln/>
        </p:spPr>
        <p:txBody>
          <a:bodyPr wrap="square" lIns="0" tIns="0" rIns="0" bIns="0" rtlCol="0" anchor="ctr"/>
          <a:lstStyle/>
          <a:p>
            <a:pPr marL="0" indent="0" algn="ctr">
              <a:buNone/>
            </a:pPr>
            <a:r>
              <a:rPr lang="en-US" sz="3000" b="1" dirty="0">
                <a:solidFill>
                  <a:srgbClr val="00C2CB"/>
                </a:solidFill>
                <a:latin typeface="Calibri" pitchFamily="34" charset="0"/>
                <a:ea typeface="Calibri" pitchFamily="34" charset="-122"/>
                <a:cs typeface="Calibri" pitchFamily="34" charset="-120"/>
              </a:rPr>
              <a:t>97.3%</a:t>
            </a:r>
            <a:endParaRPr lang="en-US" sz="3000" dirty="0"/>
          </a:p>
        </p:txBody>
      </p:sp>
      <p:sp>
        <p:nvSpPr>
          <p:cNvPr id="10" name="Text 8"/>
          <p:cNvSpPr/>
          <p:nvPr/>
        </p:nvSpPr>
        <p:spPr>
          <a:xfrm>
            <a:off x="5577840" y="1655064"/>
            <a:ext cx="1554480" cy="368046"/>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Detection Accuracy</a:t>
            </a:r>
            <a:endParaRPr lang="en-US" sz="1100" dirty="0"/>
          </a:p>
        </p:txBody>
      </p:sp>
      <p:sp>
        <p:nvSpPr>
          <p:cNvPr id="11" name="Shape 9"/>
          <p:cNvSpPr/>
          <p:nvPr/>
        </p:nvSpPr>
        <p:spPr>
          <a:xfrm>
            <a:off x="7269480" y="1024128"/>
            <a:ext cx="1554480" cy="1051560"/>
          </a:xfrm>
          <a:prstGeom prst="rect">
            <a:avLst/>
          </a:prstGeom>
          <a:solidFill>
            <a:srgbClr val="132840"/>
          </a:solidFill>
          <a:ln w="12700">
            <a:solidFill>
              <a:srgbClr val="1E4060"/>
            </a:solidFill>
            <a:prstDash val="solid"/>
          </a:ln>
        </p:spPr>
      </p:sp>
      <p:sp>
        <p:nvSpPr>
          <p:cNvPr id="12" name="Text 10"/>
          <p:cNvSpPr/>
          <p:nvPr/>
        </p:nvSpPr>
        <p:spPr>
          <a:xfrm>
            <a:off x="7269480" y="1097280"/>
            <a:ext cx="1554480" cy="578358"/>
          </a:xfrm>
          <a:prstGeom prst="rect">
            <a:avLst/>
          </a:prstGeom>
          <a:noFill/>
          <a:ln/>
        </p:spPr>
        <p:txBody>
          <a:bodyPr wrap="square" lIns="0" tIns="0" rIns="0" bIns="0" rtlCol="0" anchor="ctr"/>
          <a:lstStyle/>
          <a:p>
            <a:pPr marL="0" indent="0" algn="ctr">
              <a:buNone/>
            </a:pPr>
            <a:r>
              <a:rPr lang="en-US" sz="3000" b="1" dirty="0">
                <a:solidFill>
                  <a:srgbClr val="38BDF8"/>
                </a:solidFill>
                <a:latin typeface="Calibri" pitchFamily="34" charset="0"/>
                <a:ea typeface="Calibri" pitchFamily="34" charset="-122"/>
                <a:cs typeface="Calibri" pitchFamily="34" charset="-120"/>
              </a:rPr>
              <a:t>90.0%</a:t>
            </a:r>
            <a:endParaRPr lang="en-US" sz="3000" dirty="0"/>
          </a:p>
        </p:txBody>
      </p:sp>
      <p:sp>
        <p:nvSpPr>
          <p:cNvPr id="13" name="Text 11"/>
          <p:cNvSpPr/>
          <p:nvPr/>
        </p:nvSpPr>
        <p:spPr>
          <a:xfrm>
            <a:off x="7269480" y="1655064"/>
            <a:ext cx="1554480" cy="368046"/>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Classification Acc.</a:t>
            </a:r>
            <a:endParaRPr lang="en-US" sz="1100" dirty="0"/>
          </a:p>
        </p:txBody>
      </p:sp>
      <p:sp>
        <p:nvSpPr>
          <p:cNvPr id="14" name="Shape 12"/>
          <p:cNvSpPr/>
          <p:nvPr/>
        </p:nvSpPr>
        <p:spPr>
          <a:xfrm>
            <a:off x="5577840" y="2194560"/>
            <a:ext cx="1554480" cy="1051560"/>
          </a:xfrm>
          <a:prstGeom prst="rect">
            <a:avLst/>
          </a:prstGeom>
          <a:solidFill>
            <a:srgbClr val="132840"/>
          </a:solidFill>
          <a:ln w="12700">
            <a:solidFill>
              <a:srgbClr val="1E4060"/>
            </a:solidFill>
            <a:prstDash val="solid"/>
          </a:ln>
        </p:spPr>
      </p:sp>
      <p:sp>
        <p:nvSpPr>
          <p:cNvPr id="15" name="Text 13"/>
          <p:cNvSpPr/>
          <p:nvPr/>
        </p:nvSpPr>
        <p:spPr>
          <a:xfrm>
            <a:off x="5577840" y="2267712"/>
            <a:ext cx="1554480" cy="578358"/>
          </a:xfrm>
          <a:prstGeom prst="rect">
            <a:avLst/>
          </a:prstGeom>
          <a:noFill/>
          <a:ln/>
        </p:spPr>
        <p:txBody>
          <a:bodyPr wrap="square" lIns="0" tIns="0" rIns="0" bIns="0" rtlCol="0" anchor="ctr"/>
          <a:lstStyle/>
          <a:p>
            <a:pPr marL="0" indent="0" algn="ctr">
              <a:buNone/>
            </a:pPr>
            <a:r>
              <a:rPr lang="en-US" sz="3000" b="1" dirty="0">
                <a:solidFill>
                  <a:srgbClr val="22D3A0"/>
                </a:solidFill>
                <a:latin typeface="Calibri" pitchFamily="34" charset="0"/>
                <a:ea typeface="Calibri" pitchFamily="34" charset="-122"/>
                <a:cs typeface="Calibri" pitchFamily="34" charset="-120"/>
              </a:rPr>
              <a:t>0.80+</a:t>
            </a:r>
            <a:endParaRPr lang="en-US" sz="3000" dirty="0"/>
          </a:p>
        </p:txBody>
      </p:sp>
      <p:sp>
        <p:nvSpPr>
          <p:cNvPr id="16" name="Text 14"/>
          <p:cNvSpPr/>
          <p:nvPr/>
        </p:nvSpPr>
        <p:spPr>
          <a:xfrm>
            <a:off x="5577840" y="2825496"/>
            <a:ext cx="1554480" cy="368046"/>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Dice Score</a:t>
            </a:r>
            <a:endParaRPr lang="en-US" sz="1100" dirty="0"/>
          </a:p>
        </p:txBody>
      </p:sp>
      <p:sp>
        <p:nvSpPr>
          <p:cNvPr id="17" name="Shape 15"/>
          <p:cNvSpPr/>
          <p:nvPr/>
        </p:nvSpPr>
        <p:spPr>
          <a:xfrm>
            <a:off x="7269480" y="2194560"/>
            <a:ext cx="1554480" cy="1051560"/>
          </a:xfrm>
          <a:prstGeom prst="rect">
            <a:avLst/>
          </a:prstGeom>
          <a:solidFill>
            <a:srgbClr val="132840"/>
          </a:solidFill>
          <a:ln w="12700">
            <a:solidFill>
              <a:srgbClr val="1E4060"/>
            </a:solidFill>
            <a:prstDash val="solid"/>
          </a:ln>
        </p:spPr>
      </p:sp>
      <p:sp>
        <p:nvSpPr>
          <p:cNvPr id="18" name="Text 16"/>
          <p:cNvSpPr/>
          <p:nvPr/>
        </p:nvSpPr>
        <p:spPr>
          <a:xfrm>
            <a:off x="7269480" y="2267712"/>
            <a:ext cx="1554480" cy="578358"/>
          </a:xfrm>
          <a:prstGeom prst="rect">
            <a:avLst/>
          </a:prstGeom>
          <a:noFill/>
          <a:ln/>
        </p:spPr>
        <p:txBody>
          <a:bodyPr wrap="square" lIns="0" tIns="0" rIns="0" bIns="0" rtlCol="0" anchor="ctr"/>
          <a:lstStyle/>
          <a:p>
            <a:pPr marL="0" indent="0" algn="ctr">
              <a:buNone/>
            </a:pPr>
            <a:r>
              <a:rPr lang="en-US" sz="3000" b="1" dirty="0">
                <a:solidFill>
                  <a:srgbClr val="FBBF24"/>
                </a:solidFill>
                <a:latin typeface="Calibri" pitchFamily="34" charset="0"/>
                <a:ea typeface="Calibri" pitchFamily="34" charset="-122"/>
                <a:cs typeface="Calibri" pitchFamily="34" charset="-120"/>
              </a:rPr>
              <a:t>~23K</a:t>
            </a:r>
            <a:endParaRPr lang="en-US" sz="3000" dirty="0"/>
          </a:p>
        </p:txBody>
      </p:sp>
      <p:sp>
        <p:nvSpPr>
          <p:cNvPr id="19" name="Text 17"/>
          <p:cNvSpPr/>
          <p:nvPr/>
        </p:nvSpPr>
        <p:spPr>
          <a:xfrm>
            <a:off x="7269480" y="2825496"/>
            <a:ext cx="1554480" cy="368046"/>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Training Images</a:t>
            </a:r>
            <a:endParaRPr lang="en-US" sz="1100" dirty="0"/>
          </a:p>
        </p:txBody>
      </p:sp>
      <p:sp>
        <p:nvSpPr>
          <p:cNvPr id="20" name="Shape 18"/>
          <p:cNvSpPr/>
          <p:nvPr/>
        </p:nvSpPr>
        <p:spPr>
          <a:xfrm>
            <a:off x="5577840" y="3383280"/>
            <a:ext cx="3246120" cy="1207008"/>
          </a:xfrm>
          <a:prstGeom prst="rect">
            <a:avLst/>
          </a:prstGeom>
          <a:solidFill>
            <a:srgbClr val="132840"/>
          </a:solidFill>
          <a:ln w="12700">
            <a:solidFill>
              <a:srgbClr val="1E4060"/>
            </a:solidFill>
            <a:prstDash val="solid"/>
          </a:ln>
        </p:spPr>
      </p:sp>
      <p:sp>
        <p:nvSpPr>
          <p:cNvPr id="21" name="Text 19"/>
          <p:cNvSpPr/>
          <p:nvPr/>
        </p:nvSpPr>
        <p:spPr>
          <a:xfrm>
            <a:off x="5669280" y="3438144"/>
            <a:ext cx="3063240" cy="25603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3-Stage AI Pipeline</a:t>
            </a:r>
            <a:endParaRPr lang="en-US" sz="1100" dirty="0"/>
          </a:p>
        </p:txBody>
      </p:sp>
      <p:sp>
        <p:nvSpPr>
          <p:cNvPr id="22" name="Shape 20"/>
          <p:cNvSpPr/>
          <p:nvPr/>
        </p:nvSpPr>
        <p:spPr>
          <a:xfrm>
            <a:off x="5669280" y="3749040"/>
            <a:ext cx="868680" cy="502920"/>
          </a:xfrm>
          <a:prstGeom prst="rect">
            <a:avLst/>
          </a:prstGeom>
          <a:solidFill>
            <a:srgbClr val="112D4E"/>
          </a:solidFill>
          <a:ln w="12700">
            <a:solidFill>
              <a:srgbClr val="00C2CB"/>
            </a:solidFill>
            <a:prstDash val="solid"/>
          </a:ln>
        </p:spPr>
      </p:sp>
      <p:sp>
        <p:nvSpPr>
          <p:cNvPr id="23" name="Text 21"/>
          <p:cNvSpPr/>
          <p:nvPr/>
        </p:nvSpPr>
        <p:spPr>
          <a:xfrm>
            <a:off x="5669280" y="3749040"/>
            <a:ext cx="868680" cy="50292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Detect</a:t>
            </a:r>
            <a:endParaRPr lang="en-US" sz="1100" dirty="0"/>
          </a:p>
        </p:txBody>
      </p:sp>
      <p:sp>
        <p:nvSpPr>
          <p:cNvPr id="24" name="Text 22"/>
          <p:cNvSpPr/>
          <p:nvPr/>
        </p:nvSpPr>
        <p:spPr>
          <a:xfrm>
            <a:off x="6537960" y="3840480"/>
            <a:ext cx="182880" cy="274320"/>
          </a:xfrm>
          <a:prstGeom prst="rect">
            <a:avLst/>
          </a:prstGeom>
          <a:noFill/>
          <a:ln/>
        </p:spPr>
        <p:txBody>
          <a:bodyPr wrap="square" lIns="0" tIns="0" rIns="0" bIns="0" rtlCol="0" anchor="ctr"/>
          <a:lstStyle/>
          <a:p>
            <a:pPr marL="0" indent="0" algn="ctr">
              <a:buNone/>
            </a:pPr>
            <a:r>
              <a:rPr lang="en-US" sz="1200" dirty="0">
                <a:solidFill>
                  <a:srgbClr val="7FA8BD"/>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6720840" y="3749040"/>
            <a:ext cx="868680" cy="502920"/>
          </a:xfrm>
          <a:prstGeom prst="rect">
            <a:avLst/>
          </a:prstGeom>
          <a:solidFill>
            <a:srgbClr val="112D4E"/>
          </a:solidFill>
          <a:ln w="12700">
            <a:solidFill>
              <a:srgbClr val="38BDF8"/>
            </a:solidFill>
            <a:prstDash val="solid"/>
          </a:ln>
        </p:spPr>
      </p:sp>
      <p:sp>
        <p:nvSpPr>
          <p:cNvPr id="26" name="Text 24"/>
          <p:cNvSpPr/>
          <p:nvPr/>
        </p:nvSpPr>
        <p:spPr>
          <a:xfrm>
            <a:off x="6720840" y="3749040"/>
            <a:ext cx="868680" cy="5029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Classify</a:t>
            </a:r>
            <a:endParaRPr lang="en-US" sz="1100" dirty="0"/>
          </a:p>
        </p:txBody>
      </p:sp>
      <p:sp>
        <p:nvSpPr>
          <p:cNvPr id="27" name="Text 25"/>
          <p:cNvSpPr/>
          <p:nvPr/>
        </p:nvSpPr>
        <p:spPr>
          <a:xfrm>
            <a:off x="7589520" y="3840480"/>
            <a:ext cx="182880" cy="274320"/>
          </a:xfrm>
          <a:prstGeom prst="rect">
            <a:avLst/>
          </a:prstGeom>
          <a:noFill/>
          <a:ln/>
        </p:spPr>
        <p:txBody>
          <a:bodyPr wrap="square" lIns="0" tIns="0" rIns="0" bIns="0" rtlCol="0" anchor="ctr"/>
          <a:lstStyle/>
          <a:p>
            <a:pPr marL="0" indent="0" algn="ctr">
              <a:buNone/>
            </a:pPr>
            <a:r>
              <a:rPr lang="en-US" sz="1200" dirty="0">
                <a:solidFill>
                  <a:srgbClr val="7FA8BD"/>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7772400" y="3749040"/>
            <a:ext cx="868680" cy="502920"/>
          </a:xfrm>
          <a:prstGeom prst="rect">
            <a:avLst/>
          </a:prstGeom>
          <a:solidFill>
            <a:srgbClr val="112D4E"/>
          </a:solidFill>
          <a:ln w="12700">
            <a:solidFill>
              <a:srgbClr val="22D3A0"/>
            </a:solidFill>
            <a:prstDash val="solid"/>
          </a:ln>
        </p:spPr>
      </p:sp>
      <p:sp>
        <p:nvSpPr>
          <p:cNvPr id="29" name="Text 27"/>
          <p:cNvSpPr/>
          <p:nvPr/>
        </p:nvSpPr>
        <p:spPr>
          <a:xfrm>
            <a:off x="7772400" y="3749040"/>
            <a:ext cx="868680" cy="502920"/>
          </a:xfrm>
          <a:prstGeom prst="rect">
            <a:avLst/>
          </a:prstGeom>
          <a:noFill/>
          <a:ln/>
        </p:spPr>
        <p:txBody>
          <a:bodyPr wrap="square" lIns="0" tIns="0" rIns="0" bIns="0" rtlCol="0" anchor="ctr"/>
          <a:lstStyle/>
          <a:p>
            <a:pPr marL="0" indent="0" algn="ctr">
              <a:buNone/>
            </a:pPr>
            <a:r>
              <a:rPr lang="en-US" sz="1100" b="1" dirty="0">
                <a:solidFill>
                  <a:srgbClr val="22D3A0"/>
                </a:solidFill>
                <a:latin typeface="Calibri" pitchFamily="34" charset="0"/>
                <a:ea typeface="Calibri" pitchFamily="34" charset="-122"/>
                <a:cs typeface="Calibri" pitchFamily="34" charset="-120"/>
              </a:rPr>
              <a:t>Segment</a:t>
            </a:r>
            <a:endParaRPr lang="en-US" sz="1100" dirty="0"/>
          </a:p>
        </p:txBody>
      </p:sp>
      <p:sp>
        <p:nvSpPr>
          <p:cNvPr id="30" name="Text 28"/>
          <p:cNvSpPr/>
          <p:nvPr/>
        </p:nvSpPr>
        <p:spPr>
          <a:xfrm>
            <a:off x="5623560" y="4315968"/>
            <a:ext cx="3154680" cy="201168"/>
          </a:xfrm>
          <a:prstGeom prst="rect">
            <a:avLst/>
          </a:prstGeom>
          <a:noFill/>
          <a:ln/>
        </p:spPr>
        <p:txBody>
          <a:bodyPr wrap="square" lIns="0" tIns="0" rIns="0" bIns="0" rtlCol="0" anchor="ctr"/>
          <a:lstStyle/>
          <a:p>
            <a:pPr marL="0" indent="0" algn="ctr">
              <a:buNone/>
            </a:pPr>
            <a:r>
              <a:rPr lang="en-US" sz="900" i="1" dirty="0">
                <a:solidFill>
                  <a:srgbClr val="7FA8BD"/>
                </a:solidFill>
                <a:latin typeface="Calibri" pitchFamily="34" charset="0"/>
                <a:ea typeface="Calibri" pitchFamily="34" charset="-122"/>
                <a:cs typeface="Calibri" pitchFamily="34" charset="-120"/>
              </a:rPr>
              <a:t>CNN  →  MobileNetV2  →  U-Net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Challenges in Traditional Brain Tumor Diagnosis</a:t>
            </a:r>
            <a:endParaRPr lang="en-US" sz="1100" dirty="0"/>
          </a:p>
        </p:txBody>
      </p:sp>
      <p:sp>
        <p:nvSpPr>
          <p:cNvPr id="5" name="Shape 3"/>
          <p:cNvSpPr/>
          <p:nvPr/>
        </p:nvSpPr>
        <p:spPr>
          <a:xfrm>
            <a:off x="320040" y="1005840"/>
            <a:ext cx="8503920" cy="841248"/>
          </a:xfrm>
          <a:prstGeom prst="rect">
            <a:avLst/>
          </a:prstGeom>
          <a:solidFill>
            <a:srgbClr val="132840"/>
          </a:solidFill>
          <a:ln w="12700">
            <a:solidFill>
              <a:srgbClr val="1E4060"/>
            </a:solidFill>
            <a:prstDash val="solid"/>
          </a:ln>
        </p:spPr>
      </p:sp>
      <p:sp>
        <p:nvSpPr>
          <p:cNvPr id="6" name="Shape 4"/>
          <p:cNvSpPr/>
          <p:nvPr/>
        </p:nvSpPr>
        <p:spPr>
          <a:xfrm>
            <a:off x="320040" y="1005840"/>
            <a:ext cx="54864" cy="841248"/>
          </a:xfrm>
          <a:prstGeom prst="rect">
            <a:avLst/>
          </a:prstGeom>
          <a:solidFill>
            <a:srgbClr val="F87171"/>
          </a:solidFill>
          <a:ln w="12700">
            <a:solidFill>
              <a:srgbClr val="F87171"/>
            </a:solidFill>
            <a:prstDash val="solid"/>
          </a:ln>
        </p:spPr>
      </p:sp>
      <p:sp>
        <p:nvSpPr>
          <p:cNvPr id="7" name="Text 5"/>
          <p:cNvSpPr/>
          <p:nvPr/>
        </p:nvSpPr>
        <p:spPr>
          <a:xfrm>
            <a:off x="530352" y="106984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Manual Analysis is Slow</a:t>
            </a:r>
            <a:endParaRPr lang="en-US" sz="1300" dirty="0"/>
          </a:p>
        </p:txBody>
      </p:sp>
      <p:sp>
        <p:nvSpPr>
          <p:cNvPr id="8" name="Text 6"/>
          <p:cNvSpPr/>
          <p:nvPr/>
        </p:nvSpPr>
        <p:spPr>
          <a:xfrm>
            <a:off x="530352" y="1371600"/>
            <a:ext cx="8229600" cy="384048"/>
          </a:xfrm>
          <a:prstGeom prst="rect">
            <a:avLst/>
          </a:prstGeom>
          <a:noFill/>
          <a:ln/>
        </p:spPr>
        <p:txBody>
          <a:bodyPr wrap="square" lIns="0" tIns="0" rIns="0" bIns="0" rtlCol="0" anchor="ctr"/>
          <a:lstStyle/>
          <a:p>
            <a:pPr marL="0" indent="0">
              <a:buNone/>
            </a:pPr>
            <a:r>
              <a:rPr lang="en-US" sz="1150" dirty="0">
                <a:solidFill>
                  <a:srgbClr val="E2F4F7"/>
                </a:solidFill>
                <a:latin typeface="Calibri" pitchFamily="34" charset="0"/>
                <a:ea typeface="Calibri" pitchFamily="34" charset="-122"/>
                <a:cs typeface="Calibri" pitchFamily="34" charset="-120"/>
              </a:rPr>
              <a:t>Expert radiologists take hours per case; delays treatment initiation in critical time windows.</a:t>
            </a:r>
            <a:endParaRPr lang="en-US" sz="1150" dirty="0"/>
          </a:p>
        </p:txBody>
      </p:sp>
      <p:sp>
        <p:nvSpPr>
          <p:cNvPr id="9" name="Shape 7"/>
          <p:cNvSpPr/>
          <p:nvPr/>
        </p:nvSpPr>
        <p:spPr>
          <a:xfrm>
            <a:off x="320040" y="1965960"/>
            <a:ext cx="8503920" cy="841248"/>
          </a:xfrm>
          <a:prstGeom prst="rect">
            <a:avLst/>
          </a:prstGeom>
          <a:solidFill>
            <a:srgbClr val="132840"/>
          </a:solidFill>
          <a:ln w="12700">
            <a:solidFill>
              <a:srgbClr val="1E4060"/>
            </a:solidFill>
            <a:prstDash val="solid"/>
          </a:ln>
        </p:spPr>
      </p:sp>
      <p:sp>
        <p:nvSpPr>
          <p:cNvPr id="10" name="Shape 8"/>
          <p:cNvSpPr/>
          <p:nvPr/>
        </p:nvSpPr>
        <p:spPr>
          <a:xfrm>
            <a:off x="320040" y="1965960"/>
            <a:ext cx="54864" cy="841248"/>
          </a:xfrm>
          <a:prstGeom prst="rect">
            <a:avLst/>
          </a:prstGeom>
          <a:solidFill>
            <a:srgbClr val="F87171"/>
          </a:solidFill>
          <a:ln w="12700">
            <a:solidFill>
              <a:srgbClr val="F87171"/>
            </a:solidFill>
            <a:prstDash val="solid"/>
          </a:ln>
        </p:spPr>
      </p:sp>
      <p:sp>
        <p:nvSpPr>
          <p:cNvPr id="11" name="Text 9"/>
          <p:cNvSpPr/>
          <p:nvPr/>
        </p:nvSpPr>
        <p:spPr>
          <a:xfrm>
            <a:off x="530352" y="202996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High Inter-Observer Variability</a:t>
            </a:r>
            <a:endParaRPr lang="en-US" sz="1300" dirty="0"/>
          </a:p>
        </p:txBody>
      </p:sp>
      <p:sp>
        <p:nvSpPr>
          <p:cNvPr id="12" name="Text 10"/>
          <p:cNvSpPr/>
          <p:nvPr/>
        </p:nvSpPr>
        <p:spPr>
          <a:xfrm>
            <a:off x="530352" y="2331720"/>
            <a:ext cx="8229600" cy="384048"/>
          </a:xfrm>
          <a:prstGeom prst="rect">
            <a:avLst/>
          </a:prstGeom>
          <a:noFill/>
          <a:ln/>
        </p:spPr>
        <p:txBody>
          <a:bodyPr wrap="square" lIns="0" tIns="0" rIns="0" bIns="0" rtlCol="0" anchor="ctr"/>
          <a:lstStyle/>
          <a:p>
            <a:pPr marL="0" indent="0">
              <a:buNone/>
            </a:pPr>
            <a:r>
              <a:rPr lang="en-US" sz="1150" dirty="0">
                <a:solidFill>
                  <a:srgbClr val="E2F4F7"/>
                </a:solidFill>
                <a:latin typeface="Calibri" pitchFamily="34" charset="0"/>
                <a:ea typeface="Calibri" pitchFamily="34" charset="-122"/>
                <a:cs typeface="Calibri" pitchFamily="34" charset="-120"/>
              </a:rPr>
              <a:t>Diagnosis consistency varies significantly between radiologists, leading to inconsistent protocols.</a:t>
            </a:r>
            <a:endParaRPr lang="en-US" sz="1150" dirty="0"/>
          </a:p>
        </p:txBody>
      </p:sp>
      <p:sp>
        <p:nvSpPr>
          <p:cNvPr id="13" name="Shape 11"/>
          <p:cNvSpPr/>
          <p:nvPr/>
        </p:nvSpPr>
        <p:spPr>
          <a:xfrm>
            <a:off x="320040" y="2926080"/>
            <a:ext cx="8503920" cy="841248"/>
          </a:xfrm>
          <a:prstGeom prst="rect">
            <a:avLst/>
          </a:prstGeom>
          <a:solidFill>
            <a:srgbClr val="132840"/>
          </a:solidFill>
          <a:ln w="12700">
            <a:solidFill>
              <a:srgbClr val="1E4060"/>
            </a:solidFill>
            <a:prstDash val="solid"/>
          </a:ln>
        </p:spPr>
      </p:sp>
      <p:sp>
        <p:nvSpPr>
          <p:cNvPr id="14" name="Shape 12"/>
          <p:cNvSpPr/>
          <p:nvPr/>
        </p:nvSpPr>
        <p:spPr>
          <a:xfrm>
            <a:off x="320040" y="2926080"/>
            <a:ext cx="54864" cy="841248"/>
          </a:xfrm>
          <a:prstGeom prst="rect">
            <a:avLst/>
          </a:prstGeom>
          <a:solidFill>
            <a:srgbClr val="F87171"/>
          </a:solidFill>
          <a:ln w="12700">
            <a:solidFill>
              <a:srgbClr val="F87171"/>
            </a:solidFill>
            <a:prstDash val="solid"/>
          </a:ln>
        </p:spPr>
      </p:sp>
      <p:sp>
        <p:nvSpPr>
          <p:cNvPr id="15" name="Text 13"/>
          <p:cNvSpPr/>
          <p:nvPr/>
        </p:nvSpPr>
        <p:spPr>
          <a:xfrm>
            <a:off x="530352" y="299008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Subtle Features Easily Missed</a:t>
            </a:r>
            <a:endParaRPr lang="en-US" sz="1300" dirty="0"/>
          </a:p>
        </p:txBody>
      </p:sp>
      <p:sp>
        <p:nvSpPr>
          <p:cNvPr id="16" name="Text 14"/>
          <p:cNvSpPr/>
          <p:nvPr/>
        </p:nvSpPr>
        <p:spPr>
          <a:xfrm>
            <a:off x="530352" y="3291840"/>
            <a:ext cx="8229600" cy="384048"/>
          </a:xfrm>
          <a:prstGeom prst="rect">
            <a:avLst/>
          </a:prstGeom>
          <a:noFill/>
          <a:ln/>
        </p:spPr>
        <p:txBody>
          <a:bodyPr wrap="square" lIns="0" tIns="0" rIns="0" bIns="0" rtlCol="0" anchor="ctr"/>
          <a:lstStyle/>
          <a:p>
            <a:pPr marL="0" indent="0">
              <a:buNone/>
            </a:pPr>
            <a:r>
              <a:rPr lang="en-US" sz="1150" dirty="0">
                <a:solidFill>
                  <a:srgbClr val="E2F4F7"/>
                </a:solidFill>
                <a:latin typeface="Calibri" pitchFamily="34" charset="0"/>
                <a:ea typeface="Calibri" pitchFamily="34" charset="-122"/>
                <a:cs typeface="Calibri" pitchFamily="34" charset="-120"/>
              </a:rPr>
              <a:t>Early-stage tumors have low contrast and may be overlooked by fatigued clinicians.</a:t>
            </a:r>
            <a:endParaRPr lang="en-US" sz="1150" dirty="0"/>
          </a:p>
        </p:txBody>
      </p:sp>
      <p:sp>
        <p:nvSpPr>
          <p:cNvPr id="17" name="Shape 15"/>
          <p:cNvSpPr/>
          <p:nvPr/>
        </p:nvSpPr>
        <p:spPr>
          <a:xfrm>
            <a:off x="320040" y="3886200"/>
            <a:ext cx="8503920" cy="841248"/>
          </a:xfrm>
          <a:prstGeom prst="rect">
            <a:avLst/>
          </a:prstGeom>
          <a:solidFill>
            <a:srgbClr val="132840"/>
          </a:solidFill>
          <a:ln w="12700">
            <a:solidFill>
              <a:srgbClr val="1E4060"/>
            </a:solidFill>
            <a:prstDash val="solid"/>
          </a:ln>
        </p:spPr>
      </p:sp>
      <p:sp>
        <p:nvSpPr>
          <p:cNvPr id="18" name="Shape 16"/>
          <p:cNvSpPr/>
          <p:nvPr/>
        </p:nvSpPr>
        <p:spPr>
          <a:xfrm>
            <a:off x="320040" y="3886200"/>
            <a:ext cx="54864" cy="841248"/>
          </a:xfrm>
          <a:prstGeom prst="rect">
            <a:avLst/>
          </a:prstGeom>
          <a:solidFill>
            <a:srgbClr val="F87171"/>
          </a:solidFill>
          <a:ln w="12700">
            <a:solidFill>
              <a:srgbClr val="F87171"/>
            </a:solidFill>
            <a:prstDash val="solid"/>
          </a:ln>
        </p:spPr>
      </p:sp>
      <p:sp>
        <p:nvSpPr>
          <p:cNvPr id="19" name="Text 17"/>
          <p:cNvSpPr/>
          <p:nvPr/>
        </p:nvSpPr>
        <p:spPr>
          <a:xfrm>
            <a:off x="530352" y="395020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Scarcity of Expert Neurologists</a:t>
            </a:r>
            <a:endParaRPr lang="en-US" sz="1300" dirty="0"/>
          </a:p>
        </p:txBody>
      </p:sp>
      <p:sp>
        <p:nvSpPr>
          <p:cNvPr id="20" name="Text 18"/>
          <p:cNvSpPr/>
          <p:nvPr/>
        </p:nvSpPr>
        <p:spPr>
          <a:xfrm>
            <a:off x="530352" y="4251960"/>
            <a:ext cx="8229600" cy="384048"/>
          </a:xfrm>
          <a:prstGeom prst="rect">
            <a:avLst/>
          </a:prstGeom>
          <a:noFill/>
          <a:ln/>
        </p:spPr>
        <p:txBody>
          <a:bodyPr wrap="square" lIns="0" tIns="0" rIns="0" bIns="0" rtlCol="0" anchor="ctr"/>
          <a:lstStyle/>
          <a:p>
            <a:pPr marL="0" indent="0">
              <a:buNone/>
            </a:pPr>
            <a:r>
              <a:rPr lang="en-US" sz="1150" dirty="0">
                <a:solidFill>
                  <a:srgbClr val="E2F4F7"/>
                </a:solidFill>
                <a:latin typeface="Calibri" pitchFamily="34" charset="0"/>
                <a:ea typeface="Calibri" pitchFamily="34" charset="-122"/>
                <a:cs typeface="Calibri" pitchFamily="34" charset="-120"/>
              </a:rPr>
              <a:t>Remote and underserved regions lack access to qualified specialists.</a:t>
            </a:r>
            <a:endParaRPr lang="en-US" sz="1150" dirty="0"/>
          </a:p>
        </p:txBody>
      </p:sp>
      <p:sp>
        <p:nvSpPr>
          <p:cNvPr id="21" name="Shape 19"/>
          <p:cNvSpPr/>
          <p:nvPr/>
        </p:nvSpPr>
        <p:spPr>
          <a:xfrm>
            <a:off x="320040" y="4754880"/>
            <a:ext cx="8503920" cy="274320"/>
          </a:xfrm>
          <a:prstGeom prst="rect">
            <a:avLst/>
          </a:prstGeom>
          <a:solidFill>
            <a:srgbClr val="132840"/>
          </a:solidFill>
          <a:ln w="12700">
            <a:solidFill>
              <a:srgbClr val="1E4060"/>
            </a:solidFill>
            <a:prstDash val="solid"/>
          </a:ln>
        </p:spPr>
      </p:sp>
      <p:sp>
        <p:nvSpPr>
          <p:cNvPr id="22" name="Shape 20"/>
          <p:cNvSpPr/>
          <p:nvPr/>
        </p:nvSpPr>
        <p:spPr>
          <a:xfrm>
            <a:off x="320040" y="4754880"/>
            <a:ext cx="54864" cy="274320"/>
          </a:xfrm>
          <a:prstGeom prst="rect">
            <a:avLst/>
          </a:prstGeom>
          <a:solidFill>
            <a:srgbClr val="22D3A0"/>
          </a:solidFill>
          <a:ln w="12700">
            <a:solidFill>
              <a:srgbClr val="22D3A0"/>
            </a:solidFill>
            <a:prstDash val="solid"/>
          </a:ln>
        </p:spPr>
      </p:sp>
      <p:sp>
        <p:nvSpPr>
          <p:cNvPr id="23" name="Text 21"/>
          <p:cNvSpPr/>
          <p:nvPr/>
        </p:nvSpPr>
        <p:spPr>
          <a:xfrm>
            <a:off x="530352" y="4773168"/>
            <a:ext cx="8229600" cy="237744"/>
          </a:xfrm>
          <a:prstGeom prst="rect">
            <a:avLst/>
          </a:prstGeom>
          <a:noFill/>
          <a:ln/>
        </p:spPr>
        <p:txBody>
          <a:bodyPr wrap="square" lIns="0" tIns="0" rIns="0" bIns="0" rtlCol="0" anchor="ctr"/>
          <a:lstStyle/>
          <a:p>
            <a:pPr marL="0" indent="0">
              <a:buNone/>
            </a:pPr>
            <a:r>
              <a:rPr lang="en-US" sz="1100" b="1" dirty="0">
                <a:solidFill>
                  <a:srgbClr val="22D3A0"/>
                </a:solidFill>
                <a:latin typeface="Calibri" pitchFamily="34" charset="0"/>
                <a:ea typeface="Calibri" pitchFamily="34" charset="-122"/>
                <a:cs typeface="Calibri" pitchFamily="34" charset="-120"/>
              </a:rPr>
              <a:t>Solution: Deep learning automates MRI screening — processing thousands of scans with consistent, objective, 24/7 analysis.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Objectives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Four core goals of this deep learning system</a:t>
            </a:r>
            <a:endParaRPr lang="en-US" sz="1100" dirty="0"/>
          </a:p>
        </p:txBody>
      </p:sp>
      <p:sp>
        <p:nvSpPr>
          <p:cNvPr id="5" name="Shape 3"/>
          <p:cNvSpPr/>
          <p:nvPr/>
        </p:nvSpPr>
        <p:spPr>
          <a:xfrm>
            <a:off x="320040" y="1024128"/>
            <a:ext cx="4206240" cy="1828800"/>
          </a:xfrm>
          <a:prstGeom prst="rect">
            <a:avLst/>
          </a:prstGeom>
          <a:solidFill>
            <a:srgbClr val="132840"/>
          </a:solidFill>
          <a:ln w="12700">
            <a:solidFill>
              <a:srgbClr val="1E4060"/>
            </a:solidFill>
            <a:prstDash val="solid"/>
          </a:ln>
        </p:spPr>
      </p:sp>
      <p:sp>
        <p:nvSpPr>
          <p:cNvPr id="6" name="Text 4"/>
          <p:cNvSpPr/>
          <p:nvPr/>
        </p:nvSpPr>
        <p:spPr>
          <a:xfrm>
            <a:off x="457200" y="1115568"/>
            <a:ext cx="640080" cy="640080"/>
          </a:xfrm>
          <a:prstGeom prst="rect">
            <a:avLst/>
          </a:prstGeom>
          <a:noFill/>
          <a:ln/>
        </p:spPr>
        <p:txBody>
          <a:bodyPr wrap="square" lIns="0" tIns="0" rIns="0" bIns="0" rtlCol="0" anchor="ctr"/>
          <a:lstStyle/>
          <a:p>
            <a:pPr marL="0" indent="0" algn="ctr">
              <a:buNone/>
            </a:pPr>
            <a:r>
              <a:rPr lang="en-US" sz="2800" b="1" dirty="0">
                <a:solidFill>
                  <a:srgbClr val="00C2CB"/>
                </a:solidFill>
                <a:latin typeface="Calibri" pitchFamily="34" charset="0"/>
                <a:ea typeface="Calibri" pitchFamily="34" charset="-122"/>
                <a:cs typeface="Calibri" pitchFamily="34" charset="-120"/>
              </a:rPr>
              <a:t>01</a:t>
            </a:r>
            <a:endParaRPr lang="en-US" sz="2800" dirty="0"/>
          </a:p>
        </p:txBody>
      </p:sp>
      <p:sp>
        <p:nvSpPr>
          <p:cNvPr id="7" name="Shape 5"/>
          <p:cNvSpPr/>
          <p:nvPr/>
        </p:nvSpPr>
        <p:spPr>
          <a:xfrm>
            <a:off x="457200" y="1773936"/>
            <a:ext cx="36576" cy="914400"/>
          </a:xfrm>
          <a:prstGeom prst="rect">
            <a:avLst/>
          </a:prstGeom>
          <a:solidFill>
            <a:srgbClr val="00C2CB"/>
          </a:solidFill>
          <a:ln w="12700">
            <a:solidFill>
              <a:srgbClr val="00C2CB"/>
            </a:solidFill>
            <a:prstDash val="solid"/>
          </a:ln>
        </p:spPr>
      </p:sp>
      <p:sp>
        <p:nvSpPr>
          <p:cNvPr id="8" name="Text 6"/>
          <p:cNvSpPr/>
          <p:nvPr/>
        </p:nvSpPr>
        <p:spPr>
          <a:xfrm>
            <a:off x="594360" y="1773936"/>
            <a:ext cx="37947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Binary Tumor Detection</a:t>
            </a:r>
            <a:endParaRPr lang="en-US" sz="1400" dirty="0"/>
          </a:p>
        </p:txBody>
      </p:sp>
      <p:sp>
        <p:nvSpPr>
          <p:cNvPr id="9" name="Text 7"/>
          <p:cNvSpPr/>
          <p:nvPr/>
        </p:nvSpPr>
        <p:spPr>
          <a:xfrm>
            <a:off x="594360" y="2121408"/>
            <a:ext cx="3749040" cy="621792"/>
          </a:xfrm>
          <a:prstGeom prst="rect">
            <a:avLst/>
          </a:prstGeom>
          <a:noFill/>
          <a:ln/>
        </p:spPr>
        <p:txBody>
          <a:bodyPr wrap="square" lIns="0" tIns="0" rIns="0" bIns="0" rtlCol="0" anchor="ctr"/>
          <a:lstStyle/>
          <a:p>
            <a:pPr marL="0" indent="0">
              <a:lnSpc>
                <a:spcPct val="120000"/>
              </a:lnSpc>
              <a:buNone/>
            </a:pPr>
            <a:r>
              <a:rPr lang="en-US" sz="1150" dirty="0">
                <a:solidFill>
                  <a:srgbClr val="E2F4F7"/>
                </a:solidFill>
                <a:latin typeface="Calibri" pitchFamily="34" charset="0"/>
                <a:ea typeface="Calibri" pitchFamily="34" charset="-122"/>
                <a:cs typeface="Calibri" pitchFamily="34" charset="-120"/>
              </a:rPr>
              <a:t>Build a CNN to classify MRI scans as Healthy or Tumor with high sensitivity and specificity.</a:t>
            </a:r>
            <a:endParaRPr lang="en-US" sz="1150" dirty="0"/>
          </a:p>
        </p:txBody>
      </p:sp>
      <p:sp>
        <p:nvSpPr>
          <p:cNvPr id="10" name="Shape 8"/>
          <p:cNvSpPr/>
          <p:nvPr/>
        </p:nvSpPr>
        <p:spPr>
          <a:xfrm>
            <a:off x="4754880" y="1024128"/>
            <a:ext cx="4206240" cy="1828800"/>
          </a:xfrm>
          <a:prstGeom prst="rect">
            <a:avLst/>
          </a:prstGeom>
          <a:solidFill>
            <a:srgbClr val="132840"/>
          </a:solidFill>
          <a:ln w="12700">
            <a:solidFill>
              <a:srgbClr val="1E4060"/>
            </a:solidFill>
            <a:prstDash val="solid"/>
          </a:ln>
        </p:spPr>
      </p:sp>
      <p:sp>
        <p:nvSpPr>
          <p:cNvPr id="11" name="Text 9"/>
          <p:cNvSpPr/>
          <p:nvPr/>
        </p:nvSpPr>
        <p:spPr>
          <a:xfrm>
            <a:off x="4892040" y="1115568"/>
            <a:ext cx="640080" cy="640080"/>
          </a:xfrm>
          <a:prstGeom prst="rect">
            <a:avLst/>
          </a:prstGeom>
          <a:noFill/>
          <a:ln/>
        </p:spPr>
        <p:txBody>
          <a:bodyPr wrap="square" lIns="0" tIns="0" rIns="0" bIns="0" rtlCol="0" anchor="ctr"/>
          <a:lstStyle/>
          <a:p>
            <a:pPr marL="0" indent="0" algn="ctr">
              <a:buNone/>
            </a:pPr>
            <a:r>
              <a:rPr lang="en-US" sz="2800" b="1" dirty="0">
                <a:solidFill>
                  <a:srgbClr val="38BDF8"/>
                </a:solidFill>
                <a:latin typeface="Calibri" pitchFamily="34" charset="0"/>
                <a:ea typeface="Calibri" pitchFamily="34" charset="-122"/>
                <a:cs typeface="Calibri" pitchFamily="34" charset="-120"/>
              </a:rPr>
              <a:t>02</a:t>
            </a:r>
            <a:endParaRPr lang="en-US" sz="2800" dirty="0"/>
          </a:p>
        </p:txBody>
      </p:sp>
      <p:sp>
        <p:nvSpPr>
          <p:cNvPr id="12" name="Shape 10"/>
          <p:cNvSpPr/>
          <p:nvPr/>
        </p:nvSpPr>
        <p:spPr>
          <a:xfrm>
            <a:off x="4892040" y="1773936"/>
            <a:ext cx="36576" cy="914400"/>
          </a:xfrm>
          <a:prstGeom prst="rect">
            <a:avLst/>
          </a:prstGeom>
          <a:solidFill>
            <a:srgbClr val="38BDF8"/>
          </a:solidFill>
          <a:ln w="12700">
            <a:solidFill>
              <a:srgbClr val="38BDF8"/>
            </a:solidFill>
            <a:prstDash val="solid"/>
          </a:ln>
        </p:spPr>
      </p:sp>
      <p:sp>
        <p:nvSpPr>
          <p:cNvPr id="13" name="Text 11"/>
          <p:cNvSpPr/>
          <p:nvPr/>
        </p:nvSpPr>
        <p:spPr>
          <a:xfrm>
            <a:off x="5029200" y="1773936"/>
            <a:ext cx="37947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Multi-Class Classification</a:t>
            </a:r>
            <a:endParaRPr lang="en-US" sz="1400" dirty="0"/>
          </a:p>
        </p:txBody>
      </p:sp>
      <p:sp>
        <p:nvSpPr>
          <p:cNvPr id="14" name="Text 12"/>
          <p:cNvSpPr/>
          <p:nvPr/>
        </p:nvSpPr>
        <p:spPr>
          <a:xfrm>
            <a:off x="5029200" y="2121408"/>
            <a:ext cx="3749040" cy="621792"/>
          </a:xfrm>
          <a:prstGeom prst="rect">
            <a:avLst/>
          </a:prstGeom>
          <a:noFill/>
          <a:ln/>
        </p:spPr>
        <p:txBody>
          <a:bodyPr wrap="square" lIns="0" tIns="0" rIns="0" bIns="0" rtlCol="0" anchor="ctr"/>
          <a:lstStyle/>
          <a:p>
            <a:pPr marL="0" indent="0">
              <a:lnSpc>
                <a:spcPct val="120000"/>
              </a:lnSpc>
              <a:buNone/>
            </a:pPr>
            <a:r>
              <a:rPr lang="en-US" sz="1150" dirty="0">
                <a:solidFill>
                  <a:srgbClr val="E2F4F7"/>
                </a:solidFill>
                <a:latin typeface="Calibri" pitchFamily="34" charset="0"/>
                <a:ea typeface="Calibri" pitchFamily="34" charset="-122"/>
                <a:cs typeface="Calibri" pitchFamily="34" charset="-120"/>
              </a:rPr>
              <a:t>Identify tumor subtypes — Glioma, Meningioma, Pituitary, No Tumor — using MobileNetV2 transfer learning.</a:t>
            </a:r>
            <a:endParaRPr lang="en-US" sz="1150" dirty="0"/>
          </a:p>
        </p:txBody>
      </p:sp>
      <p:sp>
        <p:nvSpPr>
          <p:cNvPr id="15" name="Shape 13"/>
          <p:cNvSpPr/>
          <p:nvPr/>
        </p:nvSpPr>
        <p:spPr>
          <a:xfrm>
            <a:off x="320040" y="3035808"/>
            <a:ext cx="4206240" cy="1828800"/>
          </a:xfrm>
          <a:prstGeom prst="rect">
            <a:avLst/>
          </a:prstGeom>
          <a:solidFill>
            <a:srgbClr val="132840"/>
          </a:solidFill>
          <a:ln w="12700">
            <a:solidFill>
              <a:srgbClr val="1E4060"/>
            </a:solidFill>
            <a:prstDash val="solid"/>
          </a:ln>
        </p:spPr>
      </p:sp>
      <p:sp>
        <p:nvSpPr>
          <p:cNvPr id="16" name="Text 14"/>
          <p:cNvSpPr/>
          <p:nvPr/>
        </p:nvSpPr>
        <p:spPr>
          <a:xfrm>
            <a:off x="457200" y="3127248"/>
            <a:ext cx="640080" cy="640080"/>
          </a:xfrm>
          <a:prstGeom prst="rect">
            <a:avLst/>
          </a:prstGeom>
          <a:noFill/>
          <a:ln/>
        </p:spPr>
        <p:txBody>
          <a:bodyPr wrap="square" lIns="0" tIns="0" rIns="0" bIns="0" rtlCol="0" anchor="ctr"/>
          <a:lstStyle/>
          <a:p>
            <a:pPr marL="0" indent="0" algn="ctr">
              <a:buNone/>
            </a:pPr>
            <a:r>
              <a:rPr lang="en-US" sz="2800" b="1" dirty="0">
                <a:solidFill>
                  <a:srgbClr val="22D3A0"/>
                </a:solidFill>
                <a:latin typeface="Calibri" pitchFamily="34" charset="0"/>
                <a:ea typeface="Calibri" pitchFamily="34" charset="-122"/>
                <a:cs typeface="Calibri" pitchFamily="34" charset="-120"/>
              </a:rPr>
              <a:t>03</a:t>
            </a:r>
            <a:endParaRPr lang="en-US" sz="2800" dirty="0"/>
          </a:p>
        </p:txBody>
      </p:sp>
      <p:sp>
        <p:nvSpPr>
          <p:cNvPr id="17" name="Shape 15"/>
          <p:cNvSpPr/>
          <p:nvPr/>
        </p:nvSpPr>
        <p:spPr>
          <a:xfrm>
            <a:off x="457200" y="3785616"/>
            <a:ext cx="36576" cy="914400"/>
          </a:xfrm>
          <a:prstGeom prst="rect">
            <a:avLst/>
          </a:prstGeom>
          <a:solidFill>
            <a:srgbClr val="22D3A0"/>
          </a:solidFill>
          <a:ln w="12700">
            <a:solidFill>
              <a:srgbClr val="22D3A0"/>
            </a:solidFill>
            <a:prstDash val="solid"/>
          </a:ln>
        </p:spPr>
      </p:sp>
      <p:sp>
        <p:nvSpPr>
          <p:cNvPr id="18" name="Text 16"/>
          <p:cNvSpPr/>
          <p:nvPr/>
        </p:nvSpPr>
        <p:spPr>
          <a:xfrm>
            <a:off x="594360" y="3785616"/>
            <a:ext cx="37947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Pixel-Level Segmentation</a:t>
            </a:r>
            <a:endParaRPr lang="en-US" sz="1400" dirty="0"/>
          </a:p>
        </p:txBody>
      </p:sp>
      <p:sp>
        <p:nvSpPr>
          <p:cNvPr id="19" name="Text 17"/>
          <p:cNvSpPr/>
          <p:nvPr/>
        </p:nvSpPr>
        <p:spPr>
          <a:xfrm>
            <a:off x="594360" y="4133088"/>
            <a:ext cx="3749040" cy="621792"/>
          </a:xfrm>
          <a:prstGeom prst="rect">
            <a:avLst/>
          </a:prstGeom>
          <a:noFill/>
          <a:ln/>
        </p:spPr>
        <p:txBody>
          <a:bodyPr wrap="square" lIns="0" tIns="0" rIns="0" bIns="0" rtlCol="0" anchor="ctr"/>
          <a:lstStyle/>
          <a:p>
            <a:pPr marL="0" indent="0">
              <a:lnSpc>
                <a:spcPct val="120000"/>
              </a:lnSpc>
              <a:buNone/>
            </a:pPr>
            <a:r>
              <a:rPr lang="en-US" sz="1150" dirty="0">
                <a:solidFill>
                  <a:srgbClr val="E2F4F7"/>
                </a:solidFill>
                <a:latin typeface="Calibri" pitchFamily="34" charset="0"/>
                <a:ea typeface="Calibri" pitchFamily="34" charset="-122"/>
                <a:cs typeface="Calibri" pitchFamily="34" charset="-120"/>
              </a:rPr>
              <a:t>Generate precise tumor boundary masks using a U-Net encoder-decoder for surgical planning.</a:t>
            </a:r>
            <a:endParaRPr lang="en-US" sz="1150" dirty="0"/>
          </a:p>
        </p:txBody>
      </p:sp>
      <p:sp>
        <p:nvSpPr>
          <p:cNvPr id="20" name="Shape 18"/>
          <p:cNvSpPr/>
          <p:nvPr/>
        </p:nvSpPr>
        <p:spPr>
          <a:xfrm>
            <a:off x="4754880" y="3035808"/>
            <a:ext cx="4206240" cy="1828800"/>
          </a:xfrm>
          <a:prstGeom prst="rect">
            <a:avLst/>
          </a:prstGeom>
          <a:solidFill>
            <a:srgbClr val="132840"/>
          </a:solidFill>
          <a:ln w="12700">
            <a:solidFill>
              <a:srgbClr val="1E4060"/>
            </a:solidFill>
            <a:prstDash val="solid"/>
          </a:ln>
        </p:spPr>
      </p:sp>
      <p:sp>
        <p:nvSpPr>
          <p:cNvPr id="21" name="Text 19"/>
          <p:cNvSpPr/>
          <p:nvPr/>
        </p:nvSpPr>
        <p:spPr>
          <a:xfrm>
            <a:off x="4892040" y="3127248"/>
            <a:ext cx="640080" cy="640080"/>
          </a:xfrm>
          <a:prstGeom prst="rect">
            <a:avLst/>
          </a:prstGeom>
          <a:noFill/>
          <a:ln/>
        </p:spPr>
        <p:txBody>
          <a:bodyPr wrap="square" lIns="0" tIns="0" rIns="0" bIns="0" rtlCol="0" anchor="ctr"/>
          <a:lstStyle/>
          <a:p>
            <a:pPr marL="0" indent="0" algn="ctr">
              <a:buNone/>
            </a:pPr>
            <a:r>
              <a:rPr lang="en-US" sz="2800" b="1" dirty="0">
                <a:solidFill>
                  <a:srgbClr val="FBBF24"/>
                </a:solidFill>
                <a:latin typeface="Calibri" pitchFamily="34" charset="0"/>
                <a:ea typeface="Calibri" pitchFamily="34" charset="-122"/>
                <a:cs typeface="Calibri" pitchFamily="34" charset="-120"/>
              </a:rPr>
              <a:t>04</a:t>
            </a:r>
            <a:endParaRPr lang="en-US" sz="2800" dirty="0"/>
          </a:p>
        </p:txBody>
      </p:sp>
      <p:sp>
        <p:nvSpPr>
          <p:cNvPr id="22" name="Shape 20"/>
          <p:cNvSpPr/>
          <p:nvPr/>
        </p:nvSpPr>
        <p:spPr>
          <a:xfrm>
            <a:off x="4892040" y="3785616"/>
            <a:ext cx="36576" cy="914400"/>
          </a:xfrm>
          <a:prstGeom prst="rect">
            <a:avLst/>
          </a:prstGeom>
          <a:solidFill>
            <a:srgbClr val="FBBF24"/>
          </a:solidFill>
          <a:ln w="12700">
            <a:solidFill>
              <a:srgbClr val="FBBF24"/>
            </a:solidFill>
            <a:prstDash val="solid"/>
          </a:ln>
        </p:spPr>
      </p:sp>
      <p:sp>
        <p:nvSpPr>
          <p:cNvPr id="23" name="Text 21"/>
          <p:cNvSpPr/>
          <p:nvPr/>
        </p:nvSpPr>
        <p:spPr>
          <a:xfrm>
            <a:off x="5029200" y="3785616"/>
            <a:ext cx="37947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Full-Stack Web Application</a:t>
            </a:r>
            <a:endParaRPr lang="en-US" sz="1400" dirty="0"/>
          </a:p>
        </p:txBody>
      </p:sp>
      <p:sp>
        <p:nvSpPr>
          <p:cNvPr id="24" name="Text 22"/>
          <p:cNvSpPr/>
          <p:nvPr/>
        </p:nvSpPr>
        <p:spPr>
          <a:xfrm>
            <a:off x="5029200" y="4133088"/>
            <a:ext cx="3749040" cy="621792"/>
          </a:xfrm>
          <a:prstGeom prst="rect">
            <a:avLst/>
          </a:prstGeom>
          <a:noFill/>
          <a:ln/>
        </p:spPr>
        <p:txBody>
          <a:bodyPr wrap="square" lIns="0" tIns="0" rIns="0" bIns="0" rtlCol="0" anchor="ctr"/>
          <a:lstStyle/>
          <a:p>
            <a:pPr marL="0" indent="0">
              <a:lnSpc>
                <a:spcPct val="120000"/>
              </a:lnSpc>
              <a:buNone/>
            </a:pPr>
            <a:r>
              <a:rPr lang="en-US" sz="1150" dirty="0">
                <a:solidFill>
                  <a:srgbClr val="E2F4F7"/>
                </a:solidFill>
                <a:latin typeface="Calibri" pitchFamily="34" charset="0"/>
                <a:ea typeface="Calibri" pitchFamily="34" charset="-122"/>
                <a:cs typeface="Calibri" pitchFamily="34" charset="-120"/>
              </a:rPr>
              <a:t>Deploy all models via a React + FastAPI interface with PDF reports, batch analysis, and QR sharing.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Literature Review</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Existing approaches and research gaps addressed by this project</a:t>
            </a:r>
            <a:endParaRPr lang="en-US" sz="1100" dirty="0"/>
          </a:p>
        </p:txBody>
      </p:sp>
      <p:sp>
        <p:nvSpPr>
          <p:cNvPr id="5" name="Shape 3"/>
          <p:cNvSpPr/>
          <p:nvPr/>
        </p:nvSpPr>
        <p:spPr>
          <a:xfrm>
            <a:off x="320040" y="1005840"/>
            <a:ext cx="4160520" cy="3931920"/>
          </a:xfrm>
          <a:prstGeom prst="rect">
            <a:avLst/>
          </a:prstGeom>
          <a:solidFill>
            <a:srgbClr val="132840"/>
          </a:solidFill>
          <a:ln w="12700">
            <a:solidFill>
              <a:srgbClr val="1E4060"/>
            </a:solidFill>
            <a:prstDash val="solid"/>
          </a:ln>
        </p:spPr>
      </p:sp>
      <p:sp>
        <p:nvSpPr>
          <p:cNvPr id="6" name="Text 4"/>
          <p:cNvSpPr/>
          <p:nvPr/>
        </p:nvSpPr>
        <p:spPr>
          <a:xfrm>
            <a:off x="457200" y="1078992"/>
            <a:ext cx="3886200" cy="292608"/>
          </a:xfrm>
          <a:prstGeom prst="rect">
            <a:avLst/>
          </a:prstGeom>
          <a:noFill/>
          <a:ln/>
        </p:spPr>
        <p:txBody>
          <a:bodyPr wrap="square" lIns="0" tIns="0" rIns="0" bIns="0"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Existing Approaches</a:t>
            </a:r>
            <a:endParaRPr lang="en-US" sz="1300" dirty="0"/>
          </a:p>
        </p:txBody>
      </p:sp>
      <p:sp>
        <p:nvSpPr>
          <p:cNvPr id="7" name="Text 5"/>
          <p:cNvSpPr/>
          <p:nvPr/>
        </p:nvSpPr>
        <p:spPr>
          <a:xfrm>
            <a:off x="457200" y="1444752"/>
            <a:ext cx="3749040" cy="237744"/>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Traditional CNNs</a:t>
            </a:r>
            <a:endParaRPr lang="en-US" sz="1200" dirty="0"/>
          </a:p>
        </p:txBody>
      </p:sp>
      <p:sp>
        <p:nvSpPr>
          <p:cNvPr id="8" name="Text 6"/>
          <p:cNvSpPr/>
          <p:nvPr/>
        </p:nvSpPr>
        <p:spPr>
          <a:xfrm>
            <a:off x="457200" y="1700784"/>
            <a:ext cx="379476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VGG, ResNet, Inception — strong baselines for medical imaging classification.</a:t>
            </a:r>
            <a:endParaRPr lang="en-US" sz="1100" dirty="0"/>
          </a:p>
        </p:txBody>
      </p:sp>
      <p:sp>
        <p:nvSpPr>
          <p:cNvPr id="9" name="Text 7"/>
          <p:cNvSpPr/>
          <p:nvPr/>
        </p:nvSpPr>
        <p:spPr>
          <a:xfrm>
            <a:off x="457200" y="2176272"/>
            <a:ext cx="3749040" cy="237744"/>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Transfer Learning</a:t>
            </a:r>
            <a:endParaRPr lang="en-US" sz="1200" dirty="0"/>
          </a:p>
        </p:txBody>
      </p:sp>
      <p:sp>
        <p:nvSpPr>
          <p:cNvPr id="10" name="Text 8"/>
          <p:cNvSpPr/>
          <p:nvPr/>
        </p:nvSpPr>
        <p:spPr>
          <a:xfrm>
            <a:off x="457200" y="2432304"/>
            <a:ext cx="379476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ImageNet-pretrained models reduce training time and data requirements significantly.</a:t>
            </a:r>
            <a:endParaRPr lang="en-US" sz="1100" dirty="0"/>
          </a:p>
        </p:txBody>
      </p:sp>
      <p:sp>
        <p:nvSpPr>
          <p:cNvPr id="11" name="Text 9"/>
          <p:cNvSpPr/>
          <p:nvPr/>
        </p:nvSpPr>
        <p:spPr>
          <a:xfrm>
            <a:off x="457200" y="2907792"/>
            <a:ext cx="3749040" cy="237744"/>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U-Net Architecture</a:t>
            </a:r>
            <a:endParaRPr lang="en-US" sz="1200" dirty="0"/>
          </a:p>
        </p:txBody>
      </p:sp>
      <p:sp>
        <p:nvSpPr>
          <p:cNvPr id="12" name="Text 10"/>
          <p:cNvSpPr/>
          <p:nvPr/>
        </p:nvSpPr>
        <p:spPr>
          <a:xfrm>
            <a:off x="457200" y="3163824"/>
            <a:ext cx="379476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Pioneered encoder-decoder structure with skip connections for biomedical segmentation.</a:t>
            </a:r>
            <a:endParaRPr lang="en-US" sz="1100" dirty="0"/>
          </a:p>
        </p:txBody>
      </p:sp>
      <p:sp>
        <p:nvSpPr>
          <p:cNvPr id="13" name="Text 11"/>
          <p:cNvSpPr/>
          <p:nvPr/>
        </p:nvSpPr>
        <p:spPr>
          <a:xfrm>
            <a:off x="457200" y="3639312"/>
            <a:ext cx="3749040" cy="237744"/>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Ensemble Methods</a:t>
            </a:r>
            <a:endParaRPr lang="en-US" sz="1200" dirty="0"/>
          </a:p>
        </p:txBody>
      </p:sp>
      <p:sp>
        <p:nvSpPr>
          <p:cNvPr id="14" name="Text 12"/>
          <p:cNvSpPr/>
          <p:nvPr/>
        </p:nvSpPr>
        <p:spPr>
          <a:xfrm>
            <a:off x="457200" y="3895344"/>
            <a:ext cx="379476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Combining models improves robustness but adds inference complexity.</a:t>
            </a:r>
            <a:endParaRPr lang="en-US" sz="1100" dirty="0"/>
          </a:p>
        </p:txBody>
      </p:sp>
      <p:sp>
        <p:nvSpPr>
          <p:cNvPr id="15" name="Shape 13"/>
          <p:cNvSpPr/>
          <p:nvPr/>
        </p:nvSpPr>
        <p:spPr>
          <a:xfrm>
            <a:off x="4663440" y="1005840"/>
            <a:ext cx="4160520" cy="3931920"/>
          </a:xfrm>
          <a:prstGeom prst="rect">
            <a:avLst/>
          </a:prstGeom>
          <a:solidFill>
            <a:srgbClr val="132840"/>
          </a:solidFill>
          <a:ln w="12700">
            <a:solidFill>
              <a:srgbClr val="1E4060"/>
            </a:solidFill>
            <a:prstDash val="solid"/>
          </a:ln>
        </p:spPr>
      </p:sp>
      <p:sp>
        <p:nvSpPr>
          <p:cNvPr id="16" name="Text 14"/>
          <p:cNvSpPr/>
          <p:nvPr/>
        </p:nvSpPr>
        <p:spPr>
          <a:xfrm>
            <a:off x="4800600" y="1078992"/>
            <a:ext cx="3886200" cy="292608"/>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Research Gaps &amp; Our Contributions</a:t>
            </a:r>
            <a:endParaRPr lang="en-US" sz="1300" dirty="0"/>
          </a:p>
        </p:txBody>
      </p:sp>
      <p:sp>
        <p:nvSpPr>
          <p:cNvPr id="17" name="Text 15"/>
          <p:cNvSpPr/>
          <p:nvPr/>
        </p:nvSpPr>
        <p:spPr>
          <a:xfrm>
            <a:off x="4800600" y="1444752"/>
            <a:ext cx="3886200" cy="237744"/>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Gap: Single-Task Models</a:t>
            </a:r>
            <a:endParaRPr lang="en-US" sz="1200" dirty="0"/>
          </a:p>
        </p:txBody>
      </p:sp>
      <p:sp>
        <p:nvSpPr>
          <p:cNvPr id="18" name="Text 16"/>
          <p:cNvSpPr/>
          <p:nvPr/>
        </p:nvSpPr>
        <p:spPr>
          <a:xfrm>
            <a:off x="4800600" y="1700784"/>
            <a:ext cx="388620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Our fix: Most existing work focuses on one task. We build an integrated 3-stage pipeline.</a:t>
            </a:r>
            <a:endParaRPr lang="en-US" sz="1100" dirty="0"/>
          </a:p>
        </p:txBody>
      </p:sp>
      <p:sp>
        <p:nvSpPr>
          <p:cNvPr id="19" name="Text 17"/>
          <p:cNvSpPr/>
          <p:nvPr/>
        </p:nvSpPr>
        <p:spPr>
          <a:xfrm>
            <a:off x="4800600" y="2194560"/>
            <a:ext cx="3886200" cy="237744"/>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Gap: Segmentation Precision</a:t>
            </a:r>
            <a:endParaRPr lang="en-US" sz="1200" dirty="0"/>
          </a:p>
        </p:txBody>
      </p:sp>
      <p:sp>
        <p:nvSpPr>
          <p:cNvPr id="20" name="Text 18"/>
          <p:cNvSpPr/>
          <p:nvPr/>
        </p:nvSpPr>
        <p:spPr>
          <a:xfrm>
            <a:off x="4800600" y="2450592"/>
            <a:ext cx="388620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Our fix: Vanilla U-Nets achieve ~0.70 Dice. Our BN+Dropout+Dice+BCE model reaches 0.80+.</a:t>
            </a:r>
            <a:endParaRPr lang="en-US" sz="1100" dirty="0"/>
          </a:p>
        </p:txBody>
      </p:sp>
      <p:sp>
        <p:nvSpPr>
          <p:cNvPr id="21" name="Text 19"/>
          <p:cNvSpPr/>
          <p:nvPr/>
        </p:nvSpPr>
        <p:spPr>
          <a:xfrm>
            <a:off x="4800600" y="2944368"/>
            <a:ext cx="3886200" cy="237744"/>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Gap: No Web Integration</a:t>
            </a:r>
            <a:endParaRPr lang="en-US" sz="1200" dirty="0"/>
          </a:p>
        </p:txBody>
      </p:sp>
      <p:sp>
        <p:nvSpPr>
          <p:cNvPr id="22" name="Text 20"/>
          <p:cNvSpPr/>
          <p:nvPr/>
        </p:nvSpPr>
        <p:spPr>
          <a:xfrm>
            <a:off x="4800600" y="3200400"/>
            <a:ext cx="388620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Our fix: Literature models lack deployment. We deliver a full React+FastAPI web application.</a:t>
            </a:r>
            <a:endParaRPr lang="en-US" sz="1100" dirty="0"/>
          </a:p>
        </p:txBody>
      </p:sp>
      <p:sp>
        <p:nvSpPr>
          <p:cNvPr id="23" name="Text 21"/>
          <p:cNvSpPr/>
          <p:nvPr/>
        </p:nvSpPr>
        <p:spPr>
          <a:xfrm>
            <a:off x="4800600" y="3694176"/>
            <a:ext cx="3886200" cy="237744"/>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Gap: CPU Optimization</a:t>
            </a:r>
            <a:endParaRPr lang="en-US" sz="1200" dirty="0"/>
          </a:p>
        </p:txBody>
      </p:sp>
      <p:sp>
        <p:nvSpPr>
          <p:cNvPr id="24" name="Text 22"/>
          <p:cNvSpPr/>
          <p:nvPr/>
        </p:nvSpPr>
        <p:spPr>
          <a:xfrm>
            <a:off x="4800600" y="3950208"/>
            <a:ext cx="3886200" cy="34747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Our fix: Most work assumes GPU. We optimize all three models for CPU-only training.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Proposed System</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Multi-stage AI pipeline for automated brain tumor analysis</a:t>
            </a:r>
            <a:endParaRPr lang="en-US" sz="1100" dirty="0"/>
          </a:p>
        </p:txBody>
      </p:sp>
      <p:sp>
        <p:nvSpPr>
          <p:cNvPr id="5" name="Shape 3"/>
          <p:cNvSpPr/>
          <p:nvPr/>
        </p:nvSpPr>
        <p:spPr>
          <a:xfrm>
            <a:off x="320040" y="1005840"/>
            <a:ext cx="1234440" cy="1005840"/>
          </a:xfrm>
          <a:prstGeom prst="rect">
            <a:avLst/>
          </a:prstGeom>
          <a:solidFill>
            <a:srgbClr val="1E4060"/>
          </a:solidFill>
          <a:ln w="19050">
            <a:solidFill>
              <a:srgbClr val="7FA8BD"/>
            </a:solidFill>
            <a:prstDash val="solid"/>
          </a:ln>
        </p:spPr>
      </p:sp>
      <p:sp>
        <p:nvSpPr>
          <p:cNvPr id="6" name="Text 4"/>
          <p:cNvSpPr/>
          <p:nvPr/>
        </p:nvSpPr>
        <p:spPr>
          <a:xfrm>
            <a:off x="320040" y="1005840"/>
            <a:ext cx="1234440" cy="1005840"/>
          </a:xfrm>
          <a:prstGeom prst="rect">
            <a:avLst/>
          </a:prstGeom>
          <a:noFill/>
          <a:ln/>
        </p:spPr>
        <p:txBody>
          <a:bodyPr wrap="square" lIns="0" tIns="0" rIns="0" bIns="0" rtlCol="0" anchor="ctr"/>
          <a:lstStyle/>
          <a:p>
            <a:pPr marL="0" indent="0" algn="ctr">
              <a:buNone/>
            </a:pPr>
            <a:r>
              <a:rPr lang="en-US" sz="1100" b="1" dirty="0">
                <a:solidFill>
                  <a:srgbClr val="7FA8BD"/>
                </a:solidFill>
                <a:latin typeface="Calibri" pitchFamily="34" charset="0"/>
                <a:ea typeface="Calibri" pitchFamily="34" charset="-122"/>
                <a:cs typeface="Calibri" pitchFamily="34" charset="-120"/>
              </a:rPr>
              <a:t>MRI / CT</a:t>
            </a:r>
            <a:endParaRPr lang="en-US" sz="1100" dirty="0"/>
          </a:p>
          <a:p>
            <a:pPr marL="0" indent="0" algn="ctr">
              <a:buNone/>
            </a:pPr>
            <a:r>
              <a:rPr lang="en-US" sz="1100" b="1" dirty="0">
                <a:solidFill>
                  <a:srgbClr val="7FA8BD"/>
                </a:solidFill>
                <a:latin typeface="Calibri" pitchFamily="34" charset="0"/>
                <a:ea typeface="Calibri" pitchFamily="34" charset="-122"/>
                <a:cs typeface="Calibri" pitchFamily="34" charset="-120"/>
              </a:rPr>
              <a:t>Input</a:t>
            </a:r>
            <a:endParaRPr lang="en-US" sz="1100" dirty="0"/>
          </a:p>
        </p:txBody>
      </p:sp>
      <p:sp>
        <p:nvSpPr>
          <p:cNvPr id="7" name="Text 5"/>
          <p:cNvSpPr/>
          <p:nvPr/>
        </p:nvSpPr>
        <p:spPr>
          <a:xfrm>
            <a:off x="1554480" y="1325880"/>
            <a:ext cx="201168" cy="365760"/>
          </a:xfrm>
          <a:prstGeom prst="rect">
            <a:avLst/>
          </a:prstGeom>
          <a:noFill/>
          <a:ln/>
        </p:spPr>
        <p:txBody>
          <a:bodyPr wrap="square" lIns="0" tIns="0" rIns="0" bIns="0" rtlCol="0" anchor="ctr"/>
          <a:lstStyle/>
          <a:p>
            <a:pPr marL="0" indent="0" algn="ctr">
              <a:buNone/>
            </a:pPr>
            <a:r>
              <a:rPr lang="en-US" sz="1600" dirty="0">
                <a:solidFill>
                  <a:srgbClr val="00C2CB"/>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1755648" y="1005840"/>
            <a:ext cx="1234440" cy="1005840"/>
          </a:xfrm>
          <a:prstGeom prst="rect">
            <a:avLst/>
          </a:prstGeom>
          <a:solidFill>
            <a:srgbClr val="112D4E"/>
          </a:solidFill>
          <a:ln w="19050">
            <a:solidFill>
              <a:srgbClr val="E2F4F7"/>
            </a:solidFill>
            <a:prstDash val="solid"/>
          </a:ln>
        </p:spPr>
      </p:sp>
      <p:sp>
        <p:nvSpPr>
          <p:cNvPr id="9" name="Text 7"/>
          <p:cNvSpPr/>
          <p:nvPr/>
        </p:nvSpPr>
        <p:spPr>
          <a:xfrm>
            <a:off x="1755648" y="1005840"/>
            <a:ext cx="1234440" cy="1005840"/>
          </a:xfrm>
          <a:prstGeom prst="rect">
            <a:avLst/>
          </a:prstGeom>
          <a:noFill/>
          <a:ln/>
        </p:spPr>
        <p:txBody>
          <a:bodyPr wrap="square" lIns="0" tIns="0" rIns="0" bIns="0" rtlCol="0" anchor="ctr"/>
          <a:lstStyle/>
          <a:p>
            <a:pPr marL="0" indent="0" algn="ctr">
              <a:buNone/>
            </a:pPr>
            <a:r>
              <a:rPr lang="en-US" sz="1100" b="1" dirty="0">
                <a:solidFill>
                  <a:srgbClr val="E2F4F7"/>
                </a:solidFill>
                <a:latin typeface="Calibri" pitchFamily="34" charset="0"/>
                <a:ea typeface="Calibri" pitchFamily="34" charset="-122"/>
                <a:cs typeface="Calibri" pitchFamily="34" charset="-120"/>
              </a:rPr>
              <a:t>Preprocess</a:t>
            </a:r>
            <a:endParaRPr lang="en-US" sz="1100" dirty="0"/>
          </a:p>
          <a:p>
            <a:pPr marL="0" indent="0" algn="ctr">
              <a:buNone/>
            </a:pPr>
            <a:r>
              <a:rPr lang="en-US" sz="1100" b="1" dirty="0">
                <a:solidFill>
                  <a:srgbClr val="E2F4F7"/>
                </a:solidFill>
                <a:latin typeface="Calibri" pitchFamily="34" charset="0"/>
                <a:ea typeface="Calibri" pitchFamily="34" charset="-122"/>
                <a:cs typeface="Calibri" pitchFamily="34" charset="-120"/>
              </a:rPr>
              <a:t>&amp; Augment</a:t>
            </a:r>
            <a:endParaRPr lang="en-US" sz="1100" dirty="0"/>
          </a:p>
        </p:txBody>
      </p:sp>
      <p:sp>
        <p:nvSpPr>
          <p:cNvPr id="10" name="Text 8"/>
          <p:cNvSpPr/>
          <p:nvPr/>
        </p:nvSpPr>
        <p:spPr>
          <a:xfrm>
            <a:off x="2990088" y="1325880"/>
            <a:ext cx="201168" cy="365760"/>
          </a:xfrm>
          <a:prstGeom prst="rect">
            <a:avLst/>
          </a:prstGeom>
          <a:noFill/>
          <a:ln/>
        </p:spPr>
        <p:txBody>
          <a:bodyPr wrap="square" lIns="0" tIns="0" rIns="0" bIns="0" rtlCol="0" anchor="ctr"/>
          <a:lstStyle/>
          <a:p>
            <a:pPr marL="0" indent="0" algn="ctr">
              <a:buNone/>
            </a:pPr>
            <a:r>
              <a:rPr lang="en-US" sz="1600" dirty="0">
                <a:solidFill>
                  <a:srgbClr val="00C2C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191256" y="1005840"/>
            <a:ext cx="1234440" cy="1005840"/>
          </a:xfrm>
          <a:prstGeom prst="rect">
            <a:avLst/>
          </a:prstGeom>
          <a:solidFill>
            <a:srgbClr val="0D4A6E"/>
          </a:solidFill>
          <a:ln w="19050">
            <a:solidFill>
              <a:srgbClr val="00C2CB"/>
            </a:solidFill>
            <a:prstDash val="solid"/>
          </a:ln>
        </p:spPr>
      </p:sp>
      <p:sp>
        <p:nvSpPr>
          <p:cNvPr id="12" name="Text 10"/>
          <p:cNvSpPr/>
          <p:nvPr/>
        </p:nvSpPr>
        <p:spPr>
          <a:xfrm>
            <a:off x="3191256" y="1005840"/>
            <a:ext cx="1234440" cy="10058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CNN</a:t>
            </a:r>
            <a:endParaRPr lang="en-US" sz="1100" dirty="0"/>
          </a:p>
          <a:p>
            <a:pPr marL="0" indent="0" algn="ctr">
              <a:buNone/>
            </a:pPr>
            <a:r>
              <a:rPr lang="en-US" sz="1100" b="1" dirty="0">
                <a:solidFill>
                  <a:srgbClr val="00C2CB"/>
                </a:solidFill>
                <a:latin typeface="Calibri" pitchFamily="34" charset="0"/>
                <a:ea typeface="Calibri" pitchFamily="34" charset="-122"/>
                <a:cs typeface="Calibri" pitchFamily="34" charset="-120"/>
              </a:rPr>
              <a:t>Detection</a:t>
            </a:r>
            <a:endParaRPr lang="en-US" sz="1100" dirty="0"/>
          </a:p>
        </p:txBody>
      </p:sp>
      <p:sp>
        <p:nvSpPr>
          <p:cNvPr id="13" name="Text 11"/>
          <p:cNvSpPr/>
          <p:nvPr/>
        </p:nvSpPr>
        <p:spPr>
          <a:xfrm>
            <a:off x="4425696" y="1325880"/>
            <a:ext cx="201168" cy="365760"/>
          </a:xfrm>
          <a:prstGeom prst="rect">
            <a:avLst/>
          </a:prstGeom>
          <a:noFill/>
          <a:ln/>
        </p:spPr>
        <p:txBody>
          <a:bodyPr wrap="square" lIns="0" tIns="0" rIns="0" bIns="0" rtlCol="0" anchor="ctr"/>
          <a:lstStyle/>
          <a:p>
            <a:pPr marL="0" indent="0" algn="ctr">
              <a:buNone/>
            </a:pPr>
            <a:r>
              <a:rPr lang="en-US" sz="1600" dirty="0">
                <a:solidFill>
                  <a:srgbClr val="00C2C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626864" y="1005840"/>
            <a:ext cx="1234440" cy="1005840"/>
          </a:xfrm>
          <a:prstGeom prst="rect">
            <a:avLst/>
          </a:prstGeom>
          <a:solidFill>
            <a:srgbClr val="0D4A6E"/>
          </a:solidFill>
          <a:ln w="19050">
            <a:solidFill>
              <a:srgbClr val="38BDF8"/>
            </a:solidFill>
            <a:prstDash val="solid"/>
          </a:ln>
        </p:spPr>
      </p:sp>
      <p:sp>
        <p:nvSpPr>
          <p:cNvPr id="15" name="Text 13"/>
          <p:cNvSpPr/>
          <p:nvPr/>
        </p:nvSpPr>
        <p:spPr>
          <a:xfrm>
            <a:off x="4626864" y="1005840"/>
            <a:ext cx="1234440" cy="100584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MobileNetV2</a:t>
            </a:r>
            <a:endParaRPr lang="en-US" sz="1100" dirty="0"/>
          </a:p>
          <a:p>
            <a:pPr marL="0" indent="0" algn="ctr">
              <a:buNone/>
            </a:pPr>
            <a:r>
              <a:rPr lang="en-US" sz="1100" b="1" dirty="0">
                <a:solidFill>
                  <a:srgbClr val="38BDF8"/>
                </a:solidFill>
                <a:latin typeface="Calibri" pitchFamily="34" charset="0"/>
                <a:ea typeface="Calibri" pitchFamily="34" charset="-122"/>
                <a:cs typeface="Calibri" pitchFamily="34" charset="-120"/>
              </a:rPr>
              <a:t>Classify</a:t>
            </a:r>
            <a:endParaRPr lang="en-US" sz="1100" dirty="0"/>
          </a:p>
        </p:txBody>
      </p:sp>
      <p:sp>
        <p:nvSpPr>
          <p:cNvPr id="16" name="Text 14"/>
          <p:cNvSpPr/>
          <p:nvPr/>
        </p:nvSpPr>
        <p:spPr>
          <a:xfrm>
            <a:off x="5861304" y="1325880"/>
            <a:ext cx="201168" cy="365760"/>
          </a:xfrm>
          <a:prstGeom prst="rect">
            <a:avLst/>
          </a:prstGeom>
          <a:noFill/>
          <a:ln/>
        </p:spPr>
        <p:txBody>
          <a:bodyPr wrap="square" lIns="0" tIns="0" rIns="0" bIns="0" rtlCol="0" anchor="ctr"/>
          <a:lstStyle/>
          <a:p>
            <a:pPr marL="0" indent="0" algn="ctr">
              <a:buNone/>
            </a:pPr>
            <a:r>
              <a:rPr lang="en-US" sz="1600" dirty="0">
                <a:solidFill>
                  <a:srgbClr val="00C2C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062472" y="1005840"/>
            <a:ext cx="1234440" cy="1005840"/>
          </a:xfrm>
          <a:prstGeom prst="rect">
            <a:avLst/>
          </a:prstGeom>
          <a:solidFill>
            <a:srgbClr val="0D4A6E"/>
          </a:solidFill>
          <a:ln w="19050">
            <a:solidFill>
              <a:srgbClr val="22D3A0"/>
            </a:solidFill>
            <a:prstDash val="solid"/>
          </a:ln>
        </p:spPr>
      </p:sp>
      <p:sp>
        <p:nvSpPr>
          <p:cNvPr id="18" name="Text 16"/>
          <p:cNvSpPr/>
          <p:nvPr/>
        </p:nvSpPr>
        <p:spPr>
          <a:xfrm>
            <a:off x="6062472" y="1005840"/>
            <a:ext cx="1234440" cy="1005840"/>
          </a:xfrm>
          <a:prstGeom prst="rect">
            <a:avLst/>
          </a:prstGeom>
          <a:noFill/>
          <a:ln/>
        </p:spPr>
        <p:txBody>
          <a:bodyPr wrap="square" lIns="0" tIns="0" rIns="0" bIns="0" rtlCol="0" anchor="ctr"/>
          <a:lstStyle/>
          <a:p>
            <a:pPr marL="0" indent="0" algn="ctr">
              <a:buNone/>
            </a:pPr>
            <a:r>
              <a:rPr lang="en-US" sz="1100" b="1" dirty="0">
                <a:solidFill>
                  <a:srgbClr val="22D3A0"/>
                </a:solidFill>
                <a:latin typeface="Calibri" pitchFamily="34" charset="0"/>
                <a:ea typeface="Calibri" pitchFamily="34" charset="-122"/>
                <a:cs typeface="Calibri" pitchFamily="34" charset="-120"/>
              </a:rPr>
              <a:t>U-Net</a:t>
            </a:r>
            <a:endParaRPr lang="en-US" sz="1100" dirty="0"/>
          </a:p>
          <a:p>
            <a:pPr marL="0" indent="0" algn="ctr">
              <a:buNone/>
            </a:pPr>
            <a:r>
              <a:rPr lang="en-US" sz="1100" b="1" dirty="0">
                <a:solidFill>
                  <a:srgbClr val="22D3A0"/>
                </a:solidFill>
                <a:latin typeface="Calibri" pitchFamily="34" charset="0"/>
                <a:ea typeface="Calibri" pitchFamily="34" charset="-122"/>
                <a:cs typeface="Calibri" pitchFamily="34" charset="-120"/>
              </a:rPr>
              <a:t>Segment</a:t>
            </a:r>
            <a:endParaRPr lang="en-US" sz="1100" dirty="0"/>
          </a:p>
        </p:txBody>
      </p:sp>
      <p:sp>
        <p:nvSpPr>
          <p:cNvPr id="19" name="Text 17"/>
          <p:cNvSpPr/>
          <p:nvPr/>
        </p:nvSpPr>
        <p:spPr>
          <a:xfrm>
            <a:off x="7296912" y="1325880"/>
            <a:ext cx="201168" cy="365760"/>
          </a:xfrm>
          <a:prstGeom prst="rect">
            <a:avLst/>
          </a:prstGeom>
          <a:noFill/>
          <a:ln/>
        </p:spPr>
        <p:txBody>
          <a:bodyPr wrap="square" lIns="0" tIns="0" rIns="0" bIns="0" rtlCol="0" anchor="ctr"/>
          <a:lstStyle/>
          <a:p>
            <a:pPr marL="0" indent="0" algn="ctr">
              <a:buNone/>
            </a:pPr>
            <a:r>
              <a:rPr lang="en-US" sz="1600" dirty="0">
                <a:solidFill>
                  <a:srgbClr val="00C2CB"/>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498080" y="1005840"/>
            <a:ext cx="1234440" cy="1005840"/>
          </a:xfrm>
          <a:prstGeom prst="rect">
            <a:avLst/>
          </a:prstGeom>
          <a:solidFill>
            <a:srgbClr val="112D4E"/>
          </a:solidFill>
          <a:ln w="19050">
            <a:solidFill>
              <a:srgbClr val="FBBF24"/>
            </a:solidFill>
            <a:prstDash val="solid"/>
          </a:ln>
        </p:spPr>
      </p:sp>
      <p:sp>
        <p:nvSpPr>
          <p:cNvPr id="21" name="Text 19"/>
          <p:cNvSpPr/>
          <p:nvPr/>
        </p:nvSpPr>
        <p:spPr>
          <a:xfrm>
            <a:off x="7498080" y="1005840"/>
            <a:ext cx="1234440" cy="1005840"/>
          </a:xfrm>
          <a:prstGeom prst="rect">
            <a:avLst/>
          </a:prstGeom>
          <a:noFill/>
          <a:ln/>
        </p:spPr>
        <p:txBody>
          <a:bodyPr wrap="square" lIns="0" tIns="0" rIns="0" bIns="0" rtlCol="0" anchor="ctr"/>
          <a:lstStyle/>
          <a:p>
            <a:pPr marL="0" indent="0" algn="ctr">
              <a:buNone/>
            </a:pPr>
            <a:r>
              <a:rPr lang="en-US" sz="1100" b="1" dirty="0">
                <a:solidFill>
                  <a:srgbClr val="FBBF24"/>
                </a:solidFill>
                <a:latin typeface="Calibri" pitchFamily="34" charset="0"/>
                <a:ea typeface="Calibri" pitchFamily="34" charset="-122"/>
                <a:cs typeface="Calibri" pitchFamily="34" charset="-120"/>
              </a:rPr>
              <a:t>Report &amp;</a:t>
            </a:r>
            <a:endParaRPr lang="en-US" sz="1100" dirty="0"/>
          </a:p>
          <a:p>
            <a:pPr marL="0" indent="0" algn="ctr">
              <a:buNone/>
            </a:pPr>
            <a:r>
              <a:rPr lang="en-US" sz="1100" b="1" dirty="0">
                <a:solidFill>
                  <a:srgbClr val="FBBF24"/>
                </a:solidFill>
                <a:latin typeface="Calibri" pitchFamily="34" charset="0"/>
                <a:ea typeface="Calibri" pitchFamily="34" charset="-122"/>
                <a:cs typeface="Calibri" pitchFamily="34" charset="-120"/>
              </a:rPr>
              <a:t>Output</a:t>
            </a:r>
            <a:endParaRPr lang="en-US" sz="1100" dirty="0"/>
          </a:p>
        </p:txBody>
      </p:sp>
      <p:sp>
        <p:nvSpPr>
          <p:cNvPr id="22" name="Text 20"/>
          <p:cNvSpPr/>
          <p:nvPr/>
        </p:nvSpPr>
        <p:spPr>
          <a:xfrm>
            <a:off x="320040" y="2148840"/>
            <a:ext cx="8503920" cy="274320"/>
          </a:xfrm>
          <a:prstGeom prst="rect">
            <a:avLst/>
          </a:prstGeom>
          <a:noFill/>
          <a:ln/>
        </p:spPr>
        <p:txBody>
          <a:bodyPr wrap="square" lIns="0" tIns="0" rIns="0" bIns="0" rtlCol="0" anchor="ctr"/>
          <a:lstStyle/>
          <a:p>
            <a:pPr marL="0" indent="0" algn="ctr">
              <a:buNone/>
            </a:pPr>
            <a:r>
              <a:rPr lang="en-US" sz="1100" i="1" dirty="0">
                <a:solidFill>
                  <a:srgbClr val="7FA8BD"/>
                </a:solidFill>
                <a:latin typeface="Calibri" pitchFamily="34" charset="0"/>
                <a:ea typeface="Calibri" pitchFamily="34" charset="-122"/>
                <a:cs typeface="Calibri" pitchFamily="34" charset="-120"/>
              </a:rPr>
              <a:t>If Healthy → Stop   |   If Tumor → Classify → Segment</a:t>
            </a:r>
            <a:endParaRPr lang="en-US" sz="1100" dirty="0"/>
          </a:p>
        </p:txBody>
      </p:sp>
      <p:sp>
        <p:nvSpPr>
          <p:cNvPr id="23" name="Shape 21"/>
          <p:cNvSpPr/>
          <p:nvPr/>
        </p:nvSpPr>
        <p:spPr>
          <a:xfrm>
            <a:off x="320040" y="2578608"/>
            <a:ext cx="2011680" cy="1005840"/>
          </a:xfrm>
          <a:prstGeom prst="rect">
            <a:avLst/>
          </a:prstGeom>
          <a:solidFill>
            <a:srgbClr val="132840"/>
          </a:solidFill>
          <a:ln w="12700">
            <a:solidFill>
              <a:srgbClr val="1E4060"/>
            </a:solidFill>
            <a:prstDash val="solid"/>
          </a:ln>
        </p:spPr>
      </p:sp>
      <p:sp>
        <p:nvSpPr>
          <p:cNvPr id="24" name="Shape 22"/>
          <p:cNvSpPr/>
          <p:nvPr/>
        </p:nvSpPr>
        <p:spPr>
          <a:xfrm>
            <a:off x="320040" y="2578608"/>
            <a:ext cx="2011680" cy="64008"/>
          </a:xfrm>
          <a:prstGeom prst="rect">
            <a:avLst/>
          </a:prstGeom>
          <a:solidFill>
            <a:srgbClr val="00C2CB"/>
          </a:solidFill>
          <a:ln w="12700">
            <a:solidFill>
              <a:srgbClr val="00C2CB"/>
            </a:solidFill>
            <a:prstDash val="solid"/>
          </a:ln>
        </p:spPr>
      </p:sp>
      <p:sp>
        <p:nvSpPr>
          <p:cNvPr id="25" name="Text 23"/>
          <p:cNvSpPr/>
          <p:nvPr/>
        </p:nvSpPr>
        <p:spPr>
          <a:xfrm>
            <a:off x="411480" y="2715768"/>
            <a:ext cx="1828800" cy="274320"/>
          </a:xfrm>
          <a:prstGeom prst="rect">
            <a:avLst/>
          </a:prstGeom>
          <a:noFill/>
          <a:ln/>
        </p:spPr>
        <p:txBody>
          <a:bodyPr wrap="square" lIns="0" tIns="0" rIns="0" bIns="0" rtlCol="0" anchor="ctr"/>
          <a:lstStyle/>
          <a:p>
            <a:pPr marL="0" indent="0">
              <a:buNone/>
            </a:pPr>
            <a:r>
              <a:rPr lang="en-US" sz="1150" b="1" dirty="0">
                <a:solidFill>
                  <a:srgbClr val="00C2CB"/>
                </a:solidFill>
                <a:latin typeface="Calibri" pitchFamily="34" charset="0"/>
                <a:ea typeface="Calibri" pitchFamily="34" charset="-122"/>
                <a:cs typeface="Calibri" pitchFamily="34" charset="-120"/>
              </a:rPr>
              <a:t>Binary Detection</a:t>
            </a:r>
            <a:endParaRPr lang="en-US" sz="1150" dirty="0"/>
          </a:p>
        </p:txBody>
      </p:sp>
      <p:sp>
        <p:nvSpPr>
          <p:cNvPr id="26" name="Text 24"/>
          <p:cNvSpPr/>
          <p:nvPr/>
        </p:nvSpPr>
        <p:spPr>
          <a:xfrm>
            <a:off x="411480" y="3017520"/>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CNN — Grayscale 128×128</a:t>
            </a:r>
            <a:endParaRPr lang="en-US" sz="1000" dirty="0"/>
          </a:p>
        </p:txBody>
      </p:sp>
      <p:sp>
        <p:nvSpPr>
          <p:cNvPr id="27" name="Shape 25"/>
          <p:cNvSpPr/>
          <p:nvPr/>
        </p:nvSpPr>
        <p:spPr>
          <a:xfrm>
            <a:off x="2496312" y="2578608"/>
            <a:ext cx="2011680" cy="1005840"/>
          </a:xfrm>
          <a:prstGeom prst="rect">
            <a:avLst/>
          </a:prstGeom>
          <a:solidFill>
            <a:srgbClr val="132840"/>
          </a:solidFill>
          <a:ln w="12700">
            <a:solidFill>
              <a:srgbClr val="1E4060"/>
            </a:solidFill>
            <a:prstDash val="solid"/>
          </a:ln>
        </p:spPr>
      </p:sp>
      <p:sp>
        <p:nvSpPr>
          <p:cNvPr id="28" name="Shape 26"/>
          <p:cNvSpPr/>
          <p:nvPr/>
        </p:nvSpPr>
        <p:spPr>
          <a:xfrm>
            <a:off x="2496312" y="2578608"/>
            <a:ext cx="2011680" cy="64008"/>
          </a:xfrm>
          <a:prstGeom prst="rect">
            <a:avLst/>
          </a:prstGeom>
          <a:solidFill>
            <a:srgbClr val="38BDF8"/>
          </a:solidFill>
          <a:ln w="12700">
            <a:solidFill>
              <a:srgbClr val="38BDF8"/>
            </a:solidFill>
            <a:prstDash val="solid"/>
          </a:ln>
        </p:spPr>
      </p:sp>
      <p:sp>
        <p:nvSpPr>
          <p:cNvPr id="29" name="Text 27"/>
          <p:cNvSpPr/>
          <p:nvPr/>
        </p:nvSpPr>
        <p:spPr>
          <a:xfrm>
            <a:off x="2587752" y="2715768"/>
            <a:ext cx="1828800" cy="27432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Type Classification</a:t>
            </a:r>
            <a:endParaRPr lang="en-US" sz="1150" dirty="0"/>
          </a:p>
        </p:txBody>
      </p:sp>
      <p:sp>
        <p:nvSpPr>
          <p:cNvPr id="30" name="Text 28"/>
          <p:cNvSpPr/>
          <p:nvPr/>
        </p:nvSpPr>
        <p:spPr>
          <a:xfrm>
            <a:off x="2587752" y="3017520"/>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MobileNetV2 — RGB 224×224</a:t>
            </a:r>
            <a:endParaRPr lang="en-US" sz="1000" dirty="0"/>
          </a:p>
        </p:txBody>
      </p:sp>
      <p:sp>
        <p:nvSpPr>
          <p:cNvPr id="31" name="Shape 29"/>
          <p:cNvSpPr/>
          <p:nvPr/>
        </p:nvSpPr>
        <p:spPr>
          <a:xfrm>
            <a:off x="4672584" y="2578608"/>
            <a:ext cx="2011680" cy="1005840"/>
          </a:xfrm>
          <a:prstGeom prst="rect">
            <a:avLst/>
          </a:prstGeom>
          <a:solidFill>
            <a:srgbClr val="132840"/>
          </a:solidFill>
          <a:ln w="12700">
            <a:solidFill>
              <a:srgbClr val="1E4060"/>
            </a:solidFill>
            <a:prstDash val="solid"/>
          </a:ln>
        </p:spPr>
      </p:sp>
      <p:sp>
        <p:nvSpPr>
          <p:cNvPr id="32" name="Shape 30"/>
          <p:cNvSpPr/>
          <p:nvPr/>
        </p:nvSpPr>
        <p:spPr>
          <a:xfrm>
            <a:off x="4672584" y="2578608"/>
            <a:ext cx="2011680" cy="64008"/>
          </a:xfrm>
          <a:prstGeom prst="rect">
            <a:avLst/>
          </a:prstGeom>
          <a:solidFill>
            <a:srgbClr val="22D3A0"/>
          </a:solidFill>
          <a:ln w="12700">
            <a:solidFill>
              <a:srgbClr val="22D3A0"/>
            </a:solidFill>
            <a:prstDash val="solid"/>
          </a:ln>
        </p:spPr>
      </p:sp>
      <p:sp>
        <p:nvSpPr>
          <p:cNvPr id="33" name="Text 31"/>
          <p:cNvSpPr/>
          <p:nvPr/>
        </p:nvSpPr>
        <p:spPr>
          <a:xfrm>
            <a:off x="4764024" y="2715768"/>
            <a:ext cx="1828800" cy="274320"/>
          </a:xfrm>
          <a:prstGeom prst="rect">
            <a:avLst/>
          </a:prstGeom>
          <a:noFill/>
          <a:ln/>
        </p:spPr>
        <p:txBody>
          <a:bodyPr wrap="square" lIns="0" tIns="0" rIns="0" bIns="0" rtlCol="0" anchor="ctr"/>
          <a:lstStyle/>
          <a:p>
            <a:pPr marL="0" indent="0">
              <a:buNone/>
            </a:pPr>
            <a:r>
              <a:rPr lang="en-US" sz="1150" b="1" dirty="0">
                <a:solidFill>
                  <a:srgbClr val="22D3A0"/>
                </a:solidFill>
                <a:latin typeface="Calibri" pitchFamily="34" charset="0"/>
                <a:ea typeface="Calibri" pitchFamily="34" charset="-122"/>
                <a:cs typeface="Calibri" pitchFamily="34" charset="-120"/>
              </a:rPr>
              <a:t>Tumor Segmentation</a:t>
            </a:r>
            <a:endParaRPr lang="en-US" sz="1150" dirty="0"/>
          </a:p>
        </p:txBody>
      </p:sp>
      <p:sp>
        <p:nvSpPr>
          <p:cNvPr id="34" name="Text 32"/>
          <p:cNvSpPr/>
          <p:nvPr/>
        </p:nvSpPr>
        <p:spPr>
          <a:xfrm>
            <a:off x="4764024" y="3017520"/>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U-Net — Pixel-wise mask</a:t>
            </a:r>
            <a:endParaRPr lang="en-US" sz="1000" dirty="0"/>
          </a:p>
        </p:txBody>
      </p:sp>
      <p:sp>
        <p:nvSpPr>
          <p:cNvPr id="35" name="Shape 33"/>
          <p:cNvSpPr/>
          <p:nvPr/>
        </p:nvSpPr>
        <p:spPr>
          <a:xfrm>
            <a:off x="6848856" y="2578608"/>
            <a:ext cx="2011680" cy="1005840"/>
          </a:xfrm>
          <a:prstGeom prst="rect">
            <a:avLst/>
          </a:prstGeom>
          <a:solidFill>
            <a:srgbClr val="132840"/>
          </a:solidFill>
          <a:ln w="12700">
            <a:solidFill>
              <a:srgbClr val="1E4060"/>
            </a:solidFill>
            <a:prstDash val="solid"/>
          </a:ln>
        </p:spPr>
      </p:sp>
      <p:sp>
        <p:nvSpPr>
          <p:cNvPr id="36" name="Shape 34"/>
          <p:cNvSpPr/>
          <p:nvPr/>
        </p:nvSpPr>
        <p:spPr>
          <a:xfrm>
            <a:off x="6848856" y="2578608"/>
            <a:ext cx="2011680" cy="64008"/>
          </a:xfrm>
          <a:prstGeom prst="rect">
            <a:avLst/>
          </a:prstGeom>
          <a:solidFill>
            <a:srgbClr val="FBBF24"/>
          </a:solidFill>
          <a:ln w="12700">
            <a:solidFill>
              <a:srgbClr val="FBBF24"/>
            </a:solidFill>
            <a:prstDash val="solid"/>
          </a:ln>
        </p:spPr>
      </p:sp>
      <p:sp>
        <p:nvSpPr>
          <p:cNvPr id="37" name="Text 35"/>
          <p:cNvSpPr/>
          <p:nvPr/>
        </p:nvSpPr>
        <p:spPr>
          <a:xfrm>
            <a:off x="6940296" y="2715768"/>
            <a:ext cx="1828800" cy="274320"/>
          </a:xfrm>
          <a:prstGeom prst="rect">
            <a:avLst/>
          </a:prstGeom>
          <a:noFill/>
          <a:ln/>
        </p:spPr>
        <p:txBody>
          <a:bodyPr wrap="square" lIns="0" tIns="0" rIns="0" bIns="0" rtlCol="0" anchor="ctr"/>
          <a:lstStyle/>
          <a:p>
            <a:pPr marL="0" indent="0">
              <a:buNone/>
            </a:pPr>
            <a:r>
              <a:rPr lang="en-US" sz="1150" b="1" dirty="0">
                <a:solidFill>
                  <a:srgbClr val="FBBF24"/>
                </a:solidFill>
                <a:latin typeface="Calibri" pitchFamily="34" charset="0"/>
                <a:ea typeface="Calibri" pitchFamily="34" charset="-122"/>
                <a:cs typeface="Calibri" pitchFamily="34" charset="-120"/>
              </a:rPr>
              <a:t>PDF Report Gen.</a:t>
            </a:r>
            <a:endParaRPr lang="en-US" sz="1150" dirty="0"/>
          </a:p>
        </p:txBody>
      </p:sp>
      <p:sp>
        <p:nvSpPr>
          <p:cNvPr id="38" name="Text 36"/>
          <p:cNvSpPr/>
          <p:nvPr/>
        </p:nvSpPr>
        <p:spPr>
          <a:xfrm>
            <a:off x="6940296" y="3017520"/>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ReportLab — Auto clinical report</a:t>
            </a:r>
            <a:endParaRPr lang="en-US" sz="1000" dirty="0"/>
          </a:p>
        </p:txBody>
      </p:sp>
      <p:sp>
        <p:nvSpPr>
          <p:cNvPr id="39" name="Shape 37"/>
          <p:cNvSpPr/>
          <p:nvPr/>
        </p:nvSpPr>
        <p:spPr>
          <a:xfrm>
            <a:off x="320040" y="3749040"/>
            <a:ext cx="2011680" cy="1005840"/>
          </a:xfrm>
          <a:prstGeom prst="rect">
            <a:avLst/>
          </a:prstGeom>
          <a:solidFill>
            <a:srgbClr val="132840"/>
          </a:solidFill>
          <a:ln w="12700">
            <a:solidFill>
              <a:srgbClr val="1E4060"/>
            </a:solidFill>
            <a:prstDash val="solid"/>
          </a:ln>
        </p:spPr>
      </p:sp>
      <p:sp>
        <p:nvSpPr>
          <p:cNvPr id="40" name="Shape 38"/>
          <p:cNvSpPr/>
          <p:nvPr/>
        </p:nvSpPr>
        <p:spPr>
          <a:xfrm>
            <a:off x="320040" y="3749040"/>
            <a:ext cx="2011680" cy="64008"/>
          </a:xfrm>
          <a:prstGeom prst="rect">
            <a:avLst/>
          </a:prstGeom>
          <a:solidFill>
            <a:srgbClr val="00C2CB"/>
          </a:solidFill>
          <a:ln w="12700">
            <a:solidFill>
              <a:srgbClr val="00C2CB"/>
            </a:solidFill>
            <a:prstDash val="solid"/>
          </a:ln>
        </p:spPr>
      </p:sp>
      <p:sp>
        <p:nvSpPr>
          <p:cNvPr id="41" name="Text 39"/>
          <p:cNvSpPr/>
          <p:nvPr/>
        </p:nvSpPr>
        <p:spPr>
          <a:xfrm>
            <a:off x="411480" y="3886200"/>
            <a:ext cx="1828800" cy="274320"/>
          </a:xfrm>
          <a:prstGeom prst="rect">
            <a:avLst/>
          </a:prstGeom>
          <a:noFill/>
          <a:ln/>
        </p:spPr>
        <p:txBody>
          <a:bodyPr wrap="square" lIns="0" tIns="0" rIns="0" bIns="0" rtlCol="0" anchor="ctr"/>
          <a:lstStyle/>
          <a:p>
            <a:pPr marL="0" indent="0">
              <a:buNone/>
            </a:pPr>
            <a:r>
              <a:rPr lang="en-US" sz="1150" b="1" dirty="0">
                <a:solidFill>
                  <a:srgbClr val="00C2CB"/>
                </a:solidFill>
                <a:latin typeface="Calibri" pitchFamily="34" charset="0"/>
                <a:ea typeface="Calibri" pitchFamily="34" charset="-122"/>
                <a:cs typeface="Calibri" pitchFamily="34" charset="-120"/>
              </a:rPr>
              <a:t>Batch Processing</a:t>
            </a:r>
            <a:endParaRPr lang="en-US" sz="1150" dirty="0"/>
          </a:p>
        </p:txBody>
      </p:sp>
      <p:sp>
        <p:nvSpPr>
          <p:cNvPr id="42" name="Text 40"/>
          <p:cNvSpPr/>
          <p:nvPr/>
        </p:nvSpPr>
        <p:spPr>
          <a:xfrm>
            <a:off x="411480" y="4187952"/>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Multiple MRIs in one session</a:t>
            </a:r>
            <a:endParaRPr lang="en-US" sz="1000" dirty="0"/>
          </a:p>
        </p:txBody>
      </p:sp>
      <p:sp>
        <p:nvSpPr>
          <p:cNvPr id="43" name="Shape 41"/>
          <p:cNvSpPr/>
          <p:nvPr/>
        </p:nvSpPr>
        <p:spPr>
          <a:xfrm>
            <a:off x="2496312" y="3749040"/>
            <a:ext cx="2011680" cy="1005840"/>
          </a:xfrm>
          <a:prstGeom prst="rect">
            <a:avLst/>
          </a:prstGeom>
          <a:solidFill>
            <a:srgbClr val="132840"/>
          </a:solidFill>
          <a:ln w="12700">
            <a:solidFill>
              <a:srgbClr val="1E4060"/>
            </a:solidFill>
            <a:prstDash val="solid"/>
          </a:ln>
        </p:spPr>
      </p:sp>
      <p:sp>
        <p:nvSpPr>
          <p:cNvPr id="44" name="Shape 42"/>
          <p:cNvSpPr/>
          <p:nvPr/>
        </p:nvSpPr>
        <p:spPr>
          <a:xfrm>
            <a:off x="2496312" y="3749040"/>
            <a:ext cx="2011680" cy="64008"/>
          </a:xfrm>
          <a:prstGeom prst="rect">
            <a:avLst/>
          </a:prstGeom>
          <a:solidFill>
            <a:srgbClr val="38BDF8"/>
          </a:solidFill>
          <a:ln w="12700">
            <a:solidFill>
              <a:srgbClr val="38BDF8"/>
            </a:solidFill>
            <a:prstDash val="solid"/>
          </a:ln>
        </p:spPr>
      </p:sp>
      <p:sp>
        <p:nvSpPr>
          <p:cNvPr id="45" name="Text 43"/>
          <p:cNvSpPr/>
          <p:nvPr/>
        </p:nvSpPr>
        <p:spPr>
          <a:xfrm>
            <a:off x="2587752" y="3886200"/>
            <a:ext cx="1828800" cy="27432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QR Code Sharing</a:t>
            </a:r>
            <a:endParaRPr lang="en-US" sz="1150" dirty="0"/>
          </a:p>
        </p:txBody>
      </p:sp>
      <p:sp>
        <p:nvSpPr>
          <p:cNvPr id="46" name="Text 44"/>
          <p:cNvSpPr/>
          <p:nvPr/>
        </p:nvSpPr>
        <p:spPr>
          <a:xfrm>
            <a:off x="2587752" y="4187952"/>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Scan to access system on mobile</a:t>
            </a:r>
            <a:endParaRPr lang="en-US" sz="1000" dirty="0"/>
          </a:p>
        </p:txBody>
      </p:sp>
      <p:sp>
        <p:nvSpPr>
          <p:cNvPr id="47" name="Shape 45"/>
          <p:cNvSpPr/>
          <p:nvPr/>
        </p:nvSpPr>
        <p:spPr>
          <a:xfrm>
            <a:off x="4672584" y="3749040"/>
            <a:ext cx="2011680" cy="1005840"/>
          </a:xfrm>
          <a:prstGeom prst="rect">
            <a:avLst/>
          </a:prstGeom>
          <a:solidFill>
            <a:srgbClr val="132840"/>
          </a:solidFill>
          <a:ln w="12700">
            <a:solidFill>
              <a:srgbClr val="1E4060"/>
            </a:solidFill>
            <a:prstDash val="solid"/>
          </a:ln>
        </p:spPr>
      </p:sp>
      <p:sp>
        <p:nvSpPr>
          <p:cNvPr id="48" name="Shape 46"/>
          <p:cNvSpPr/>
          <p:nvPr/>
        </p:nvSpPr>
        <p:spPr>
          <a:xfrm>
            <a:off x="4672584" y="3749040"/>
            <a:ext cx="2011680" cy="64008"/>
          </a:xfrm>
          <a:prstGeom prst="rect">
            <a:avLst/>
          </a:prstGeom>
          <a:solidFill>
            <a:srgbClr val="22D3A0"/>
          </a:solidFill>
          <a:ln w="12700">
            <a:solidFill>
              <a:srgbClr val="22D3A0"/>
            </a:solidFill>
            <a:prstDash val="solid"/>
          </a:ln>
        </p:spPr>
      </p:sp>
      <p:sp>
        <p:nvSpPr>
          <p:cNvPr id="49" name="Text 47"/>
          <p:cNvSpPr/>
          <p:nvPr/>
        </p:nvSpPr>
        <p:spPr>
          <a:xfrm>
            <a:off x="4764024" y="3886200"/>
            <a:ext cx="1828800" cy="274320"/>
          </a:xfrm>
          <a:prstGeom prst="rect">
            <a:avLst/>
          </a:prstGeom>
          <a:noFill/>
          <a:ln/>
        </p:spPr>
        <p:txBody>
          <a:bodyPr wrap="square" lIns="0" tIns="0" rIns="0" bIns="0" rtlCol="0" anchor="ctr"/>
          <a:lstStyle/>
          <a:p>
            <a:pPr marL="0" indent="0">
              <a:buNone/>
            </a:pPr>
            <a:r>
              <a:rPr lang="en-US" sz="1150" b="1" dirty="0">
                <a:solidFill>
                  <a:srgbClr val="22D3A0"/>
                </a:solidFill>
                <a:latin typeface="Calibri" pitchFamily="34" charset="0"/>
                <a:ea typeface="Calibri" pitchFamily="34" charset="-122"/>
                <a:cs typeface="Calibri" pitchFamily="34" charset="-120"/>
              </a:rPr>
              <a:t>History Tracking</a:t>
            </a:r>
            <a:endParaRPr lang="en-US" sz="1150" dirty="0"/>
          </a:p>
        </p:txBody>
      </p:sp>
      <p:sp>
        <p:nvSpPr>
          <p:cNvPr id="50" name="Text 48"/>
          <p:cNvSpPr/>
          <p:nvPr/>
        </p:nvSpPr>
        <p:spPr>
          <a:xfrm>
            <a:off x="4764024" y="4187952"/>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localStorage-based analysis log</a:t>
            </a:r>
            <a:endParaRPr lang="en-US" sz="1000" dirty="0"/>
          </a:p>
        </p:txBody>
      </p:sp>
      <p:sp>
        <p:nvSpPr>
          <p:cNvPr id="51" name="Shape 49"/>
          <p:cNvSpPr/>
          <p:nvPr/>
        </p:nvSpPr>
        <p:spPr>
          <a:xfrm>
            <a:off x="6848856" y="3749040"/>
            <a:ext cx="2011680" cy="1005840"/>
          </a:xfrm>
          <a:prstGeom prst="rect">
            <a:avLst/>
          </a:prstGeom>
          <a:solidFill>
            <a:srgbClr val="132840"/>
          </a:solidFill>
          <a:ln w="12700">
            <a:solidFill>
              <a:srgbClr val="1E4060"/>
            </a:solidFill>
            <a:prstDash val="solid"/>
          </a:ln>
        </p:spPr>
      </p:sp>
      <p:sp>
        <p:nvSpPr>
          <p:cNvPr id="52" name="Shape 50"/>
          <p:cNvSpPr/>
          <p:nvPr/>
        </p:nvSpPr>
        <p:spPr>
          <a:xfrm>
            <a:off x="6848856" y="3749040"/>
            <a:ext cx="2011680" cy="64008"/>
          </a:xfrm>
          <a:prstGeom prst="rect">
            <a:avLst/>
          </a:prstGeom>
          <a:solidFill>
            <a:srgbClr val="FBBF24"/>
          </a:solidFill>
          <a:ln w="12700">
            <a:solidFill>
              <a:srgbClr val="FBBF24"/>
            </a:solidFill>
            <a:prstDash val="solid"/>
          </a:ln>
        </p:spPr>
      </p:sp>
      <p:sp>
        <p:nvSpPr>
          <p:cNvPr id="53" name="Text 51"/>
          <p:cNvSpPr/>
          <p:nvPr/>
        </p:nvSpPr>
        <p:spPr>
          <a:xfrm>
            <a:off x="6940296" y="3886200"/>
            <a:ext cx="1828800" cy="274320"/>
          </a:xfrm>
          <a:prstGeom prst="rect">
            <a:avLst/>
          </a:prstGeom>
          <a:noFill/>
          <a:ln/>
        </p:spPr>
        <p:txBody>
          <a:bodyPr wrap="square" lIns="0" tIns="0" rIns="0" bIns="0" rtlCol="0" anchor="ctr"/>
          <a:lstStyle/>
          <a:p>
            <a:pPr marL="0" indent="0">
              <a:buNone/>
            </a:pPr>
            <a:r>
              <a:rPr lang="en-US" sz="1150" b="1" dirty="0">
                <a:solidFill>
                  <a:srgbClr val="FBBF24"/>
                </a:solidFill>
                <a:latin typeface="Calibri" pitchFamily="34" charset="0"/>
                <a:ea typeface="Calibri" pitchFamily="34" charset="-122"/>
                <a:cs typeface="Calibri" pitchFamily="34" charset="-120"/>
              </a:rPr>
              <a:t>Area Estimation</a:t>
            </a:r>
            <a:endParaRPr lang="en-US" sz="1150" dirty="0"/>
          </a:p>
        </p:txBody>
      </p:sp>
      <p:sp>
        <p:nvSpPr>
          <p:cNvPr id="54" name="Text 52"/>
          <p:cNvSpPr/>
          <p:nvPr/>
        </p:nvSpPr>
        <p:spPr>
          <a:xfrm>
            <a:off x="6940296" y="4187952"/>
            <a:ext cx="1828800" cy="457200"/>
          </a:xfrm>
          <a:prstGeom prst="rect">
            <a:avLst/>
          </a:prstGeom>
          <a:noFill/>
          <a:ln/>
        </p:spPr>
        <p:txBody>
          <a:bodyPr wrap="square" lIns="0" tIns="0" rIns="0" bIns="0" rtlCol="0" anchor="ctr"/>
          <a:lstStyle/>
          <a:p>
            <a:pPr marL="0" indent="0">
              <a:buNone/>
            </a:pPr>
            <a:r>
              <a:rPr lang="en-US" sz="1000" dirty="0">
                <a:solidFill>
                  <a:srgbClr val="E2F4F7"/>
                </a:solidFill>
                <a:latin typeface="Calibri" pitchFamily="34" charset="0"/>
                <a:ea typeface="Calibri" pitchFamily="34" charset="-122"/>
                <a:cs typeface="Calibri" pitchFamily="34" charset="-120"/>
              </a:rPr>
              <a:t>Tumor % of total scan area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React Frontend  ·  FastAPI Backend  ·  TensorFlow Model Layer</a:t>
            </a:r>
            <a:endParaRPr lang="en-US" sz="1100" dirty="0"/>
          </a:p>
        </p:txBody>
      </p:sp>
      <p:sp>
        <p:nvSpPr>
          <p:cNvPr id="5" name="Shape 3"/>
          <p:cNvSpPr/>
          <p:nvPr/>
        </p:nvSpPr>
        <p:spPr>
          <a:xfrm>
            <a:off x="320040" y="987552"/>
            <a:ext cx="8503920" cy="1234440"/>
          </a:xfrm>
          <a:prstGeom prst="rect">
            <a:avLst/>
          </a:prstGeom>
          <a:solidFill>
            <a:srgbClr val="132840"/>
          </a:solidFill>
          <a:ln w="12700">
            <a:solidFill>
              <a:srgbClr val="1E4060"/>
            </a:solidFill>
            <a:prstDash val="solid"/>
          </a:ln>
        </p:spPr>
      </p:sp>
      <p:sp>
        <p:nvSpPr>
          <p:cNvPr id="6" name="Shape 4"/>
          <p:cNvSpPr/>
          <p:nvPr/>
        </p:nvSpPr>
        <p:spPr>
          <a:xfrm>
            <a:off x="320040" y="987552"/>
            <a:ext cx="8503920" cy="54864"/>
          </a:xfrm>
          <a:prstGeom prst="rect">
            <a:avLst/>
          </a:prstGeom>
          <a:solidFill>
            <a:srgbClr val="38BDF8"/>
          </a:solidFill>
          <a:ln w="12700">
            <a:solidFill>
              <a:srgbClr val="38BDF8"/>
            </a:solidFill>
            <a:prstDash val="solid"/>
          </a:ln>
        </p:spPr>
      </p:sp>
      <p:sp>
        <p:nvSpPr>
          <p:cNvPr id="7" name="Text 5"/>
          <p:cNvSpPr/>
          <p:nvPr/>
        </p:nvSpPr>
        <p:spPr>
          <a:xfrm>
            <a:off x="457200" y="1097280"/>
            <a:ext cx="2560320" cy="27432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FRONTEND LAYER</a:t>
            </a:r>
            <a:endParaRPr lang="en-US" sz="1300" dirty="0"/>
          </a:p>
        </p:txBody>
      </p:sp>
      <p:sp>
        <p:nvSpPr>
          <p:cNvPr id="8" name="Text 6"/>
          <p:cNvSpPr/>
          <p:nvPr/>
        </p:nvSpPr>
        <p:spPr>
          <a:xfrm>
            <a:off x="457200" y="1389888"/>
            <a:ext cx="3657600" cy="228600"/>
          </a:xfrm>
          <a:prstGeom prst="rect">
            <a:avLst/>
          </a:prstGeom>
          <a:noFill/>
          <a:ln/>
        </p:spPr>
        <p:txBody>
          <a:bodyPr wrap="square" lIns="0" tIns="0" rIns="0" bIns="0" rtlCol="0" anchor="ctr"/>
          <a:lstStyle/>
          <a:p>
            <a:pPr marL="0" indent="0">
              <a:buNone/>
            </a:pPr>
            <a:r>
              <a:rPr lang="en-US" sz="1050" i="1" dirty="0">
                <a:solidFill>
                  <a:srgbClr val="7FA8BD"/>
                </a:solidFill>
                <a:latin typeface="Calibri" pitchFamily="34" charset="0"/>
                <a:ea typeface="Calibri" pitchFamily="34" charset="-122"/>
                <a:cs typeface="Calibri" pitchFamily="34" charset="-120"/>
              </a:rPr>
              <a:t>React.js + Vite + Tailwind CSS + Framer Motion</a:t>
            </a:r>
            <a:endParaRPr lang="en-US" sz="1050" dirty="0"/>
          </a:p>
        </p:txBody>
      </p:sp>
      <p:sp>
        <p:nvSpPr>
          <p:cNvPr id="9" name="Text 7"/>
          <p:cNvSpPr/>
          <p:nvPr/>
        </p:nvSpPr>
        <p:spPr>
          <a:xfrm>
            <a:off x="4297680" y="1097280"/>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DropZone  •  ResultPanel</a:t>
            </a:r>
            <a:endParaRPr lang="en-US" sz="1100" dirty="0"/>
          </a:p>
        </p:txBody>
      </p:sp>
      <p:sp>
        <p:nvSpPr>
          <p:cNvPr id="10" name="Text 8"/>
          <p:cNvSpPr/>
          <p:nvPr/>
        </p:nvSpPr>
        <p:spPr>
          <a:xfrm>
            <a:off x="4297680" y="1435608"/>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Dashboard  •  History Page</a:t>
            </a:r>
            <a:endParaRPr lang="en-US" sz="1100" dirty="0"/>
          </a:p>
        </p:txBody>
      </p:sp>
      <p:sp>
        <p:nvSpPr>
          <p:cNvPr id="11" name="Text 9"/>
          <p:cNvSpPr/>
          <p:nvPr/>
        </p:nvSpPr>
        <p:spPr>
          <a:xfrm>
            <a:off x="4297680" y="1773936"/>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Batch Analysis UI  •  QR Share</a:t>
            </a:r>
            <a:endParaRPr lang="en-US" sz="1100" dirty="0"/>
          </a:p>
        </p:txBody>
      </p:sp>
      <p:sp>
        <p:nvSpPr>
          <p:cNvPr id="12" name="Text 10"/>
          <p:cNvSpPr/>
          <p:nvPr/>
        </p:nvSpPr>
        <p:spPr>
          <a:xfrm>
            <a:off x="4114800" y="2198311"/>
            <a:ext cx="1371600" cy="201168"/>
          </a:xfrm>
          <a:prstGeom prst="rect">
            <a:avLst/>
          </a:prstGeom>
          <a:noFill/>
          <a:ln/>
        </p:spPr>
        <p:txBody>
          <a:bodyPr wrap="square" lIns="0" tIns="0" rIns="0" bIns="0" rtlCol="0" anchor="ctr"/>
          <a:lstStyle/>
          <a:p>
            <a:pPr marL="0" indent="0" algn="ctr">
              <a:buNone/>
            </a:pPr>
            <a:r>
              <a:rPr lang="en-US" sz="900" i="1" dirty="0">
                <a:solidFill>
                  <a:srgbClr val="7FA8BD"/>
                </a:solidFill>
                <a:latin typeface="Calibri" pitchFamily="34" charset="0"/>
                <a:ea typeface="Calibri" pitchFamily="34" charset="-122"/>
                <a:cs typeface="Calibri" pitchFamily="34" charset="-120"/>
              </a:rPr>
              <a:t>↕ HTTP/JSON</a:t>
            </a:r>
            <a:endParaRPr lang="en-US" sz="900" dirty="0"/>
          </a:p>
        </p:txBody>
      </p:sp>
      <p:sp>
        <p:nvSpPr>
          <p:cNvPr id="13" name="Shape 11"/>
          <p:cNvSpPr/>
          <p:nvPr/>
        </p:nvSpPr>
        <p:spPr>
          <a:xfrm>
            <a:off x="320040" y="2377440"/>
            <a:ext cx="8503920" cy="1234440"/>
          </a:xfrm>
          <a:prstGeom prst="rect">
            <a:avLst/>
          </a:prstGeom>
          <a:solidFill>
            <a:srgbClr val="132840"/>
          </a:solidFill>
          <a:ln w="12700">
            <a:solidFill>
              <a:srgbClr val="1E4060"/>
            </a:solidFill>
            <a:prstDash val="solid"/>
          </a:ln>
        </p:spPr>
      </p:sp>
      <p:sp>
        <p:nvSpPr>
          <p:cNvPr id="14" name="Shape 12"/>
          <p:cNvSpPr/>
          <p:nvPr/>
        </p:nvSpPr>
        <p:spPr>
          <a:xfrm>
            <a:off x="320040" y="2377440"/>
            <a:ext cx="8503920" cy="54864"/>
          </a:xfrm>
          <a:prstGeom prst="rect">
            <a:avLst/>
          </a:prstGeom>
          <a:solidFill>
            <a:srgbClr val="00C2CB"/>
          </a:solidFill>
          <a:ln w="12700">
            <a:solidFill>
              <a:srgbClr val="00C2CB"/>
            </a:solidFill>
            <a:prstDash val="solid"/>
          </a:ln>
        </p:spPr>
      </p:sp>
      <p:sp>
        <p:nvSpPr>
          <p:cNvPr id="15" name="Text 13"/>
          <p:cNvSpPr/>
          <p:nvPr/>
        </p:nvSpPr>
        <p:spPr>
          <a:xfrm>
            <a:off x="457200" y="2487168"/>
            <a:ext cx="2560320" cy="274320"/>
          </a:xfrm>
          <a:prstGeom prst="rect">
            <a:avLst/>
          </a:prstGeom>
          <a:noFill/>
          <a:ln/>
        </p:spPr>
        <p:txBody>
          <a:bodyPr wrap="square" lIns="0" tIns="0" rIns="0" bIns="0"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API LAYER</a:t>
            </a:r>
            <a:endParaRPr lang="en-US" sz="1300" dirty="0"/>
          </a:p>
        </p:txBody>
      </p:sp>
      <p:sp>
        <p:nvSpPr>
          <p:cNvPr id="16" name="Text 14"/>
          <p:cNvSpPr/>
          <p:nvPr/>
        </p:nvSpPr>
        <p:spPr>
          <a:xfrm>
            <a:off x="457200" y="2779776"/>
            <a:ext cx="3657600" cy="228600"/>
          </a:xfrm>
          <a:prstGeom prst="rect">
            <a:avLst/>
          </a:prstGeom>
          <a:noFill/>
          <a:ln/>
        </p:spPr>
        <p:txBody>
          <a:bodyPr wrap="square" lIns="0" tIns="0" rIns="0" bIns="0" rtlCol="0" anchor="ctr"/>
          <a:lstStyle/>
          <a:p>
            <a:pPr marL="0" indent="0">
              <a:buNone/>
            </a:pPr>
            <a:r>
              <a:rPr lang="en-US" sz="1050" i="1" dirty="0">
                <a:solidFill>
                  <a:srgbClr val="7FA8BD"/>
                </a:solidFill>
                <a:latin typeface="Calibri" pitchFamily="34" charset="0"/>
                <a:ea typeface="Calibri" pitchFamily="34" charset="-122"/>
                <a:cs typeface="Calibri" pitchFamily="34" charset="-120"/>
              </a:rPr>
              <a:t>FastAPI + Uvicorn  (Python Backend)</a:t>
            </a:r>
            <a:endParaRPr lang="en-US" sz="1050" dirty="0"/>
          </a:p>
        </p:txBody>
      </p:sp>
      <p:sp>
        <p:nvSpPr>
          <p:cNvPr id="17" name="Text 15"/>
          <p:cNvSpPr/>
          <p:nvPr/>
        </p:nvSpPr>
        <p:spPr>
          <a:xfrm>
            <a:off x="4297680" y="2487168"/>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/predict/binary  •  /predict/type</a:t>
            </a:r>
            <a:endParaRPr lang="en-US" sz="1100" dirty="0"/>
          </a:p>
        </p:txBody>
      </p:sp>
      <p:sp>
        <p:nvSpPr>
          <p:cNvPr id="18" name="Text 16"/>
          <p:cNvSpPr/>
          <p:nvPr/>
        </p:nvSpPr>
        <p:spPr>
          <a:xfrm>
            <a:off x="4297680" y="2825496"/>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/predict/segmentation  •  /predict/full</a:t>
            </a:r>
            <a:endParaRPr lang="en-US" sz="1100" dirty="0"/>
          </a:p>
        </p:txBody>
      </p:sp>
      <p:sp>
        <p:nvSpPr>
          <p:cNvPr id="19" name="Text 17"/>
          <p:cNvSpPr/>
          <p:nvPr/>
        </p:nvSpPr>
        <p:spPr>
          <a:xfrm>
            <a:off x="4297680" y="3163824"/>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/generate-report  (ReportLab PDF)</a:t>
            </a:r>
            <a:endParaRPr lang="en-US" sz="1100" dirty="0"/>
          </a:p>
        </p:txBody>
      </p:sp>
      <p:sp>
        <p:nvSpPr>
          <p:cNvPr id="20" name="Text 18"/>
          <p:cNvSpPr/>
          <p:nvPr/>
        </p:nvSpPr>
        <p:spPr>
          <a:xfrm>
            <a:off x="4114800" y="3593592"/>
            <a:ext cx="1371600" cy="201168"/>
          </a:xfrm>
          <a:prstGeom prst="rect">
            <a:avLst/>
          </a:prstGeom>
          <a:noFill/>
          <a:ln/>
        </p:spPr>
        <p:txBody>
          <a:bodyPr wrap="square" lIns="0" tIns="0" rIns="0" bIns="0" rtlCol="0" anchor="ctr"/>
          <a:lstStyle/>
          <a:p>
            <a:pPr marL="0" indent="0" algn="ctr">
              <a:buNone/>
            </a:pPr>
            <a:r>
              <a:rPr lang="en-US" sz="900" i="1" dirty="0">
                <a:solidFill>
                  <a:srgbClr val="7FA8BD"/>
                </a:solidFill>
                <a:latin typeface="Calibri" pitchFamily="34" charset="0"/>
                <a:ea typeface="Calibri" pitchFamily="34" charset="-122"/>
                <a:cs typeface="Calibri" pitchFamily="34" charset="-120"/>
              </a:rPr>
              <a:t>↕ HTTP/JSON</a:t>
            </a:r>
            <a:endParaRPr lang="en-US" sz="900" dirty="0"/>
          </a:p>
        </p:txBody>
      </p:sp>
      <p:sp>
        <p:nvSpPr>
          <p:cNvPr id="21" name="Shape 19"/>
          <p:cNvSpPr/>
          <p:nvPr/>
        </p:nvSpPr>
        <p:spPr>
          <a:xfrm>
            <a:off x="320040" y="3767328"/>
            <a:ext cx="8503920" cy="1234440"/>
          </a:xfrm>
          <a:prstGeom prst="rect">
            <a:avLst/>
          </a:prstGeom>
          <a:solidFill>
            <a:srgbClr val="132840"/>
          </a:solidFill>
          <a:ln w="12700">
            <a:solidFill>
              <a:srgbClr val="1E4060"/>
            </a:solidFill>
            <a:prstDash val="solid"/>
          </a:ln>
        </p:spPr>
      </p:sp>
      <p:sp>
        <p:nvSpPr>
          <p:cNvPr id="22" name="Shape 20"/>
          <p:cNvSpPr/>
          <p:nvPr/>
        </p:nvSpPr>
        <p:spPr>
          <a:xfrm>
            <a:off x="320040" y="3767328"/>
            <a:ext cx="8503920" cy="54864"/>
          </a:xfrm>
          <a:prstGeom prst="rect">
            <a:avLst/>
          </a:prstGeom>
          <a:solidFill>
            <a:srgbClr val="22D3A0"/>
          </a:solidFill>
          <a:ln w="12700">
            <a:solidFill>
              <a:srgbClr val="22D3A0"/>
            </a:solidFill>
            <a:prstDash val="solid"/>
          </a:ln>
        </p:spPr>
      </p:sp>
      <p:sp>
        <p:nvSpPr>
          <p:cNvPr id="23" name="Text 21"/>
          <p:cNvSpPr/>
          <p:nvPr/>
        </p:nvSpPr>
        <p:spPr>
          <a:xfrm>
            <a:off x="457200" y="3877056"/>
            <a:ext cx="2560320" cy="274320"/>
          </a:xfrm>
          <a:prstGeom prst="rect">
            <a:avLst/>
          </a:prstGeom>
          <a:noFill/>
          <a:ln/>
        </p:spPr>
        <p:txBody>
          <a:bodyPr wrap="square" lIns="0" tIns="0" rIns="0" bIns="0" rtlCol="0" anchor="ctr"/>
          <a:lstStyle/>
          <a:p>
            <a:pPr marL="0" indent="0">
              <a:buNone/>
            </a:pPr>
            <a:r>
              <a:rPr lang="en-US" sz="1300" b="1" dirty="0">
                <a:solidFill>
                  <a:srgbClr val="22D3A0"/>
                </a:solidFill>
                <a:latin typeface="Calibri" pitchFamily="34" charset="0"/>
                <a:ea typeface="Calibri" pitchFamily="34" charset="-122"/>
                <a:cs typeface="Calibri" pitchFamily="34" charset="-120"/>
              </a:rPr>
              <a:t>MODEL LAYER</a:t>
            </a:r>
            <a:endParaRPr lang="en-US" sz="1300" dirty="0"/>
          </a:p>
        </p:txBody>
      </p:sp>
      <p:sp>
        <p:nvSpPr>
          <p:cNvPr id="24" name="Text 22"/>
          <p:cNvSpPr/>
          <p:nvPr/>
        </p:nvSpPr>
        <p:spPr>
          <a:xfrm>
            <a:off x="457200" y="4169664"/>
            <a:ext cx="3657600" cy="228600"/>
          </a:xfrm>
          <a:prstGeom prst="rect">
            <a:avLst/>
          </a:prstGeom>
          <a:noFill/>
          <a:ln/>
        </p:spPr>
        <p:txBody>
          <a:bodyPr wrap="square" lIns="0" tIns="0" rIns="0" bIns="0" rtlCol="0" anchor="ctr"/>
          <a:lstStyle/>
          <a:p>
            <a:pPr marL="0" indent="0">
              <a:buNone/>
            </a:pPr>
            <a:r>
              <a:rPr lang="en-US" sz="1050" i="1" dirty="0">
                <a:solidFill>
                  <a:srgbClr val="7FA8BD"/>
                </a:solidFill>
                <a:latin typeface="Calibri" pitchFamily="34" charset="0"/>
                <a:ea typeface="Calibri" pitchFamily="34" charset="-122"/>
                <a:cs typeface="Calibri" pitchFamily="34" charset="-120"/>
              </a:rPr>
              <a:t>TensorFlow / Keras  +  OpenCV  +  NumPy</a:t>
            </a:r>
            <a:endParaRPr lang="en-US" sz="1050" dirty="0"/>
          </a:p>
        </p:txBody>
      </p:sp>
      <p:sp>
        <p:nvSpPr>
          <p:cNvPr id="25" name="Text 23"/>
          <p:cNvSpPr/>
          <p:nvPr/>
        </p:nvSpPr>
        <p:spPr>
          <a:xfrm>
            <a:off x="4297680" y="3877056"/>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CNN Binary Classifier  (128×128 Grayscale)</a:t>
            </a:r>
            <a:endParaRPr lang="en-US" sz="1100" dirty="0"/>
          </a:p>
        </p:txBody>
      </p:sp>
      <p:sp>
        <p:nvSpPr>
          <p:cNvPr id="26" name="Text 24"/>
          <p:cNvSpPr/>
          <p:nvPr/>
        </p:nvSpPr>
        <p:spPr>
          <a:xfrm>
            <a:off x="4297680" y="4215384"/>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MobileNetV2 Multi-class  (224×224 RGB)</a:t>
            </a:r>
            <a:endParaRPr lang="en-US" sz="1100" dirty="0"/>
          </a:p>
        </p:txBody>
      </p:sp>
      <p:sp>
        <p:nvSpPr>
          <p:cNvPr id="27" name="Text 25"/>
          <p:cNvSpPr/>
          <p:nvPr/>
        </p:nvSpPr>
        <p:spPr>
          <a:xfrm>
            <a:off x="4297680" y="4553712"/>
            <a:ext cx="4389120" cy="30175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U-Net Segmentation  (128×128 + Mask)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Details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Three curated datasets covering all pipeline stages</a:t>
            </a:r>
            <a:endParaRPr lang="en-US" sz="1100" dirty="0"/>
          </a:p>
        </p:txBody>
      </p:sp>
      <p:sp>
        <p:nvSpPr>
          <p:cNvPr id="5" name="Shape 3"/>
          <p:cNvSpPr/>
          <p:nvPr/>
        </p:nvSpPr>
        <p:spPr>
          <a:xfrm>
            <a:off x="320040" y="1005840"/>
            <a:ext cx="8503920" cy="1170432"/>
          </a:xfrm>
          <a:prstGeom prst="rect">
            <a:avLst/>
          </a:prstGeom>
          <a:solidFill>
            <a:srgbClr val="132840"/>
          </a:solidFill>
          <a:ln w="12700">
            <a:solidFill>
              <a:srgbClr val="1E4060"/>
            </a:solidFill>
            <a:prstDash val="solid"/>
          </a:ln>
        </p:spPr>
      </p:sp>
      <p:sp>
        <p:nvSpPr>
          <p:cNvPr id="6" name="Shape 4"/>
          <p:cNvSpPr/>
          <p:nvPr/>
        </p:nvSpPr>
        <p:spPr>
          <a:xfrm>
            <a:off x="320040" y="1005840"/>
            <a:ext cx="54864" cy="1170432"/>
          </a:xfrm>
          <a:prstGeom prst="rect">
            <a:avLst/>
          </a:prstGeom>
          <a:solidFill>
            <a:srgbClr val="00C2CB"/>
          </a:solidFill>
          <a:ln w="12700">
            <a:solidFill>
              <a:srgbClr val="00C2CB"/>
            </a:solidFill>
            <a:prstDash val="solid"/>
          </a:ln>
        </p:spPr>
      </p:sp>
      <p:sp>
        <p:nvSpPr>
          <p:cNvPr id="7" name="Text 5"/>
          <p:cNvSpPr/>
          <p:nvPr/>
        </p:nvSpPr>
        <p:spPr>
          <a:xfrm>
            <a:off x="475488" y="1078992"/>
            <a:ext cx="502920" cy="502920"/>
          </a:xfrm>
          <a:prstGeom prst="rect">
            <a:avLst/>
          </a:prstGeom>
          <a:noFill/>
          <a:ln/>
        </p:spPr>
        <p:txBody>
          <a:bodyPr wrap="square" lIns="0" tIns="0" rIns="0" bIns="0" rtlCol="0" anchor="ctr"/>
          <a:lstStyle/>
          <a:p>
            <a:pPr marL="0" indent="0">
              <a:buNone/>
            </a:pPr>
            <a:r>
              <a:rPr lang="en-US" sz="2200" b="1" dirty="0">
                <a:solidFill>
                  <a:srgbClr val="00C2CB"/>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1051560" y="1078992"/>
            <a:ext cx="41148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Binary Classification Dataset</a:t>
            </a:r>
            <a:endParaRPr lang="en-US" sz="1350" dirty="0"/>
          </a:p>
        </p:txBody>
      </p:sp>
      <p:sp>
        <p:nvSpPr>
          <p:cNvPr id="9" name="Text 7"/>
          <p:cNvSpPr/>
          <p:nvPr/>
        </p:nvSpPr>
        <p:spPr>
          <a:xfrm>
            <a:off x="1051560" y="1389888"/>
            <a:ext cx="4114800" cy="228600"/>
          </a:xfrm>
          <a:prstGeom prst="rect">
            <a:avLst/>
          </a:prstGeom>
          <a:noFill/>
          <a:ln/>
        </p:spPr>
        <p:txBody>
          <a:bodyPr wrap="square" lIns="0" tIns="0" rIns="0" bIns="0" rtlCol="0" anchor="ctr"/>
          <a:lstStyle/>
          <a:p>
            <a:pPr marL="0" indent="0">
              <a:buNone/>
            </a:pPr>
            <a:r>
              <a:rPr lang="en-US" sz="1100" i="1" dirty="0">
                <a:solidFill>
                  <a:srgbClr val="7FA8BD"/>
                </a:solidFill>
                <a:latin typeface="Calibri" pitchFamily="34" charset="0"/>
                <a:ea typeface="Calibri" pitchFamily="34" charset="-122"/>
                <a:cs typeface="Calibri" pitchFamily="34" charset="-120"/>
              </a:rPr>
              <a:t>Source: Kaggle — MRI + CT Scans</a:t>
            </a:r>
            <a:endParaRPr lang="en-US" sz="1100" dirty="0"/>
          </a:p>
        </p:txBody>
      </p:sp>
      <p:sp>
        <p:nvSpPr>
          <p:cNvPr id="10" name="Text 8"/>
          <p:cNvSpPr/>
          <p:nvPr/>
        </p:nvSpPr>
        <p:spPr>
          <a:xfrm>
            <a:off x="1051560" y="1645920"/>
            <a:ext cx="4114800" cy="201168"/>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Format: 2D PNG slices</a:t>
            </a:r>
            <a:endParaRPr lang="en-US" sz="1100" dirty="0"/>
          </a:p>
        </p:txBody>
      </p:sp>
      <p:sp>
        <p:nvSpPr>
          <p:cNvPr id="11" name="Text 9"/>
          <p:cNvSpPr/>
          <p:nvPr/>
        </p:nvSpPr>
        <p:spPr>
          <a:xfrm>
            <a:off x="5303520" y="1078992"/>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Classes:</a:t>
            </a:r>
            <a:endParaRPr lang="en-US" sz="1100" dirty="0"/>
          </a:p>
        </p:txBody>
      </p:sp>
      <p:sp>
        <p:nvSpPr>
          <p:cNvPr id="12" name="Text 10"/>
          <p:cNvSpPr/>
          <p:nvPr/>
        </p:nvSpPr>
        <p:spPr>
          <a:xfrm>
            <a:off x="6400800" y="1078992"/>
            <a:ext cx="2286000" cy="256032"/>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Tumor / Healthy</a:t>
            </a:r>
            <a:endParaRPr lang="en-US" sz="1100" dirty="0"/>
          </a:p>
        </p:txBody>
      </p:sp>
      <p:sp>
        <p:nvSpPr>
          <p:cNvPr id="13" name="Text 11"/>
          <p:cNvSpPr/>
          <p:nvPr/>
        </p:nvSpPr>
        <p:spPr>
          <a:xfrm>
            <a:off x="5303520" y="1389888"/>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Purpose:</a:t>
            </a:r>
            <a:endParaRPr lang="en-US" sz="1100" dirty="0"/>
          </a:p>
        </p:txBody>
      </p:sp>
      <p:sp>
        <p:nvSpPr>
          <p:cNvPr id="14" name="Text 12"/>
          <p:cNvSpPr/>
          <p:nvPr/>
        </p:nvSpPr>
        <p:spPr>
          <a:xfrm>
            <a:off x="6400800" y="1389888"/>
            <a:ext cx="228600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Train CNN detector</a:t>
            </a:r>
            <a:endParaRPr lang="en-US" sz="1100" dirty="0"/>
          </a:p>
        </p:txBody>
      </p:sp>
      <p:sp>
        <p:nvSpPr>
          <p:cNvPr id="15" name="Shape 13"/>
          <p:cNvSpPr/>
          <p:nvPr/>
        </p:nvSpPr>
        <p:spPr>
          <a:xfrm>
            <a:off x="320040" y="2313432"/>
            <a:ext cx="8503920" cy="1170432"/>
          </a:xfrm>
          <a:prstGeom prst="rect">
            <a:avLst/>
          </a:prstGeom>
          <a:solidFill>
            <a:srgbClr val="132840"/>
          </a:solidFill>
          <a:ln w="12700">
            <a:solidFill>
              <a:srgbClr val="1E4060"/>
            </a:solidFill>
            <a:prstDash val="solid"/>
          </a:ln>
        </p:spPr>
      </p:sp>
      <p:sp>
        <p:nvSpPr>
          <p:cNvPr id="16" name="Shape 14"/>
          <p:cNvSpPr/>
          <p:nvPr/>
        </p:nvSpPr>
        <p:spPr>
          <a:xfrm>
            <a:off x="320040" y="2313432"/>
            <a:ext cx="54864" cy="1170432"/>
          </a:xfrm>
          <a:prstGeom prst="rect">
            <a:avLst/>
          </a:prstGeom>
          <a:solidFill>
            <a:srgbClr val="38BDF8"/>
          </a:solidFill>
          <a:ln w="12700">
            <a:solidFill>
              <a:srgbClr val="38BDF8"/>
            </a:solidFill>
            <a:prstDash val="solid"/>
          </a:ln>
        </p:spPr>
      </p:sp>
      <p:sp>
        <p:nvSpPr>
          <p:cNvPr id="17" name="Text 15"/>
          <p:cNvSpPr/>
          <p:nvPr/>
        </p:nvSpPr>
        <p:spPr>
          <a:xfrm>
            <a:off x="475488" y="2386584"/>
            <a:ext cx="502920" cy="502920"/>
          </a:xfrm>
          <a:prstGeom prst="rect">
            <a:avLst/>
          </a:prstGeom>
          <a:noFill/>
          <a:ln/>
        </p:spPr>
        <p:txBody>
          <a:bodyPr wrap="square" lIns="0" tIns="0" rIns="0" bIns="0" rtlCol="0" anchor="ctr"/>
          <a:lstStyle/>
          <a:p>
            <a:pPr marL="0" indent="0">
              <a:buNone/>
            </a:pPr>
            <a:r>
              <a:rPr lang="en-US" sz="2200" b="1" dirty="0">
                <a:solidFill>
                  <a:srgbClr val="38BDF8"/>
                </a:solidFill>
                <a:latin typeface="Calibri" pitchFamily="34" charset="0"/>
                <a:ea typeface="Calibri" pitchFamily="34" charset="-122"/>
                <a:cs typeface="Calibri" pitchFamily="34" charset="-120"/>
              </a:rPr>
              <a:t>02</a:t>
            </a:r>
            <a:endParaRPr lang="en-US" sz="2200" dirty="0"/>
          </a:p>
        </p:txBody>
      </p:sp>
      <p:sp>
        <p:nvSpPr>
          <p:cNvPr id="18" name="Text 16"/>
          <p:cNvSpPr/>
          <p:nvPr/>
        </p:nvSpPr>
        <p:spPr>
          <a:xfrm>
            <a:off x="1051560" y="2386584"/>
            <a:ext cx="41148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Type Classification Dataset</a:t>
            </a:r>
            <a:endParaRPr lang="en-US" sz="1350" dirty="0"/>
          </a:p>
        </p:txBody>
      </p:sp>
      <p:sp>
        <p:nvSpPr>
          <p:cNvPr id="19" name="Text 17"/>
          <p:cNvSpPr/>
          <p:nvPr/>
        </p:nvSpPr>
        <p:spPr>
          <a:xfrm>
            <a:off x="1051560" y="2697480"/>
            <a:ext cx="4114800" cy="228600"/>
          </a:xfrm>
          <a:prstGeom prst="rect">
            <a:avLst/>
          </a:prstGeom>
          <a:noFill/>
          <a:ln/>
        </p:spPr>
        <p:txBody>
          <a:bodyPr wrap="square" lIns="0" tIns="0" rIns="0" bIns="0" rtlCol="0" anchor="ctr"/>
          <a:lstStyle/>
          <a:p>
            <a:pPr marL="0" indent="0">
              <a:buNone/>
            </a:pPr>
            <a:r>
              <a:rPr lang="en-US" sz="1100" i="1" dirty="0">
                <a:solidFill>
                  <a:srgbClr val="7FA8BD"/>
                </a:solidFill>
                <a:latin typeface="Calibri" pitchFamily="34" charset="0"/>
                <a:ea typeface="Calibri" pitchFamily="34" charset="-122"/>
                <a:cs typeface="Calibri" pitchFamily="34" charset="-120"/>
              </a:rPr>
              <a:t>Source: Kaggle — MRI Scans</a:t>
            </a:r>
          </a:p>
        </p:txBody>
      </p:sp>
      <p:sp>
        <p:nvSpPr>
          <p:cNvPr id="20" name="Text 18"/>
          <p:cNvSpPr/>
          <p:nvPr/>
        </p:nvSpPr>
        <p:spPr>
          <a:xfrm>
            <a:off x="1051560" y="2953512"/>
            <a:ext cx="4114800" cy="201168"/>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Format: 2D PNG slices, RGB</a:t>
            </a:r>
            <a:endParaRPr lang="en-US" sz="1100" dirty="0"/>
          </a:p>
        </p:txBody>
      </p:sp>
      <p:sp>
        <p:nvSpPr>
          <p:cNvPr id="21" name="Text 19"/>
          <p:cNvSpPr/>
          <p:nvPr/>
        </p:nvSpPr>
        <p:spPr>
          <a:xfrm>
            <a:off x="5303520" y="2386584"/>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Classes:</a:t>
            </a:r>
            <a:endParaRPr lang="en-US" sz="1100" dirty="0"/>
          </a:p>
        </p:txBody>
      </p:sp>
      <p:sp>
        <p:nvSpPr>
          <p:cNvPr id="22" name="Text 20"/>
          <p:cNvSpPr/>
          <p:nvPr/>
        </p:nvSpPr>
        <p:spPr>
          <a:xfrm>
            <a:off x="6400800" y="2386584"/>
            <a:ext cx="2286000" cy="256032"/>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Glioma / Meningioma / Pituitary / No Tumor</a:t>
            </a:r>
            <a:endParaRPr lang="en-US" sz="1100" dirty="0"/>
          </a:p>
        </p:txBody>
      </p:sp>
      <p:sp>
        <p:nvSpPr>
          <p:cNvPr id="23" name="Text 21"/>
          <p:cNvSpPr/>
          <p:nvPr/>
        </p:nvSpPr>
        <p:spPr>
          <a:xfrm>
            <a:off x="5303520" y="2697480"/>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Purpose:</a:t>
            </a:r>
            <a:endParaRPr lang="en-US" sz="1100" dirty="0"/>
          </a:p>
        </p:txBody>
      </p:sp>
      <p:sp>
        <p:nvSpPr>
          <p:cNvPr id="24" name="Text 22"/>
          <p:cNvSpPr/>
          <p:nvPr/>
        </p:nvSpPr>
        <p:spPr>
          <a:xfrm>
            <a:off x="6400800" y="2697480"/>
            <a:ext cx="228600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Train MobileNetV2 classifier</a:t>
            </a:r>
            <a:endParaRPr lang="en-US" sz="1100" dirty="0"/>
          </a:p>
        </p:txBody>
      </p:sp>
      <p:sp>
        <p:nvSpPr>
          <p:cNvPr id="25" name="Shape 23"/>
          <p:cNvSpPr/>
          <p:nvPr/>
        </p:nvSpPr>
        <p:spPr>
          <a:xfrm>
            <a:off x="320040" y="3621024"/>
            <a:ext cx="8503920" cy="1170432"/>
          </a:xfrm>
          <a:prstGeom prst="rect">
            <a:avLst/>
          </a:prstGeom>
          <a:solidFill>
            <a:srgbClr val="132840"/>
          </a:solidFill>
          <a:ln w="12700">
            <a:solidFill>
              <a:srgbClr val="1E4060"/>
            </a:solidFill>
            <a:prstDash val="solid"/>
          </a:ln>
        </p:spPr>
      </p:sp>
      <p:sp>
        <p:nvSpPr>
          <p:cNvPr id="26" name="Shape 24"/>
          <p:cNvSpPr/>
          <p:nvPr/>
        </p:nvSpPr>
        <p:spPr>
          <a:xfrm>
            <a:off x="320040" y="3621024"/>
            <a:ext cx="54864" cy="1170432"/>
          </a:xfrm>
          <a:prstGeom prst="rect">
            <a:avLst/>
          </a:prstGeom>
          <a:solidFill>
            <a:srgbClr val="22D3A0"/>
          </a:solidFill>
          <a:ln w="12700">
            <a:solidFill>
              <a:srgbClr val="22D3A0"/>
            </a:solidFill>
            <a:prstDash val="solid"/>
          </a:ln>
        </p:spPr>
      </p:sp>
      <p:sp>
        <p:nvSpPr>
          <p:cNvPr id="27" name="Text 25"/>
          <p:cNvSpPr/>
          <p:nvPr/>
        </p:nvSpPr>
        <p:spPr>
          <a:xfrm>
            <a:off x="475488" y="3694176"/>
            <a:ext cx="502920" cy="502920"/>
          </a:xfrm>
          <a:prstGeom prst="rect">
            <a:avLst/>
          </a:prstGeom>
          <a:noFill/>
          <a:ln/>
        </p:spPr>
        <p:txBody>
          <a:bodyPr wrap="square" lIns="0" tIns="0" rIns="0" bIns="0" rtlCol="0" anchor="ctr"/>
          <a:lstStyle/>
          <a:p>
            <a:pPr marL="0" indent="0">
              <a:buNone/>
            </a:pPr>
            <a:r>
              <a:rPr lang="en-US" sz="2200" b="1" dirty="0">
                <a:solidFill>
                  <a:srgbClr val="22D3A0"/>
                </a:solidFill>
                <a:latin typeface="Calibri" pitchFamily="34" charset="0"/>
                <a:ea typeface="Calibri" pitchFamily="34" charset="-122"/>
                <a:cs typeface="Calibri" pitchFamily="34" charset="-120"/>
              </a:rPr>
              <a:t>03</a:t>
            </a:r>
            <a:endParaRPr lang="en-US" sz="2200" dirty="0"/>
          </a:p>
        </p:txBody>
      </p:sp>
      <p:sp>
        <p:nvSpPr>
          <p:cNvPr id="28" name="Text 26"/>
          <p:cNvSpPr/>
          <p:nvPr/>
        </p:nvSpPr>
        <p:spPr>
          <a:xfrm>
            <a:off x="1051560" y="3694176"/>
            <a:ext cx="41148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Segmentation Dataset</a:t>
            </a:r>
            <a:endParaRPr lang="en-US" sz="1350" dirty="0"/>
          </a:p>
        </p:txBody>
      </p:sp>
      <p:sp>
        <p:nvSpPr>
          <p:cNvPr id="29" name="Text 27"/>
          <p:cNvSpPr/>
          <p:nvPr/>
        </p:nvSpPr>
        <p:spPr>
          <a:xfrm>
            <a:off x="1051560" y="4005072"/>
            <a:ext cx="4114800" cy="228600"/>
          </a:xfrm>
          <a:prstGeom prst="rect">
            <a:avLst/>
          </a:prstGeom>
          <a:noFill/>
          <a:ln/>
        </p:spPr>
        <p:txBody>
          <a:bodyPr wrap="square" lIns="0" tIns="0" rIns="0" bIns="0" rtlCol="0" anchor="ctr"/>
          <a:lstStyle/>
          <a:p>
            <a:r>
              <a:rPr lang="en-US" sz="1100" i="1" dirty="0">
                <a:solidFill>
                  <a:srgbClr val="7FA8BD"/>
                </a:solidFill>
                <a:latin typeface="Calibri" pitchFamily="34" charset="0"/>
                <a:ea typeface="Calibri" pitchFamily="34" charset="-122"/>
                <a:cs typeface="Calibri" pitchFamily="34" charset="-120"/>
              </a:rPr>
              <a:t>Source: Kaggle — MRI + Masks</a:t>
            </a:r>
          </a:p>
        </p:txBody>
      </p:sp>
      <p:sp>
        <p:nvSpPr>
          <p:cNvPr id="30" name="Text 28"/>
          <p:cNvSpPr/>
          <p:nvPr/>
        </p:nvSpPr>
        <p:spPr>
          <a:xfrm>
            <a:off x="1051560" y="4261104"/>
            <a:ext cx="4114800" cy="201168"/>
          </a:xfrm>
          <a:prstGeom prst="rect">
            <a:avLst/>
          </a:prstGeom>
          <a:noFill/>
          <a:ln/>
        </p:spPr>
        <p:txBody>
          <a:bodyPr wrap="square" lIns="0" tIns="0" rIns="0" bIns="0" rtlCol="0" anchor="ctr"/>
          <a:lstStyle/>
          <a:p>
            <a:r>
              <a:rPr lang="en-US" sz="1100" dirty="0">
                <a:solidFill>
                  <a:srgbClr val="E2F4F7"/>
                </a:solidFill>
                <a:latin typeface="Calibri" pitchFamily="34" charset="0"/>
                <a:ea typeface="Calibri" pitchFamily="34" charset="-122"/>
                <a:cs typeface="Calibri" pitchFamily="34" charset="-120"/>
              </a:rPr>
              <a:t>Format: 2D PNG slices</a:t>
            </a:r>
            <a:endParaRPr lang="en-US" sz="1100" dirty="0"/>
          </a:p>
        </p:txBody>
      </p:sp>
      <p:sp>
        <p:nvSpPr>
          <p:cNvPr id="31" name="Text 29"/>
          <p:cNvSpPr/>
          <p:nvPr/>
        </p:nvSpPr>
        <p:spPr>
          <a:xfrm>
            <a:off x="5303520" y="3694176"/>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Classes:</a:t>
            </a:r>
            <a:endParaRPr lang="en-US" sz="1100" dirty="0"/>
          </a:p>
        </p:txBody>
      </p:sp>
      <p:sp>
        <p:nvSpPr>
          <p:cNvPr id="32" name="Text 30"/>
          <p:cNvSpPr/>
          <p:nvPr/>
        </p:nvSpPr>
        <p:spPr>
          <a:xfrm>
            <a:off x="6400800" y="3694176"/>
            <a:ext cx="2286000" cy="256032"/>
          </a:xfrm>
          <a:prstGeom prst="rect">
            <a:avLst/>
          </a:prstGeom>
          <a:noFill/>
          <a:ln/>
        </p:spPr>
        <p:txBody>
          <a:bodyPr wrap="square" lIns="0" tIns="0" rIns="0" bIns="0" rtlCol="0" anchor="ctr"/>
          <a:lstStyle/>
          <a:p>
            <a:pPr marL="0" indent="0">
              <a:buNone/>
            </a:pPr>
            <a:r>
              <a:rPr lang="en-US" sz="1100" b="1" dirty="0">
                <a:solidFill>
                  <a:srgbClr val="22D3A0"/>
                </a:solidFill>
                <a:latin typeface="Calibri" pitchFamily="34" charset="0"/>
                <a:ea typeface="Calibri" pitchFamily="34" charset="-122"/>
                <a:cs typeface="Calibri" pitchFamily="34" charset="-120"/>
              </a:rPr>
              <a:t>Tumor mask / Background</a:t>
            </a:r>
            <a:endParaRPr lang="en-US" sz="1100" dirty="0"/>
          </a:p>
        </p:txBody>
      </p:sp>
      <p:sp>
        <p:nvSpPr>
          <p:cNvPr id="33" name="Text 31"/>
          <p:cNvSpPr/>
          <p:nvPr/>
        </p:nvSpPr>
        <p:spPr>
          <a:xfrm>
            <a:off x="5303520" y="4005072"/>
            <a:ext cx="1097280" cy="256032"/>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Purpose:</a:t>
            </a:r>
            <a:endParaRPr lang="en-US" sz="1100" dirty="0"/>
          </a:p>
        </p:txBody>
      </p:sp>
      <p:sp>
        <p:nvSpPr>
          <p:cNvPr id="34" name="Text 32"/>
          <p:cNvSpPr/>
          <p:nvPr/>
        </p:nvSpPr>
        <p:spPr>
          <a:xfrm>
            <a:off x="6400800" y="4005072"/>
            <a:ext cx="228600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Train U-Net segmenter</a:t>
            </a:r>
            <a:endParaRPr lang="en-US" sz="1100" dirty="0"/>
          </a:p>
        </p:txBody>
      </p:sp>
      <p:sp>
        <p:nvSpPr>
          <p:cNvPr id="35" name="Shape 33"/>
          <p:cNvSpPr/>
          <p:nvPr/>
        </p:nvSpPr>
        <p:spPr>
          <a:xfrm>
            <a:off x="320040" y="4937760"/>
            <a:ext cx="8503920" cy="137160"/>
          </a:xfrm>
          <a:prstGeom prst="rect">
            <a:avLst/>
          </a:prstGeom>
          <a:solidFill>
            <a:srgbClr val="132840"/>
          </a:solidFill>
          <a:ln w="12700">
            <a:solidFill>
              <a:srgbClr val="1E4060"/>
            </a:solidFill>
            <a:prstDash val="solid"/>
          </a:ln>
        </p:spPr>
      </p:sp>
      <p:sp>
        <p:nvSpPr>
          <p:cNvPr id="36" name="Text 34"/>
          <p:cNvSpPr/>
          <p:nvPr/>
        </p:nvSpPr>
        <p:spPr>
          <a:xfrm>
            <a:off x="457200" y="4919472"/>
            <a:ext cx="8321040" cy="201168"/>
          </a:xfrm>
          <a:prstGeom prst="rect">
            <a:avLst/>
          </a:prstGeom>
          <a:noFill/>
          <a:ln/>
        </p:spPr>
        <p:txBody>
          <a:bodyPr wrap="square" lIns="0" tIns="0" rIns="0" bIns="0" rtlCol="0" anchor="ctr"/>
          <a:lstStyle/>
          <a:p>
            <a:pPr marL="0" indent="0" algn="ctr">
              <a:buNone/>
            </a:pPr>
            <a:r>
              <a:rPr lang="en-US" sz="1050" i="1" dirty="0">
                <a:solidFill>
                  <a:srgbClr val="7FA8BD"/>
                </a:solidFill>
                <a:latin typeface="Calibri" pitchFamily="34" charset="0"/>
                <a:ea typeface="Calibri" pitchFamily="34" charset="-122"/>
                <a:cs typeface="Calibri" pitchFamily="34" charset="-120"/>
              </a:rPr>
              <a:t>Total images across all datasets: ~22,946  |  Formats: JPG, PNG, NIfTI  |  Test samples (CNN): 1,924</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Preprocessing Pipeline</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Input preparation for all three model stages</a:t>
            </a:r>
            <a:endParaRPr lang="en-US" sz="1100" dirty="0"/>
          </a:p>
        </p:txBody>
      </p:sp>
      <p:sp>
        <p:nvSpPr>
          <p:cNvPr id="5" name="Shape 3"/>
          <p:cNvSpPr/>
          <p:nvPr/>
        </p:nvSpPr>
        <p:spPr>
          <a:xfrm>
            <a:off x="320040" y="1005840"/>
            <a:ext cx="1280160" cy="1417320"/>
          </a:xfrm>
          <a:prstGeom prst="rect">
            <a:avLst/>
          </a:prstGeom>
          <a:solidFill>
            <a:srgbClr val="132840"/>
          </a:solidFill>
          <a:ln w="12700">
            <a:solidFill>
              <a:srgbClr val="1E4060"/>
            </a:solidFill>
            <a:prstDash val="solid"/>
          </a:ln>
        </p:spPr>
      </p:sp>
      <p:sp>
        <p:nvSpPr>
          <p:cNvPr id="6" name="Shape 4"/>
          <p:cNvSpPr/>
          <p:nvPr/>
        </p:nvSpPr>
        <p:spPr>
          <a:xfrm>
            <a:off x="731520" y="1051560"/>
            <a:ext cx="457200" cy="457200"/>
          </a:xfrm>
          <a:prstGeom prst="ellipse">
            <a:avLst/>
          </a:prstGeom>
          <a:solidFill>
            <a:srgbClr val="00C2CB"/>
          </a:solidFill>
          <a:ln w="12700">
            <a:solidFill>
              <a:srgbClr val="00C2CB"/>
            </a:solidFill>
            <a:prstDash val="solid"/>
          </a:ln>
        </p:spPr>
      </p:sp>
      <p:sp>
        <p:nvSpPr>
          <p:cNvPr id="7" name="Text 5"/>
          <p:cNvSpPr/>
          <p:nvPr/>
        </p:nvSpPr>
        <p:spPr>
          <a:xfrm>
            <a:off x="731520"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365760"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Load Images</a:t>
            </a:r>
            <a:endParaRPr lang="en-US" sz="1150" dirty="0"/>
          </a:p>
        </p:txBody>
      </p:sp>
      <p:sp>
        <p:nvSpPr>
          <p:cNvPr id="9" name="Text 7"/>
          <p:cNvSpPr/>
          <p:nvPr/>
        </p:nvSpPr>
        <p:spPr>
          <a:xfrm>
            <a:off x="365760"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JPG / PNG</a:t>
            </a:r>
            <a:endParaRPr lang="en-US" sz="950" dirty="0"/>
          </a:p>
        </p:txBody>
      </p:sp>
      <p:sp>
        <p:nvSpPr>
          <p:cNvPr id="10" name="Text 8"/>
          <p:cNvSpPr/>
          <p:nvPr/>
        </p:nvSpPr>
        <p:spPr>
          <a:xfrm>
            <a:off x="1600200" y="1508760"/>
            <a:ext cx="164592" cy="274320"/>
          </a:xfrm>
          <a:prstGeom prst="rect">
            <a:avLst/>
          </a:prstGeom>
          <a:noFill/>
          <a:ln/>
        </p:spPr>
        <p:txBody>
          <a:bodyPr wrap="square" lIns="0" tIns="0" rIns="0" bIns="0" rtlCol="0" anchor="ctr"/>
          <a:lstStyle/>
          <a:p>
            <a:pPr marL="0" indent="0" algn="ctr">
              <a:buNone/>
            </a:pPr>
            <a:r>
              <a:rPr lang="en-US" sz="1300" dirty="0">
                <a:solidFill>
                  <a:srgbClr val="1E4060"/>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1755648" y="1005840"/>
            <a:ext cx="1280160" cy="1417320"/>
          </a:xfrm>
          <a:prstGeom prst="rect">
            <a:avLst/>
          </a:prstGeom>
          <a:solidFill>
            <a:srgbClr val="132840"/>
          </a:solidFill>
          <a:ln w="12700">
            <a:solidFill>
              <a:srgbClr val="1E4060"/>
            </a:solidFill>
            <a:prstDash val="solid"/>
          </a:ln>
        </p:spPr>
      </p:sp>
      <p:sp>
        <p:nvSpPr>
          <p:cNvPr id="12" name="Shape 10"/>
          <p:cNvSpPr/>
          <p:nvPr/>
        </p:nvSpPr>
        <p:spPr>
          <a:xfrm>
            <a:off x="2167128" y="1051560"/>
            <a:ext cx="457200" cy="457200"/>
          </a:xfrm>
          <a:prstGeom prst="ellipse">
            <a:avLst/>
          </a:prstGeom>
          <a:solidFill>
            <a:srgbClr val="38BDF8"/>
          </a:solidFill>
          <a:ln w="12700">
            <a:solidFill>
              <a:srgbClr val="38BDF8"/>
            </a:solidFill>
            <a:prstDash val="solid"/>
          </a:ln>
        </p:spPr>
      </p:sp>
      <p:sp>
        <p:nvSpPr>
          <p:cNvPr id="13" name="Text 11"/>
          <p:cNvSpPr/>
          <p:nvPr/>
        </p:nvSpPr>
        <p:spPr>
          <a:xfrm>
            <a:off x="2167128"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801368"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Convert</a:t>
            </a:r>
            <a:endParaRPr lang="en-US" sz="1150" dirty="0"/>
          </a:p>
        </p:txBody>
      </p:sp>
      <p:sp>
        <p:nvSpPr>
          <p:cNvPr id="15" name="Text 13"/>
          <p:cNvSpPr/>
          <p:nvPr/>
        </p:nvSpPr>
        <p:spPr>
          <a:xfrm>
            <a:off x="1801368"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Grayscale (CNN)</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RGB (</a:t>
            </a:r>
            <a:r>
              <a:rPr lang="en-US" sz="950" dirty="0" err="1">
                <a:solidFill>
                  <a:srgbClr val="7FA8BD"/>
                </a:solidFill>
                <a:latin typeface="Calibri" pitchFamily="34" charset="0"/>
                <a:ea typeface="Calibri" pitchFamily="34" charset="-122"/>
                <a:cs typeface="Calibri" pitchFamily="34" charset="-120"/>
              </a:rPr>
              <a:t>MobileNet</a:t>
            </a:r>
            <a:r>
              <a:rPr lang="en-US" sz="950" dirty="0">
                <a:solidFill>
                  <a:srgbClr val="7FA8BD"/>
                </a:solidFill>
                <a:latin typeface="Calibri" pitchFamily="34" charset="0"/>
                <a:ea typeface="Calibri" pitchFamily="34" charset="-122"/>
                <a:cs typeface="Calibri" pitchFamily="34" charset="-120"/>
              </a:rPr>
              <a:t>)</a:t>
            </a:r>
            <a:endParaRPr lang="en-US" sz="950" dirty="0"/>
          </a:p>
        </p:txBody>
      </p:sp>
      <p:sp>
        <p:nvSpPr>
          <p:cNvPr id="16" name="Text 14"/>
          <p:cNvSpPr/>
          <p:nvPr/>
        </p:nvSpPr>
        <p:spPr>
          <a:xfrm>
            <a:off x="3035808" y="1508760"/>
            <a:ext cx="164592" cy="274320"/>
          </a:xfrm>
          <a:prstGeom prst="rect">
            <a:avLst/>
          </a:prstGeom>
          <a:noFill/>
          <a:ln/>
        </p:spPr>
        <p:txBody>
          <a:bodyPr wrap="square" lIns="0" tIns="0" rIns="0" bIns="0" rtlCol="0" anchor="ctr"/>
          <a:lstStyle/>
          <a:p>
            <a:pPr marL="0" indent="0" algn="ctr">
              <a:buNone/>
            </a:pPr>
            <a:r>
              <a:rPr lang="en-US" sz="1300" dirty="0">
                <a:solidFill>
                  <a:srgbClr val="1E4060"/>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3191256" y="1005840"/>
            <a:ext cx="1280160" cy="1417320"/>
          </a:xfrm>
          <a:prstGeom prst="rect">
            <a:avLst/>
          </a:prstGeom>
          <a:solidFill>
            <a:srgbClr val="132840"/>
          </a:solidFill>
          <a:ln w="12700">
            <a:solidFill>
              <a:srgbClr val="1E4060"/>
            </a:solidFill>
            <a:prstDash val="solid"/>
          </a:ln>
        </p:spPr>
      </p:sp>
      <p:sp>
        <p:nvSpPr>
          <p:cNvPr id="18" name="Shape 16"/>
          <p:cNvSpPr/>
          <p:nvPr/>
        </p:nvSpPr>
        <p:spPr>
          <a:xfrm>
            <a:off x="3602736" y="1051560"/>
            <a:ext cx="457200" cy="457200"/>
          </a:xfrm>
          <a:prstGeom prst="ellipse">
            <a:avLst/>
          </a:prstGeom>
          <a:solidFill>
            <a:srgbClr val="22D3A0"/>
          </a:solidFill>
          <a:ln w="12700">
            <a:solidFill>
              <a:srgbClr val="22D3A0"/>
            </a:solidFill>
            <a:prstDash val="solid"/>
          </a:ln>
        </p:spPr>
      </p:sp>
      <p:sp>
        <p:nvSpPr>
          <p:cNvPr id="19" name="Text 17"/>
          <p:cNvSpPr/>
          <p:nvPr/>
        </p:nvSpPr>
        <p:spPr>
          <a:xfrm>
            <a:off x="3602736"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3236976"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Resize</a:t>
            </a:r>
            <a:endParaRPr lang="en-US" sz="1150" dirty="0"/>
          </a:p>
        </p:txBody>
      </p:sp>
      <p:sp>
        <p:nvSpPr>
          <p:cNvPr id="21" name="Text 19"/>
          <p:cNvSpPr/>
          <p:nvPr/>
        </p:nvSpPr>
        <p:spPr>
          <a:xfrm>
            <a:off x="3236976"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128×128 (CNN)</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224×224 (MNet)</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128×128 (UNet)</a:t>
            </a:r>
            <a:endParaRPr lang="en-US" sz="950" dirty="0"/>
          </a:p>
        </p:txBody>
      </p:sp>
      <p:sp>
        <p:nvSpPr>
          <p:cNvPr id="22" name="Text 20"/>
          <p:cNvSpPr/>
          <p:nvPr/>
        </p:nvSpPr>
        <p:spPr>
          <a:xfrm>
            <a:off x="4471416" y="1508760"/>
            <a:ext cx="164592" cy="274320"/>
          </a:xfrm>
          <a:prstGeom prst="rect">
            <a:avLst/>
          </a:prstGeom>
          <a:noFill/>
          <a:ln/>
        </p:spPr>
        <p:txBody>
          <a:bodyPr wrap="square" lIns="0" tIns="0" rIns="0" bIns="0" rtlCol="0" anchor="ctr"/>
          <a:lstStyle/>
          <a:p>
            <a:pPr marL="0" indent="0" algn="ctr">
              <a:buNone/>
            </a:pPr>
            <a:r>
              <a:rPr lang="en-US" sz="1300" dirty="0">
                <a:solidFill>
                  <a:srgbClr val="1E4060"/>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4626864" y="1005840"/>
            <a:ext cx="1280160" cy="1417320"/>
          </a:xfrm>
          <a:prstGeom prst="rect">
            <a:avLst/>
          </a:prstGeom>
          <a:solidFill>
            <a:srgbClr val="132840"/>
          </a:solidFill>
          <a:ln w="12700">
            <a:solidFill>
              <a:srgbClr val="1E4060"/>
            </a:solidFill>
            <a:prstDash val="solid"/>
          </a:ln>
        </p:spPr>
      </p:sp>
      <p:sp>
        <p:nvSpPr>
          <p:cNvPr id="24" name="Shape 22"/>
          <p:cNvSpPr/>
          <p:nvPr/>
        </p:nvSpPr>
        <p:spPr>
          <a:xfrm>
            <a:off x="5038344" y="1051560"/>
            <a:ext cx="457200" cy="457200"/>
          </a:xfrm>
          <a:prstGeom prst="ellipse">
            <a:avLst/>
          </a:prstGeom>
          <a:solidFill>
            <a:srgbClr val="FBBF24"/>
          </a:solidFill>
          <a:ln w="12700">
            <a:solidFill>
              <a:srgbClr val="FBBF24"/>
            </a:solidFill>
            <a:prstDash val="solid"/>
          </a:ln>
        </p:spPr>
      </p:sp>
      <p:sp>
        <p:nvSpPr>
          <p:cNvPr id="25" name="Text 23"/>
          <p:cNvSpPr/>
          <p:nvPr/>
        </p:nvSpPr>
        <p:spPr>
          <a:xfrm>
            <a:off x="5038344"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4672584"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Normalize</a:t>
            </a:r>
            <a:endParaRPr lang="en-US" sz="1150" dirty="0"/>
          </a:p>
        </p:txBody>
      </p:sp>
      <p:sp>
        <p:nvSpPr>
          <p:cNvPr id="27" name="Text 25"/>
          <p:cNvSpPr/>
          <p:nvPr/>
        </p:nvSpPr>
        <p:spPr>
          <a:xfrm>
            <a:off x="4672584"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Divide by 255</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Pixel range</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[0.0 – 1.0]</a:t>
            </a:r>
            <a:endParaRPr lang="en-US" sz="950" dirty="0"/>
          </a:p>
        </p:txBody>
      </p:sp>
      <p:sp>
        <p:nvSpPr>
          <p:cNvPr id="28" name="Text 26"/>
          <p:cNvSpPr/>
          <p:nvPr/>
        </p:nvSpPr>
        <p:spPr>
          <a:xfrm>
            <a:off x="5907024" y="1508760"/>
            <a:ext cx="164592" cy="274320"/>
          </a:xfrm>
          <a:prstGeom prst="rect">
            <a:avLst/>
          </a:prstGeom>
          <a:noFill/>
          <a:ln/>
        </p:spPr>
        <p:txBody>
          <a:bodyPr wrap="square" lIns="0" tIns="0" rIns="0" bIns="0" rtlCol="0" anchor="ctr"/>
          <a:lstStyle/>
          <a:p>
            <a:pPr marL="0" indent="0" algn="ctr">
              <a:buNone/>
            </a:pPr>
            <a:r>
              <a:rPr lang="en-US" sz="1300" dirty="0">
                <a:solidFill>
                  <a:srgbClr val="1E4060"/>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6062472" y="1005840"/>
            <a:ext cx="1280160" cy="1417320"/>
          </a:xfrm>
          <a:prstGeom prst="rect">
            <a:avLst/>
          </a:prstGeom>
          <a:solidFill>
            <a:srgbClr val="132840"/>
          </a:solidFill>
          <a:ln w="12700">
            <a:solidFill>
              <a:srgbClr val="1E4060"/>
            </a:solidFill>
            <a:prstDash val="solid"/>
          </a:ln>
        </p:spPr>
      </p:sp>
      <p:sp>
        <p:nvSpPr>
          <p:cNvPr id="30" name="Shape 28"/>
          <p:cNvSpPr/>
          <p:nvPr/>
        </p:nvSpPr>
        <p:spPr>
          <a:xfrm>
            <a:off x="6473952" y="1051560"/>
            <a:ext cx="457200" cy="457200"/>
          </a:xfrm>
          <a:prstGeom prst="ellipse">
            <a:avLst/>
          </a:prstGeom>
          <a:solidFill>
            <a:srgbClr val="00C2CB"/>
          </a:solidFill>
          <a:ln w="12700">
            <a:solidFill>
              <a:srgbClr val="00C2CB"/>
            </a:solidFill>
            <a:prstDash val="solid"/>
          </a:ln>
        </p:spPr>
      </p:sp>
      <p:sp>
        <p:nvSpPr>
          <p:cNvPr id="31" name="Text 29"/>
          <p:cNvSpPr/>
          <p:nvPr/>
        </p:nvSpPr>
        <p:spPr>
          <a:xfrm>
            <a:off x="6473952"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6108192"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Augment</a:t>
            </a:r>
            <a:endParaRPr lang="en-US" sz="1150" dirty="0"/>
          </a:p>
        </p:txBody>
      </p:sp>
      <p:sp>
        <p:nvSpPr>
          <p:cNvPr id="33" name="Text 31"/>
          <p:cNvSpPr/>
          <p:nvPr/>
        </p:nvSpPr>
        <p:spPr>
          <a:xfrm>
            <a:off x="6108192"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Rotate • Zoom</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Flip • Shear</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Balance classes</a:t>
            </a:r>
            <a:endParaRPr lang="en-US" sz="950" dirty="0"/>
          </a:p>
        </p:txBody>
      </p:sp>
      <p:sp>
        <p:nvSpPr>
          <p:cNvPr id="34" name="Text 32"/>
          <p:cNvSpPr/>
          <p:nvPr/>
        </p:nvSpPr>
        <p:spPr>
          <a:xfrm>
            <a:off x="7342632" y="1508760"/>
            <a:ext cx="164592" cy="274320"/>
          </a:xfrm>
          <a:prstGeom prst="rect">
            <a:avLst/>
          </a:prstGeom>
          <a:noFill/>
          <a:ln/>
        </p:spPr>
        <p:txBody>
          <a:bodyPr wrap="square" lIns="0" tIns="0" rIns="0" bIns="0" rtlCol="0" anchor="ctr"/>
          <a:lstStyle/>
          <a:p>
            <a:pPr marL="0" indent="0" algn="ctr">
              <a:buNone/>
            </a:pPr>
            <a:r>
              <a:rPr lang="en-US" sz="1300" dirty="0">
                <a:solidFill>
                  <a:srgbClr val="1E4060"/>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7498080" y="1005840"/>
            <a:ext cx="1280160" cy="1417320"/>
          </a:xfrm>
          <a:prstGeom prst="rect">
            <a:avLst/>
          </a:prstGeom>
          <a:solidFill>
            <a:srgbClr val="132840"/>
          </a:solidFill>
          <a:ln w="12700">
            <a:solidFill>
              <a:srgbClr val="1E4060"/>
            </a:solidFill>
            <a:prstDash val="solid"/>
          </a:ln>
        </p:spPr>
      </p:sp>
      <p:sp>
        <p:nvSpPr>
          <p:cNvPr id="36" name="Shape 34"/>
          <p:cNvSpPr/>
          <p:nvPr/>
        </p:nvSpPr>
        <p:spPr>
          <a:xfrm>
            <a:off x="7909560" y="1051560"/>
            <a:ext cx="457200" cy="457200"/>
          </a:xfrm>
          <a:prstGeom prst="ellipse">
            <a:avLst/>
          </a:prstGeom>
          <a:solidFill>
            <a:srgbClr val="38BDF8"/>
          </a:solidFill>
          <a:ln w="12700">
            <a:solidFill>
              <a:srgbClr val="38BDF8"/>
            </a:solidFill>
            <a:prstDash val="solid"/>
          </a:ln>
        </p:spPr>
      </p:sp>
      <p:sp>
        <p:nvSpPr>
          <p:cNvPr id="37" name="Text 35"/>
          <p:cNvSpPr/>
          <p:nvPr/>
        </p:nvSpPr>
        <p:spPr>
          <a:xfrm>
            <a:off x="7909560" y="1051560"/>
            <a:ext cx="457200" cy="457200"/>
          </a:xfrm>
          <a:prstGeom prst="rect">
            <a:avLst/>
          </a:prstGeom>
          <a:noFill/>
          <a:ln/>
        </p:spPr>
        <p:txBody>
          <a:bodyPr wrap="square" lIns="0" tIns="0" rIns="0" bIns="0" rtlCol="0" anchor="ctr"/>
          <a:lstStyle/>
          <a:p>
            <a:pPr marL="0" indent="0" algn="ctr">
              <a:buNone/>
            </a:pPr>
            <a:r>
              <a:rPr lang="en-US" sz="1600" b="1" dirty="0">
                <a:solidFill>
                  <a:srgbClr val="0A1628"/>
                </a:solidFill>
                <a:latin typeface="Calibri" pitchFamily="34" charset="0"/>
                <a:ea typeface="Calibri" pitchFamily="34" charset="-122"/>
                <a:cs typeface="Calibri" pitchFamily="34" charset="-120"/>
              </a:rPr>
              <a:t>6</a:t>
            </a:r>
            <a:endParaRPr lang="en-US" sz="1600" dirty="0"/>
          </a:p>
        </p:txBody>
      </p:sp>
      <p:sp>
        <p:nvSpPr>
          <p:cNvPr id="38" name="Text 36"/>
          <p:cNvSpPr/>
          <p:nvPr/>
        </p:nvSpPr>
        <p:spPr>
          <a:xfrm>
            <a:off x="7543800" y="1572768"/>
            <a:ext cx="1188720" cy="25603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Split</a:t>
            </a:r>
            <a:endParaRPr lang="en-US" sz="1150" dirty="0"/>
          </a:p>
        </p:txBody>
      </p:sp>
      <p:sp>
        <p:nvSpPr>
          <p:cNvPr id="39" name="Text 37"/>
          <p:cNvSpPr/>
          <p:nvPr/>
        </p:nvSpPr>
        <p:spPr>
          <a:xfrm>
            <a:off x="7543800" y="1847088"/>
            <a:ext cx="1188720" cy="502920"/>
          </a:xfrm>
          <a:prstGeom prst="rect">
            <a:avLst/>
          </a:prstGeom>
          <a:noFill/>
          <a:ln/>
        </p:spPr>
        <p:txBody>
          <a:bodyPr wrap="square" lIns="0" tIns="0" rIns="0" bIns="0" rtlCol="0" anchor="ctr"/>
          <a:lstStyle/>
          <a:p>
            <a:pPr marL="0" indent="0" algn="ctr">
              <a:buNone/>
            </a:pPr>
            <a:r>
              <a:rPr lang="en-US" sz="950" dirty="0">
                <a:solidFill>
                  <a:srgbClr val="7FA8BD"/>
                </a:solidFill>
                <a:latin typeface="Calibri" pitchFamily="34" charset="0"/>
                <a:ea typeface="Calibri" pitchFamily="34" charset="-122"/>
                <a:cs typeface="Calibri" pitchFamily="34" charset="-120"/>
              </a:rPr>
              <a:t>Train / Val</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Stratified split</a:t>
            </a:r>
            <a:endParaRPr lang="en-US" sz="950" dirty="0"/>
          </a:p>
          <a:p>
            <a:pPr marL="0" indent="0" algn="ctr">
              <a:buNone/>
            </a:pPr>
            <a:r>
              <a:rPr lang="en-US" sz="950" dirty="0">
                <a:solidFill>
                  <a:srgbClr val="7FA8BD"/>
                </a:solidFill>
                <a:latin typeface="Calibri" pitchFamily="34" charset="0"/>
                <a:ea typeface="Calibri" pitchFamily="34" charset="-122"/>
                <a:cs typeface="Calibri" pitchFamily="34" charset="-120"/>
              </a:rPr>
              <a:t>Ready tensors</a:t>
            </a:r>
            <a:endParaRPr lang="en-US" sz="950" dirty="0"/>
          </a:p>
        </p:txBody>
      </p:sp>
      <p:sp>
        <p:nvSpPr>
          <p:cNvPr id="40" name="Shape 38"/>
          <p:cNvSpPr/>
          <p:nvPr/>
        </p:nvSpPr>
        <p:spPr>
          <a:xfrm>
            <a:off x="320040" y="2606040"/>
            <a:ext cx="4251960" cy="1005840"/>
          </a:xfrm>
          <a:prstGeom prst="rect">
            <a:avLst/>
          </a:prstGeom>
          <a:solidFill>
            <a:srgbClr val="132840"/>
          </a:solidFill>
          <a:ln w="12700">
            <a:solidFill>
              <a:srgbClr val="1E4060"/>
            </a:solidFill>
            <a:prstDash val="solid"/>
          </a:ln>
        </p:spPr>
      </p:sp>
      <p:sp>
        <p:nvSpPr>
          <p:cNvPr id="41" name="Text 39"/>
          <p:cNvSpPr/>
          <p:nvPr/>
        </p:nvSpPr>
        <p:spPr>
          <a:xfrm>
            <a:off x="457200" y="2697480"/>
            <a:ext cx="3977640" cy="256032"/>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Grayscale vs RGB Handling</a:t>
            </a:r>
            <a:endParaRPr lang="en-US" sz="1200" dirty="0"/>
          </a:p>
        </p:txBody>
      </p:sp>
      <p:sp>
        <p:nvSpPr>
          <p:cNvPr id="42" name="Text 40"/>
          <p:cNvSpPr/>
          <p:nvPr/>
        </p:nvSpPr>
        <p:spPr>
          <a:xfrm>
            <a:off x="457200" y="2990088"/>
            <a:ext cx="3977640" cy="502920"/>
          </a:xfrm>
          <a:prstGeom prst="rect">
            <a:avLst/>
          </a:prstGeom>
          <a:noFill/>
          <a:ln/>
        </p:spPr>
        <p:txBody>
          <a:bodyPr wrap="square" lIns="0" tIns="0" rIns="0" bIns="0" rtlCol="0" anchor="ctr"/>
          <a:lstStyle/>
          <a:p>
            <a:pPr marL="0" indent="0">
              <a:lnSpc>
                <a:spcPct val="120000"/>
              </a:lnSpc>
              <a:buNone/>
            </a:pPr>
            <a:r>
              <a:rPr lang="en-US" sz="1050" dirty="0">
                <a:solidFill>
                  <a:srgbClr val="E2F4F7"/>
                </a:solidFill>
                <a:latin typeface="Calibri" pitchFamily="34" charset="0"/>
                <a:ea typeface="Calibri" pitchFamily="34" charset="-122"/>
                <a:cs typeface="Calibri" pitchFamily="34" charset="-120"/>
              </a:rPr>
              <a:t>Detection model uses single-channel grayscale. Classification uses 3-channel RGB. Handled separately in the preprocessing pipeline.</a:t>
            </a:r>
            <a:endParaRPr lang="en-US" sz="1050" dirty="0"/>
          </a:p>
        </p:txBody>
      </p:sp>
      <p:sp>
        <p:nvSpPr>
          <p:cNvPr id="43" name="Shape 41"/>
          <p:cNvSpPr/>
          <p:nvPr/>
        </p:nvSpPr>
        <p:spPr>
          <a:xfrm>
            <a:off x="4727448" y="2606040"/>
            <a:ext cx="4251960" cy="1005840"/>
          </a:xfrm>
          <a:prstGeom prst="rect">
            <a:avLst/>
          </a:prstGeom>
          <a:solidFill>
            <a:srgbClr val="132840"/>
          </a:solidFill>
          <a:ln w="12700">
            <a:solidFill>
              <a:srgbClr val="1E4060"/>
            </a:solidFill>
            <a:prstDash val="solid"/>
          </a:ln>
        </p:spPr>
      </p:sp>
      <p:sp>
        <p:nvSpPr>
          <p:cNvPr id="44" name="Text 42"/>
          <p:cNvSpPr/>
          <p:nvPr/>
        </p:nvSpPr>
        <p:spPr>
          <a:xfrm>
            <a:off x="4864608" y="2697480"/>
            <a:ext cx="3977640" cy="256032"/>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Class Imbalance Strategy</a:t>
            </a:r>
            <a:endParaRPr lang="en-US" sz="1200" dirty="0"/>
          </a:p>
        </p:txBody>
      </p:sp>
      <p:sp>
        <p:nvSpPr>
          <p:cNvPr id="45" name="Text 43"/>
          <p:cNvSpPr/>
          <p:nvPr/>
        </p:nvSpPr>
        <p:spPr>
          <a:xfrm>
            <a:off x="4864608" y="2990088"/>
            <a:ext cx="3977640" cy="502920"/>
          </a:xfrm>
          <a:prstGeom prst="rect">
            <a:avLst/>
          </a:prstGeom>
          <a:noFill/>
          <a:ln/>
        </p:spPr>
        <p:txBody>
          <a:bodyPr wrap="square" lIns="0" tIns="0" rIns="0" bIns="0" rtlCol="0" anchor="ctr"/>
          <a:lstStyle/>
          <a:p>
            <a:pPr marL="0" indent="0">
              <a:lnSpc>
                <a:spcPct val="120000"/>
              </a:lnSpc>
              <a:buNone/>
            </a:pPr>
            <a:r>
              <a:rPr lang="en-US" sz="1050" dirty="0">
                <a:solidFill>
                  <a:srgbClr val="E2F4F7"/>
                </a:solidFill>
                <a:latin typeface="Calibri" pitchFamily="34" charset="0"/>
                <a:ea typeface="Calibri" pitchFamily="34" charset="-122"/>
                <a:cs typeface="Calibri" pitchFamily="34" charset="-120"/>
              </a:rPr>
              <a:t>Balanced sampling + heavy augmentation applied. MobileNetV2 class-weighted loss function compensates for Meningioma under-representation.</a:t>
            </a:r>
            <a:endParaRPr lang="en-US" sz="1050" dirty="0"/>
          </a:p>
        </p:txBody>
      </p:sp>
      <p:sp>
        <p:nvSpPr>
          <p:cNvPr id="48" name="Text 46"/>
          <p:cNvSpPr/>
          <p:nvPr/>
        </p:nvSpPr>
        <p:spPr>
          <a:xfrm>
            <a:off x="457200" y="4160520"/>
            <a:ext cx="3977640" cy="502920"/>
          </a:xfrm>
          <a:prstGeom prst="rect">
            <a:avLst/>
          </a:prstGeom>
          <a:noFill/>
          <a:ln/>
        </p:spPr>
        <p:txBody>
          <a:bodyPr wrap="square" lIns="0" tIns="0" rIns="0" bIns="0" rtlCol="0" anchor="ctr"/>
          <a:lstStyle/>
          <a:p>
            <a:pPr marL="0" indent="0">
              <a:lnSpc>
                <a:spcPct val="120000"/>
              </a:lnSpc>
              <a:buNone/>
            </a:pPr>
            <a:endParaRPr lang="en-US" sz="1050" dirty="0"/>
          </a:p>
        </p:txBody>
      </p:sp>
      <p:sp>
        <p:nvSpPr>
          <p:cNvPr id="49" name="Shape 47"/>
          <p:cNvSpPr/>
          <p:nvPr/>
        </p:nvSpPr>
        <p:spPr>
          <a:xfrm>
            <a:off x="2816352" y="3813048"/>
            <a:ext cx="4251960" cy="1005840"/>
          </a:xfrm>
          <a:prstGeom prst="rect">
            <a:avLst/>
          </a:prstGeom>
          <a:solidFill>
            <a:srgbClr val="132840"/>
          </a:solidFill>
          <a:ln w="12700">
            <a:solidFill>
              <a:srgbClr val="1E4060"/>
            </a:solidFill>
            <a:prstDash val="solid"/>
          </a:ln>
        </p:spPr>
      </p:sp>
      <p:sp>
        <p:nvSpPr>
          <p:cNvPr id="50" name="Text 48"/>
          <p:cNvSpPr/>
          <p:nvPr/>
        </p:nvSpPr>
        <p:spPr>
          <a:xfrm>
            <a:off x="2953512" y="3904488"/>
            <a:ext cx="3977640" cy="256032"/>
          </a:xfrm>
          <a:prstGeom prst="rect">
            <a:avLst/>
          </a:prstGeom>
          <a:noFill/>
          <a:ln/>
        </p:spPr>
        <p:txBody>
          <a:bodyPr wrap="square" lIns="0" tIns="0" rIns="0" bIns="0" rtlCol="0" anchor="ctr"/>
          <a:lstStyle/>
          <a:p>
            <a:pPr marL="0" indent="0">
              <a:buNone/>
            </a:pPr>
            <a:r>
              <a:rPr lang="en-US" sz="1200" b="1" dirty="0">
                <a:solidFill>
                  <a:srgbClr val="00C2CB"/>
                </a:solidFill>
                <a:latin typeface="Calibri" pitchFamily="34" charset="0"/>
                <a:ea typeface="Calibri" pitchFamily="34" charset="-122"/>
                <a:cs typeface="Calibri" pitchFamily="34" charset="-120"/>
              </a:rPr>
              <a:t>Segmentation Mask Prep</a:t>
            </a:r>
            <a:endParaRPr lang="en-US" sz="1200" dirty="0"/>
          </a:p>
        </p:txBody>
      </p:sp>
      <p:sp>
        <p:nvSpPr>
          <p:cNvPr id="51" name="Text 49"/>
          <p:cNvSpPr/>
          <p:nvPr/>
        </p:nvSpPr>
        <p:spPr>
          <a:xfrm>
            <a:off x="2953512" y="4197096"/>
            <a:ext cx="3977640" cy="502920"/>
          </a:xfrm>
          <a:prstGeom prst="rect">
            <a:avLst/>
          </a:prstGeom>
          <a:noFill/>
          <a:ln/>
        </p:spPr>
        <p:txBody>
          <a:bodyPr wrap="square" lIns="0" tIns="0" rIns="0" bIns="0" rtlCol="0" anchor="ctr"/>
          <a:lstStyle/>
          <a:p>
            <a:pPr marL="0" indent="0">
              <a:lnSpc>
                <a:spcPct val="120000"/>
              </a:lnSpc>
              <a:buNone/>
            </a:pPr>
            <a:r>
              <a:rPr lang="en-US" sz="1050" dirty="0">
                <a:solidFill>
                  <a:srgbClr val="E2F4F7"/>
                </a:solidFill>
                <a:latin typeface="Calibri" pitchFamily="34" charset="0"/>
                <a:ea typeface="Calibri" pitchFamily="34" charset="-122"/>
                <a:cs typeface="Calibri" pitchFamily="34" charset="-120"/>
              </a:rPr>
              <a:t>Ground truth masks binarized at 0.5 threshold. Resized to match U-Net 128×128 output. Verified alignment with input slices.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1 — Binary Classification (CNN)</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Tumor vs. Healthy detection from grayscale MRI scans</a:t>
            </a:r>
            <a:endParaRPr lang="en-US" sz="1100" dirty="0"/>
          </a:p>
        </p:txBody>
      </p:sp>
      <p:sp>
        <p:nvSpPr>
          <p:cNvPr id="5" name="Shape 3"/>
          <p:cNvSpPr/>
          <p:nvPr/>
        </p:nvSpPr>
        <p:spPr>
          <a:xfrm>
            <a:off x="320040" y="1005840"/>
            <a:ext cx="4114800" cy="3931920"/>
          </a:xfrm>
          <a:prstGeom prst="rect">
            <a:avLst/>
          </a:prstGeom>
          <a:solidFill>
            <a:srgbClr val="132840"/>
          </a:solidFill>
          <a:ln w="12700">
            <a:solidFill>
              <a:srgbClr val="1E4060"/>
            </a:solidFill>
            <a:prstDash val="solid"/>
          </a:ln>
        </p:spPr>
      </p:sp>
      <p:sp>
        <p:nvSpPr>
          <p:cNvPr id="6" name="Text 4"/>
          <p:cNvSpPr/>
          <p:nvPr/>
        </p:nvSpPr>
        <p:spPr>
          <a:xfrm>
            <a:off x="457200" y="1078992"/>
            <a:ext cx="3840480" cy="274320"/>
          </a:xfrm>
          <a:prstGeom prst="rect">
            <a:avLst/>
          </a:prstGeom>
          <a:noFill/>
          <a:ln/>
        </p:spPr>
        <p:txBody>
          <a:bodyPr wrap="square" lIns="0" tIns="0" rIns="0" bIns="0"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CNN Architecture</a:t>
            </a:r>
            <a:endParaRPr lang="en-US" sz="1300" dirty="0"/>
          </a:p>
        </p:txBody>
      </p:sp>
      <p:sp>
        <p:nvSpPr>
          <p:cNvPr id="7" name="Shape 5"/>
          <p:cNvSpPr/>
          <p:nvPr/>
        </p:nvSpPr>
        <p:spPr>
          <a:xfrm>
            <a:off x="457200" y="1444752"/>
            <a:ext cx="3840480" cy="347472"/>
          </a:xfrm>
          <a:prstGeom prst="rect">
            <a:avLst/>
          </a:prstGeom>
          <a:solidFill>
            <a:srgbClr val="1E4060"/>
          </a:solidFill>
          <a:ln w="12700">
            <a:solidFill>
              <a:srgbClr val="1E4060"/>
            </a:solidFill>
            <a:prstDash val="solid"/>
          </a:ln>
        </p:spPr>
      </p:sp>
      <p:sp>
        <p:nvSpPr>
          <p:cNvPr id="8" name="Text 6"/>
          <p:cNvSpPr/>
          <p:nvPr/>
        </p:nvSpPr>
        <p:spPr>
          <a:xfrm>
            <a:off x="548640" y="148132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Input</a:t>
            </a:r>
            <a:endParaRPr lang="en-US" sz="1100" dirty="0"/>
          </a:p>
        </p:txBody>
      </p:sp>
      <p:sp>
        <p:nvSpPr>
          <p:cNvPr id="9" name="Text 7"/>
          <p:cNvSpPr/>
          <p:nvPr/>
        </p:nvSpPr>
        <p:spPr>
          <a:xfrm>
            <a:off x="2286000" y="149961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128 × 128 × 1  (Grayscale)</a:t>
            </a:r>
            <a:endParaRPr lang="en-US" sz="1000" dirty="0"/>
          </a:p>
        </p:txBody>
      </p:sp>
      <p:sp>
        <p:nvSpPr>
          <p:cNvPr id="10" name="Shape 8"/>
          <p:cNvSpPr/>
          <p:nvPr/>
        </p:nvSpPr>
        <p:spPr>
          <a:xfrm>
            <a:off x="457200" y="1856232"/>
            <a:ext cx="3840480" cy="347472"/>
          </a:xfrm>
          <a:prstGeom prst="rect">
            <a:avLst/>
          </a:prstGeom>
          <a:solidFill>
            <a:srgbClr val="00C2CB"/>
          </a:solidFill>
          <a:ln w="12700">
            <a:solidFill>
              <a:srgbClr val="1E4060"/>
            </a:solidFill>
            <a:prstDash val="solid"/>
          </a:ln>
        </p:spPr>
      </p:sp>
      <p:sp>
        <p:nvSpPr>
          <p:cNvPr id="11" name="Text 9"/>
          <p:cNvSpPr/>
          <p:nvPr/>
        </p:nvSpPr>
        <p:spPr>
          <a:xfrm>
            <a:off x="548640" y="189280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Conv2D + ReLU</a:t>
            </a:r>
            <a:endParaRPr lang="en-US" sz="1100" dirty="0"/>
          </a:p>
        </p:txBody>
      </p:sp>
      <p:sp>
        <p:nvSpPr>
          <p:cNvPr id="12" name="Text 10"/>
          <p:cNvSpPr/>
          <p:nvPr/>
        </p:nvSpPr>
        <p:spPr>
          <a:xfrm>
            <a:off x="2286000" y="1911096"/>
            <a:ext cx="1920240" cy="237744"/>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32 filters, 3×3 kernel</a:t>
            </a:r>
            <a:endParaRPr lang="en-US" sz="1000" dirty="0"/>
          </a:p>
        </p:txBody>
      </p:sp>
      <p:sp>
        <p:nvSpPr>
          <p:cNvPr id="13" name="Shape 11"/>
          <p:cNvSpPr/>
          <p:nvPr/>
        </p:nvSpPr>
        <p:spPr>
          <a:xfrm>
            <a:off x="457200" y="2267712"/>
            <a:ext cx="3840480" cy="347472"/>
          </a:xfrm>
          <a:prstGeom prst="rect">
            <a:avLst/>
          </a:prstGeom>
          <a:solidFill>
            <a:srgbClr val="112D4E"/>
          </a:solidFill>
          <a:ln w="12700">
            <a:solidFill>
              <a:srgbClr val="1E4060"/>
            </a:solidFill>
            <a:prstDash val="solid"/>
          </a:ln>
        </p:spPr>
      </p:sp>
      <p:sp>
        <p:nvSpPr>
          <p:cNvPr id="14" name="Text 12"/>
          <p:cNvSpPr/>
          <p:nvPr/>
        </p:nvSpPr>
        <p:spPr>
          <a:xfrm>
            <a:off x="548640" y="230428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MaxPooling2D</a:t>
            </a:r>
            <a:endParaRPr lang="en-US" sz="1100" dirty="0"/>
          </a:p>
        </p:txBody>
      </p:sp>
      <p:sp>
        <p:nvSpPr>
          <p:cNvPr id="15" name="Text 13"/>
          <p:cNvSpPr/>
          <p:nvPr/>
        </p:nvSpPr>
        <p:spPr>
          <a:xfrm>
            <a:off x="2286000" y="232257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2×2 pool</a:t>
            </a:r>
            <a:endParaRPr lang="en-US" sz="1000" dirty="0"/>
          </a:p>
        </p:txBody>
      </p:sp>
      <p:sp>
        <p:nvSpPr>
          <p:cNvPr id="16" name="Shape 14"/>
          <p:cNvSpPr/>
          <p:nvPr/>
        </p:nvSpPr>
        <p:spPr>
          <a:xfrm>
            <a:off x="457200" y="2679192"/>
            <a:ext cx="3840480" cy="347472"/>
          </a:xfrm>
          <a:prstGeom prst="rect">
            <a:avLst/>
          </a:prstGeom>
          <a:solidFill>
            <a:srgbClr val="00C2CB"/>
          </a:solidFill>
          <a:ln w="12700">
            <a:solidFill>
              <a:srgbClr val="1E4060"/>
            </a:solidFill>
            <a:prstDash val="solid"/>
          </a:ln>
        </p:spPr>
      </p:sp>
      <p:sp>
        <p:nvSpPr>
          <p:cNvPr id="17" name="Text 15"/>
          <p:cNvSpPr/>
          <p:nvPr/>
        </p:nvSpPr>
        <p:spPr>
          <a:xfrm>
            <a:off x="548640" y="271576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Conv2D + ReLU</a:t>
            </a:r>
            <a:endParaRPr lang="en-US" sz="1100" dirty="0"/>
          </a:p>
        </p:txBody>
      </p:sp>
      <p:sp>
        <p:nvSpPr>
          <p:cNvPr id="18" name="Text 16"/>
          <p:cNvSpPr/>
          <p:nvPr/>
        </p:nvSpPr>
        <p:spPr>
          <a:xfrm>
            <a:off x="2286000" y="2734056"/>
            <a:ext cx="1920240" cy="237744"/>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64 filters, 3×3 kernel</a:t>
            </a:r>
            <a:endParaRPr lang="en-US" sz="1000" dirty="0"/>
          </a:p>
        </p:txBody>
      </p:sp>
      <p:sp>
        <p:nvSpPr>
          <p:cNvPr id="19" name="Shape 17"/>
          <p:cNvSpPr/>
          <p:nvPr/>
        </p:nvSpPr>
        <p:spPr>
          <a:xfrm>
            <a:off x="457200" y="3090672"/>
            <a:ext cx="3840480" cy="347472"/>
          </a:xfrm>
          <a:prstGeom prst="rect">
            <a:avLst/>
          </a:prstGeom>
          <a:solidFill>
            <a:srgbClr val="112D4E"/>
          </a:solidFill>
          <a:ln w="12700">
            <a:solidFill>
              <a:srgbClr val="1E4060"/>
            </a:solidFill>
            <a:prstDash val="solid"/>
          </a:ln>
        </p:spPr>
      </p:sp>
      <p:sp>
        <p:nvSpPr>
          <p:cNvPr id="20" name="Text 18"/>
          <p:cNvSpPr/>
          <p:nvPr/>
        </p:nvSpPr>
        <p:spPr>
          <a:xfrm>
            <a:off x="548640" y="312724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MaxPooling2D</a:t>
            </a:r>
            <a:endParaRPr lang="en-US" sz="1100" dirty="0"/>
          </a:p>
        </p:txBody>
      </p:sp>
      <p:sp>
        <p:nvSpPr>
          <p:cNvPr id="21" name="Text 19"/>
          <p:cNvSpPr/>
          <p:nvPr/>
        </p:nvSpPr>
        <p:spPr>
          <a:xfrm>
            <a:off x="2286000" y="314553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2×2 pool</a:t>
            </a:r>
            <a:endParaRPr lang="en-US" sz="1000" dirty="0"/>
          </a:p>
        </p:txBody>
      </p:sp>
      <p:sp>
        <p:nvSpPr>
          <p:cNvPr id="22" name="Shape 20"/>
          <p:cNvSpPr/>
          <p:nvPr/>
        </p:nvSpPr>
        <p:spPr>
          <a:xfrm>
            <a:off x="457200" y="3502152"/>
            <a:ext cx="3840480" cy="347472"/>
          </a:xfrm>
          <a:prstGeom prst="rect">
            <a:avLst/>
          </a:prstGeom>
          <a:solidFill>
            <a:srgbClr val="0D4A6E"/>
          </a:solidFill>
          <a:ln w="12700">
            <a:solidFill>
              <a:srgbClr val="1E4060"/>
            </a:solidFill>
            <a:prstDash val="solid"/>
          </a:ln>
        </p:spPr>
      </p:sp>
      <p:sp>
        <p:nvSpPr>
          <p:cNvPr id="23" name="Text 21"/>
          <p:cNvSpPr/>
          <p:nvPr/>
        </p:nvSpPr>
        <p:spPr>
          <a:xfrm>
            <a:off x="548640" y="353872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Flatten → Dense</a:t>
            </a:r>
            <a:endParaRPr lang="en-US" sz="1100" dirty="0"/>
          </a:p>
        </p:txBody>
      </p:sp>
      <p:sp>
        <p:nvSpPr>
          <p:cNvPr id="24" name="Text 22"/>
          <p:cNvSpPr/>
          <p:nvPr/>
        </p:nvSpPr>
        <p:spPr>
          <a:xfrm>
            <a:off x="2286000" y="355701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128 units + ReLU</a:t>
            </a:r>
            <a:endParaRPr lang="en-US" sz="1000" dirty="0"/>
          </a:p>
        </p:txBody>
      </p:sp>
      <p:sp>
        <p:nvSpPr>
          <p:cNvPr id="25" name="Shape 23"/>
          <p:cNvSpPr/>
          <p:nvPr/>
        </p:nvSpPr>
        <p:spPr>
          <a:xfrm>
            <a:off x="457200" y="3913632"/>
            <a:ext cx="3840480" cy="347472"/>
          </a:xfrm>
          <a:prstGeom prst="rect">
            <a:avLst/>
          </a:prstGeom>
          <a:solidFill>
            <a:srgbClr val="112D4E"/>
          </a:solidFill>
          <a:ln w="12700">
            <a:solidFill>
              <a:srgbClr val="1E4060"/>
            </a:solidFill>
            <a:prstDash val="solid"/>
          </a:ln>
        </p:spPr>
      </p:sp>
      <p:sp>
        <p:nvSpPr>
          <p:cNvPr id="26" name="Text 24"/>
          <p:cNvSpPr/>
          <p:nvPr/>
        </p:nvSpPr>
        <p:spPr>
          <a:xfrm>
            <a:off x="548640" y="395020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Dropout (0.5)</a:t>
            </a:r>
            <a:endParaRPr lang="en-US" sz="1100" dirty="0"/>
          </a:p>
        </p:txBody>
      </p:sp>
      <p:sp>
        <p:nvSpPr>
          <p:cNvPr id="27" name="Text 25"/>
          <p:cNvSpPr/>
          <p:nvPr/>
        </p:nvSpPr>
        <p:spPr>
          <a:xfrm>
            <a:off x="2286000" y="396849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Regularisation</a:t>
            </a:r>
            <a:endParaRPr lang="en-US" sz="1000" dirty="0"/>
          </a:p>
        </p:txBody>
      </p:sp>
      <p:sp>
        <p:nvSpPr>
          <p:cNvPr id="28" name="Shape 26"/>
          <p:cNvSpPr/>
          <p:nvPr/>
        </p:nvSpPr>
        <p:spPr>
          <a:xfrm>
            <a:off x="457200" y="4325112"/>
            <a:ext cx="3840480" cy="347472"/>
          </a:xfrm>
          <a:prstGeom prst="rect">
            <a:avLst/>
          </a:prstGeom>
          <a:solidFill>
            <a:srgbClr val="22D3A0"/>
          </a:solidFill>
          <a:ln w="12700">
            <a:solidFill>
              <a:srgbClr val="1E4060"/>
            </a:solidFill>
            <a:prstDash val="solid"/>
          </a:ln>
        </p:spPr>
      </p:sp>
      <p:sp>
        <p:nvSpPr>
          <p:cNvPr id="29" name="Text 27"/>
          <p:cNvSpPr/>
          <p:nvPr/>
        </p:nvSpPr>
        <p:spPr>
          <a:xfrm>
            <a:off x="548640" y="4361688"/>
            <a:ext cx="1645920" cy="274320"/>
          </a:xfrm>
          <a:prstGeom prst="rect">
            <a:avLst/>
          </a:prstGeom>
          <a:noFill/>
          <a:ln/>
        </p:spPr>
        <p:txBody>
          <a:bodyPr wrap="square" lIns="0" tIns="0" rIns="0" bIns="0" rtlCol="0" anchor="ctr"/>
          <a:lstStyle/>
          <a:p>
            <a:pPr marL="0" indent="0">
              <a:buNone/>
            </a:pPr>
            <a:r>
              <a:rPr lang="en-US" sz="1100" b="1" dirty="0">
                <a:solidFill>
                  <a:srgbClr val="22D3A0"/>
                </a:solidFill>
                <a:latin typeface="Calibri" pitchFamily="34" charset="0"/>
                <a:ea typeface="Calibri" pitchFamily="34" charset="-122"/>
                <a:cs typeface="Calibri" pitchFamily="34" charset="-120"/>
              </a:rPr>
              <a:t>Output Dense</a:t>
            </a:r>
            <a:endParaRPr lang="en-US" sz="1100" dirty="0"/>
          </a:p>
        </p:txBody>
      </p:sp>
      <p:sp>
        <p:nvSpPr>
          <p:cNvPr id="30" name="Text 28"/>
          <p:cNvSpPr/>
          <p:nvPr/>
        </p:nvSpPr>
        <p:spPr>
          <a:xfrm>
            <a:off x="2286000" y="4379976"/>
            <a:ext cx="1920240" cy="237744"/>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2 units → Sigmoid</a:t>
            </a:r>
            <a:endParaRPr lang="en-US" sz="1000" dirty="0"/>
          </a:p>
        </p:txBody>
      </p:sp>
      <p:sp>
        <p:nvSpPr>
          <p:cNvPr id="31" name="Shape 29"/>
          <p:cNvSpPr/>
          <p:nvPr/>
        </p:nvSpPr>
        <p:spPr>
          <a:xfrm>
            <a:off x="4663440" y="1005840"/>
            <a:ext cx="4160520" cy="1828800"/>
          </a:xfrm>
          <a:prstGeom prst="rect">
            <a:avLst/>
          </a:prstGeom>
          <a:solidFill>
            <a:srgbClr val="132840"/>
          </a:solidFill>
          <a:ln w="12700">
            <a:solidFill>
              <a:srgbClr val="1E4060"/>
            </a:solidFill>
            <a:prstDash val="solid"/>
          </a:ln>
        </p:spPr>
      </p:sp>
      <p:sp>
        <p:nvSpPr>
          <p:cNvPr id="32" name="Text 30"/>
          <p:cNvSpPr/>
          <p:nvPr/>
        </p:nvSpPr>
        <p:spPr>
          <a:xfrm>
            <a:off x="4732020" y="1027176"/>
            <a:ext cx="3886200" cy="274320"/>
          </a:xfrm>
          <a:prstGeom prst="rect">
            <a:avLst/>
          </a:prstGeom>
          <a:noFill/>
          <a:ln/>
        </p:spPr>
        <p:txBody>
          <a:bodyPr wrap="square" lIns="0" tIns="0" rIns="0" bIns="0" rtlCol="0" anchor="ctr"/>
          <a:lstStyle/>
          <a:p>
            <a:pPr marL="0" indent="0">
              <a:buNone/>
            </a:pPr>
            <a:r>
              <a:rPr lang="en-US" sz="1300" b="1" dirty="0">
                <a:solidFill>
                  <a:srgbClr val="00C2CB"/>
                </a:solidFill>
                <a:latin typeface="Calibri" pitchFamily="34" charset="0"/>
                <a:ea typeface="Calibri" pitchFamily="34" charset="-122"/>
                <a:cs typeface="Calibri" pitchFamily="34" charset="-120"/>
              </a:rPr>
              <a:t>Model Specifications</a:t>
            </a:r>
            <a:endParaRPr lang="en-US" sz="1300" dirty="0"/>
          </a:p>
        </p:txBody>
      </p:sp>
      <p:sp>
        <p:nvSpPr>
          <p:cNvPr id="33" name="Text 31"/>
          <p:cNvSpPr/>
          <p:nvPr/>
        </p:nvSpPr>
        <p:spPr>
          <a:xfrm>
            <a:off x="4732020" y="1358001"/>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Input Shape:</a:t>
            </a:r>
            <a:endParaRPr lang="en-US" sz="1100" dirty="0"/>
          </a:p>
        </p:txBody>
      </p:sp>
      <p:sp>
        <p:nvSpPr>
          <p:cNvPr id="34" name="Text 32"/>
          <p:cNvSpPr/>
          <p:nvPr/>
        </p:nvSpPr>
        <p:spPr>
          <a:xfrm>
            <a:off x="6423660" y="1358001"/>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128 × 128 × 1</a:t>
            </a:r>
            <a:endParaRPr lang="en-US" sz="1100" dirty="0"/>
          </a:p>
        </p:txBody>
      </p:sp>
      <p:sp>
        <p:nvSpPr>
          <p:cNvPr id="35" name="Text 33"/>
          <p:cNvSpPr/>
          <p:nvPr/>
        </p:nvSpPr>
        <p:spPr>
          <a:xfrm>
            <a:off x="4732020" y="1614033"/>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Optimizer:</a:t>
            </a:r>
            <a:endParaRPr lang="en-US" sz="1100" dirty="0"/>
          </a:p>
        </p:txBody>
      </p:sp>
      <p:sp>
        <p:nvSpPr>
          <p:cNvPr id="36" name="Text 34"/>
          <p:cNvSpPr/>
          <p:nvPr/>
        </p:nvSpPr>
        <p:spPr>
          <a:xfrm>
            <a:off x="6423660" y="1614033"/>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Adam</a:t>
            </a:r>
            <a:endParaRPr lang="en-US" sz="1100" dirty="0"/>
          </a:p>
        </p:txBody>
      </p:sp>
      <p:sp>
        <p:nvSpPr>
          <p:cNvPr id="37" name="Text 35"/>
          <p:cNvSpPr/>
          <p:nvPr/>
        </p:nvSpPr>
        <p:spPr>
          <a:xfrm>
            <a:off x="4732020" y="1870065"/>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Loss Function:</a:t>
            </a:r>
            <a:endParaRPr lang="en-US" sz="1100" dirty="0"/>
          </a:p>
        </p:txBody>
      </p:sp>
      <p:sp>
        <p:nvSpPr>
          <p:cNvPr id="38" name="Text 36"/>
          <p:cNvSpPr/>
          <p:nvPr/>
        </p:nvSpPr>
        <p:spPr>
          <a:xfrm>
            <a:off x="6423660" y="1870065"/>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Binary Cross-Entropy</a:t>
            </a:r>
            <a:endParaRPr lang="en-US" sz="1100" dirty="0"/>
          </a:p>
        </p:txBody>
      </p:sp>
      <p:sp>
        <p:nvSpPr>
          <p:cNvPr id="39" name="Text 37"/>
          <p:cNvSpPr/>
          <p:nvPr/>
        </p:nvSpPr>
        <p:spPr>
          <a:xfrm>
            <a:off x="4732020" y="2126097"/>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Epochs:</a:t>
            </a:r>
            <a:endParaRPr lang="en-US" sz="1100" dirty="0"/>
          </a:p>
        </p:txBody>
      </p:sp>
      <p:sp>
        <p:nvSpPr>
          <p:cNvPr id="40" name="Text 38"/>
          <p:cNvSpPr/>
          <p:nvPr/>
        </p:nvSpPr>
        <p:spPr>
          <a:xfrm>
            <a:off x="6423660" y="2126097"/>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1" name="Text 39"/>
          <p:cNvSpPr/>
          <p:nvPr/>
        </p:nvSpPr>
        <p:spPr>
          <a:xfrm>
            <a:off x="4732020" y="2382129"/>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Batch Size:</a:t>
            </a:r>
            <a:endParaRPr lang="en-US" sz="1100" dirty="0"/>
          </a:p>
        </p:txBody>
      </p:sp>
      <p:sp>
        <p:nvSpPr>
          <p:cNvPr id="42" name="Text 40"/>
          <p:cNvSpPr/>
          <p:nvPr/>
        </p:nvSpPr>
        <p:spPr>
          <a:xfrm>
            <a:off x="6423660" y="2382129"/>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433 (CPU-optimized)</a:t>
            </a:r>
            <a:endParaRPr lang="en-US" sz="1100" dirty="0"/>
          </a:p>
        </p:txBody>
      </p:sp>
      <p:sp>
        <p:nvSpPr>
          <p:cNvPr id="43" name="Text 41"/>
          <p:cNvSpPr/>
          <p:nvPr/>
        </p:nvSpPr>
        <p:spPr>
          <a:xfrm>
            <a:off x="4732020" y="2609557"/>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Output:</a:t>
            </a:r>
            <a:endParaRPr lang="en-US" sz="1100" dirty="0"/>
          </a:p>
        </p:txBody>
      </p:sp>
      <p:sp>
        <p:nvSpPr>
          <p:cNvPr id="44" name="Text 42"/>
          <p:cNvSpPr/>
          <p:nvPr/>
        </p:nvSpPr>
        <p:spPr>
          <a:xfrm>
            <a:off x="6423660" y="2609557"/>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Sigmoid (Binary)</a:t>
            </a:r>
            <a:endParaRPr lang="en-US" sz="1100" dirty="0"/>
          </a:p>
        </p:txBody>
      </p:sp>
      <p:sp>
        <p:nvSpPr>
          <p:cNvPr id="45" name="Shape 43"/>
          <p:cNvSpPr/>
          <p:nvPr/>
        </p:nvSpPr>
        <p:spPr>
          <a:xfrm>
            <a:off x="4663440" y="2971800"/>
            <a:ext cx="4160520" cy="1965960"/>
          </a:xfrm>
          <a:prstGeom prst="rect">
            <a:avLst/>
          </a:prstGeom>
          <a:solidFill>
            <a:srgbClr val="132840"/>
          </a:solidFill>
          <a:ln w="12700">
            <a:solidFill>
              <a:srgbClr val="1E4060"/>
            </a:solidFill>
            <a:prstDash val="solid"/>
          </a:ln>
        </p:spPr>
      </p:sp>
      <p:sp>
        <p:nvSpPr>
          <p:cNvPr id="46" name="Text 44"/>
          <p:cNvSpPr/>
          <p:nvPr/>
        </p:nvSpPr>
        <p:spPr>
          <a:xfrm>
            <a:off x="4800600" y="3044952"/>
            <a:ext cx="3886200" cy="274320"/>
          </a:xfrm>
          <a:prstGeom prst="rect">
            <a:avLst/>
          </a:prstGeom>
          <a:noFill/>
          <a:ln/>
        </p:spPr>
        <p:txBody>
          <a:bodyPr wrap="square" lIns="0" tIns="0" rIns="0" bIns="0" rtlCol="0" anchor="ctr"/>
          <a:lstStyle/>
          <a:p>
            <a:pPr marL="0" indent="0">
              <a:buNone/>
            </a:pPr>
            <a:r>
              <a:rPr lang="en-US" sz="1300" b="1" dirty="0">
                <a:solidFill>
                  <a:srgbClr val="22D3A0"/>
                </a:solidFill>
                <a:latin typeface="Calibri" pitchFamily="34" charset="0"/>
                <a:ea typeface="Calibri" pitchFamily="34" charset="-122"/>
                <a:cs typeface="Calibri" pitchFamily="34" charset="-120"/>
              </a:rPr>
              <a:t>Performance Results</a:t>
            </a:r>
            <a:endParaRPr lang="en-US" sz="1300" dirty="0"/>
          </a:p>
        </p:txBody>
      </p:sp>
      <p:sp>
        <p:nvSpPr>
          <p:cNvPr id="47" name="Shape 45"/>
          <p:cNvSpPr/>
          <p:nvPr/>
        </p:nvSpPr>
        <p:spPr>
          <a:xfrm>
            <a:off x="4800600" y="3401568"/>
            <a:ext cx="1783080" cy="1143000"/>
          </a:xfrm>
          <a:prstGeom prst="rect">
            <a:avLst/>
          </a:prstGeom>
          <a:solidFill>
            <a:srgbClr val="132840"/>
          </a:solidFill>
          <a:ln w="12700">
            <a:solidFill>
              <a:srgbClr val="1E4060"/>
            </a:solidFill>
            <a:prstDash val="solid"/>
          </a:ln>
        </p:spPr>
      </p:sp>
      <p:sp>
        <p:nvSpPr>
          <p:cNvPr id="48" name="Text 46"/>
          <p:cNvSpPr/>
          <p:nvPr/>
        </p:nvSpPr>
        <p:spPr>
          <a:xfrm>
            <a:off x="4800600" y="3474720"/>
            <a:ext cx="1783080" cy="628650"/>
          </a:xfrm>
          <a:prstGeom prst="rect">
            <a:avLst/>
          </a:prstGeom>
          <a:noFill/>
          <a:ln/>
        </p:spPr>
        <p:txBody>
          <a:bodyPr wrap="square" lIns="0" tIns="0" rIns="0" bIns="0" rtlCol="0" anchor="ctr"/>
          <a:lstStyle/>
          <a:p>
            <a:pPr marL="0" indent="0" algn="ctr">
              <a:buNone/>
            </a:pPr>
            <a:r>
              <a:rPr lang="en-US" sz="3000" b="1" dirty="0">
                <a:solidFill>
                  <a:srgbClr val="00C2CB"/>
                </a:solidFill>
                <a:latin typeface="Calibri" pitchFamily="34" charset="0"/>
                <a:ea typeface="Calibri" pitchFamily="34" charset="-122"/>
                <a:cs typeface="Calibri" pitchFamily="34" charset="-120"/>
              </a:rPr>
              <a:t>97.3%</a:t>
            </a:r>
            <a:endParaRPr lang="en-US" sz="3000" dirty="0"/>
          </a:p>
        </p:txBody>
      </p:sp>
      <p:sp>
        <p:nvSpPr>
          <p:cNvPr id="49" name="Text 47"/>
          <p:cNvSpPr/>
          <p:nvPr/>
        </p:nvSpPr>
        <p:spPr>
          <a:xfrm>
            <a:off x="4800600" y="4087368"/>
            <a:ext cx="1783080" cy="40005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Test Accuracy</a:t>
            </a:r>
            <a:endParaRPr lang="en-US" sz="1100" dirty="0"/>
          </a:p>
        </p:txBody>
      </p:sp>
      <p:sp>
        <p:nvSpPr>
          <p:cNvPr id="50" name="Shape 48"/>
          <p:cNvSpPr/>
          <p:nvPr/>
        </p:nvSpPr>
        <p:spPr>
          <a:xfrm>
            <a:off x="6675120" y="3401568"/>
            <a:ext cx="1783080" cy="1143000"/>
          </a:xfrm>
          <a:prstGeom prst="rect">
            <a:avLst/>
          </a:prstGeom>
          <a:solidFill>
            <a:srgbClr val="132840"/>
          </a:solidFill>
          <a:ln w="12700">
            <a:solidFill>
              <a:srgbClr val="1E4060"/>
            </a:solidFill>
            <a:prstDash val="solid"/>
          </a:ln>
        </p:spPr>
      </p:sp>
      <p:sp>
        <p:nvSpPr>
          <p:cNvPr id="51" name="Text 49"/>
          <p:cNvSpPr/>
          <p:nvPr/>
        </p:nvSpPr>
        <p:spPr>
          <a:xfrm>
            <a:off x="6675120" y="3474720"/>
            <a:ext cx="1783080" cy="628650"/>
          </a:xfrm>
          <a:prstGeom prst="rect">
            <a:avLst/>
          </a:prstGeom>
          <a:noFill/>
          <a:ln/>
        </p:spPr>
        <p:txBody>
          <a:bodyPr wrap="square" lIns="0" tIns="0" rIns="0" bIns="0" rtlCol="0" anchor="ctr"/>
          <a:lstStyle/>
          <a:p>
            <a:pPr marL="0" indent="0" algn="ctr">
              <a:buNone/>
            </a:pPr>
            <a:r>
              <a:rPr lang="en-US" sz="3000" b="1" dirty="0">
                <a:solidFill>
                  <a:srgbClr val="22D3A0"/>
                </a:solidFill>
                <a:latin typeface="Calibri" pitchFamily="34" charset="0"/>
                <a:ea typeface="Calibri" pitchFamily="34" charset="-122"/>
                <a:cs typeface="Calibri" pitchFamily="34" charset="-120"/>
              </a:rPr>
              <a:t>0.97</a:t>
            </a:r>
            <a:endParaRPr lang="en-US" sz="3000" dirty="0"/>
          </a:p>
        </p:txBody>
      </p:sp>
      <p:sp>
        <p:nvSpPr>
          <p:cNvPr id="52" name="Text 50"/>
          <p:cNvSpPr/>
          <p:nvPr/>
        </p:nvSpPr>
        <p:spPr>
          <a:xfrm>
            <a:off x="6675120" y="4087368"/>
            <a:ext cx="1783080" cy="40005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F1-Score</a:t>
            </a:r>
            <a:endParaRPr lang="en-US" sz="1100" dirty="0"/>
          </a:p>
        </p:txBody>
      </p:sp>
      <p:sp>
        <p:nvSpPr>
          <p:cNvPr id="53" name="Text 51"/>
          <p:cNvSpPr/>
          <p:nvPr/>
        </p:nvSpPr>
        <p:spPr>
          <a:xfrm>
            <a:off x="4663440" y="4663440"/>
            <a:ext cx="4160520" cy="201168"/>
          </a:xfrm>
          <a:prstGeom prst="rect">
            <a:avLst/>
          </a:prstGeom>
          <a:noFill/>
          <a:ln/>
        </p:spPr>
        <p:txBody>
          <a:bodyPr wrap="square" lIns="0" tIns="0" rIns="0" bIns="0" rtlCol="0" anchor="ctr"/>
          <a:lstStyle/>
          <a:p>
            <a:pPr marL="0" indent="0" algn="ctr">
              <a:buNone/>
            </a:pPr>
            <a:r>
              <a:rPr lang="en-US" sz="1000" i="1" dirty="0">
                <a:solidFill>
                  <a:srgbClr val="7FA8BD"/>
                </a:solidFill>
                <a:latin typeface="Calibri" pitchFamily="34" charset="0"/>
                <a:ea typeface="Calibri" pitchFamily="34" charset="-122"/>
                <a:cs typeface="Calibri" pitchFamily="34" charset="-120"/>
              </a:rPr>
              <a:t>Precision (Tumor): 97%   |   Recall (Tumor): 97%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2 — Multi-Class Classification (MobileNetV2)</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Transfer learning for Glioma, Meningioma, Pituitary &amp; No Tumor</a:t>
            </a:r>
            <a:endParaRPr lang="en-US" sz="1100" dirty="0"/>
          </a:p>
        </p:txBody>
      </p:sp>
      <p:sp>
        <p:nvSpPr>
          <p:cNvPr id="5" name="Shape 3"/>
          <p:cNvSpPr/>
          <p:nvPr/>
        </p:nvSpPr>
        <p:spPr>
          <a:xfrm>
            <a:off x="320040" y="1005840"/>
            <a:ext cx="4114800" cy="3931920"/>
          </a:xfrm>
          <a:prstGeom prst="rect">
            <a:avLst/>
          </a:prstGeom>
          <a:solidFill>
            <a:srgbClr val="132840"/>
          </a:solidFill>
          <a:ln w="12700">
            <a:solidFill>
              <a:srgbClr val="1E4060"/>
            </a:solidFill>
            <a:prstDash val="solid"/>
          </a:ln>
        </p:spPr>
      </p:sp>
      <p:sp>
        <p:nvSpPr>
          <p:cNvPr id="6" name="Text 4"/>
          <p:cNvSpPr/>
          <p:nvPr/>
        </p:nvSpPr>
        <p:spPr>
          <a:xfrm>
            <a:off x="457200" y="1078992"/>
            <a:ext cx="3840480" cy="27432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MobileNetV2 Architecture</a:t>
            </a:r>
            <a:endParaRPr lang="en-US" sz="1300" dirty="0"/>
          </a:p>
        </p:txBody>
      </p:sp>
      <p:sp>
        <p:nvSpPr>
          <p:cNvPr id="7" name="Shape 5"/>
          <p:cNvSpPr/>
          <p:nvPr/>
        </p:nvSpPr>
        <p:spPr>
          <a:xfrm>
            <a:off x="457200" y="1444752"/>
            <a:ext cx="3840480" cy="393192"/>
          </a:xfrm>
          <a:prstGeom prst="rect">
            <a:avLst/>
          </a:prstGeom>
          <a:solidFill>
            <a:srgbClr val="1E4060"/>
          </a:solidFill>
          <a:ln w="12700">
            <a:solidFill>
              <a:srgbClr val="1E4060"/>
            </a:solidFill>
            <a:prstDash val="solid"/>
          </a:ln>
        </p:spPr>
      </p:sp>
      <p:sp>
        <p:nvSpPr>
          <p:cNvPr id="8" name="Text 6"/>
          <p:cNvSpPr/>
          <p:nvPr/>
        </p:nvSpPr>
        <p:spPr>
          <a:xfrm>
            <a:off x="548640" y="1499616"/>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Input</a:t>
            </a:r>
            <a:endParaRPr lang="en-US" sz="1100" dirty="0"/>
          </a:p>
        </p:txBody>
      </p:sp>
      <p:sp>
        <p:nvSpPr>
          <p:cNvPr id="9" name="Text 7"/>
          <p:cNvSpPr/>
          <p:nvPr/>
        </p:nvSpPr>
        <p:spPr>
          <a:xfrm>
            <a:off x="2286000" y="1517904"/>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224 × 224 × 3  (RGB)</a:t>
            </a:r>
            <a:endParaRPr lang="en-US" sz="1000" dirty="0"/>
          </a:p>
        </p:txBody>
      </p:sp>
      <p:sp>
        <p:nvSpPr>
          <p:cNvPr id="10" name="Shape 8"/>
          <p:cNvSpPr/>
          <p:nvPr/>
        </p:nvSpPr>
        <p:spPr>
          <a:xfrm>
            <a:off x="457200" y="1920240"/>
            <a:ext cx="3840480" cy="393192"/>
          </a:xfrm>
          <a:prstGeom prst="rect">
            <a:avLst/>
          </a:prstGeom>
          <a:solidFill>
            <a:srgbClr val="0D4A6E"/>
          </a:solidFill>
          <a:ln w="12700">
            <a:solidFill>
              <a:srgbClr val="1E4060"/>
            </a:solidFill>
            <a:prstDash val="solid"/>
          </a:ln>
        </p:spPr>
      </p:sp>
      <p:sp>
        <p:nvSpPr>
          <p:cNvPr id="11" name="Text 9"/>
          <p:cNvSpPr/>
          <p:nvPr/>
        </p:nvSpPr>
        <p:spPr>
          <a:xfrm>
            <a:off x="548640" y="1975104"/>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MobileNetV2 Base</a:t>
            </a:r>
            <a:endParaRPr lang="en-US" sz="1100" dirty="0"/>
          </a:p>
        </p:txBody>
      </p:sp>
      <p:sp>
        <p:nvSpPr>
          <p:cNvPr id="12" name="Text 10"/>
          <p:cNvSpPr/>
          <p:nvPr/>
        </p:nvSpPr>
        <p:spPr>
          <a:xfrm>
            <a:off x="2286000" y="1993392"/>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Pretrained ImageNet, Frozen</a:t>
            </a:r>
            <a:endParaRPr lang="en-US" sz="1000" dirty="0"/>
          </a:p>
        </p:txBody>
      </p:sp>
      <p:sp>
        <p:nvSpPr>
          <p:cNvPr id="13" name="Shape 11"/>
          <p:cNvSpPr/>
          <p:nvPr/>
        </p:nvSpPr>
        <p:spPr>
          <a:xfrm>
            <a:off x="457200" y="2395728"/>
            <a:ext cx="3840480" cy="393192"/>
          </a:xfrm>
          <a:prstGeom prst="rect">
            <a:avLst/>
          </a:prstGeom>
          <a:solidFill>
            <a:srgbClr val="112D4E"/>
          </a:solidFill>
          <a:ln w="12700">
            <a:solidFill>
              <a:srgbClr val="1E4060"/>
            </a:solidFill>
            <a:prstDash val="solid"/>
          </a:ln>
        </p:spPr>
      </p:sp>
      <p:sp>
        <p:nvSpPr>
          <p:cNvPr id="14" name="Text 12"/>
          <p:cNvSpPr/>
          <p:nvPr/>
        </p:nvSpPr>
        <p:spPr>
          <a:xfrm>
            <a:off x="548640" y="2450592"/>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GlobalAvgPool2D</a:t>
            </a:r>
            <a:endParaRPr lang="en-US" sz="1100" dirty="0"/>
          </a:p>
        </p:txBody>
      </p:sp>
      <p:sp>
        <p:nvSpPr>
          <p:cNvPr id="15" name="Text 13"/>
          <p:cNvSpPr/>
          <p:nvPr/>
        </p:nvSpPr>
        <p:spPr>
          <a:xfrm>
            <a:off x="2286000" y="2468880"/>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Feature compression</a:t>
            </a:r>
            <a:endParaRPr lang="en-US" sz="1000" dirty="0"/>
          </a:p>
        </p:txBody>
      </p:sp>
      <p:sp>
        <p:nvSpPr>
          <p:cNvPr id="16" name="Shape 14"/>
          <p:cNvSpPr/>
          <p:nvPr/>
        </p:nvSpPr>
        <p:spPr>
          <a:xfrm>
            <a:off x="457200" y="2871216"/>
            <a:ext cx="3840480" cy="393192"/>
          </a:xfrm>
          <a:prstGeom prst="rect">
            <a:avLst/>
          </a:prstGeom>
          <a:solidFill>
            <a:srgbClr val="0D4A6E"/>
          </a:solidFill>
          <a:ln w="12700">
            <a:solidFill>
              <a:srgbClr val="1E4060"/>
            </a:solidFill>
            <a:prstDash val="solid"/>
          </a:ln>
        </p:spPr>
      </p:sp>
      <p:sp>
        <p:nvSpPr>
          <p:cNvPr id="17" name="Text 15"/>
          <p:cNvSpPr/>
          <p:nvPr/>
        </p:nvSpPr>
        <p:spPr>
          <a:xfrm>
            <a:off x="548640" y="2926080"/>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Dense 128 + ReLU</a:t>
            </a:r>
            <a:endParaRPr lang="en-US" sz="1100" dirty="0"/>
          </a:p>
        </p:txBody>
      </p:sp>
      <p:sp>
        <p:nvSpPr>
          <p:cNvPr id="18" name="Text 16"/>
          <p:cNvSpPr/>
          <p:nvPr/>
        </p:nvSpPr>
        <p:spPr>
          <a:xfrm>
            <a:off x="2286000" y="2944368"/>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Trainable layer</a:t>
            </a:r>
            <a:endParaRPr lang="en-US" sz="1000" dirty="0"/>
          </a:p>
        </p:txBody>
      </p:sp>
      <p:sp>
        <p:nvSpPr>
          <p:cNvPr id="19" name="Shape 17"/>
          <p:cNvSpPr/>
          <p:nvPr/>
        </p:nvSpPr>
        <p:spPr>
          <a:xfrm>
            <a:off x="457200" y="3346704"/>
            <a:ext cx="3840480" cy="393192"/>
          </a:xfrm>
          <a:prstGeom prst="rect">
            <a:avLst/>
          </a:prstGeom>
          <a:solidFill>
            <a:srgbClr val="112D4E"/>
          </a:solidFill>
          <a:ln w="12700">
            <a:solidFill>
              <a:srgbClr val="1E4060"/>
            </a:solidFill>
            <a:prstDash val="solid"/>
          </a:ln>
        </p:spPr>
      </p:sp>
      <p:sp>
        <p:nvSpPr>
          <p:cNvPr id="20" name="Text 18"/>
          <p:cNvSpPr/>
          <p:nvPr/>
        </p:nvSpPr>
        <p:spPr>
          <a:xfrm>
            <a:off x="548640" y="3401568"/>
            <a:ext cx="1645920" cy="274320"/>
          </a:xfrm>
          <a:prstGeom prst="rect">
            <a:avLst/>
          </a:prstGeom>
          <a:noFill/>
          <a:ln/>
        </p:spPr>
        <p:txBody>
          <a:bodyPr wrap="square" lIns="0" tIns="0" rIns="0" bIns="0" rtlCol="0" anchor="ctr"/>
          <a:lstStyle/>
          <a:p>
            <a:pPr marL="0" indent="0">
              <a:buNone/>
            </a:pPr>
            <a:r>
              <a:rPr lang="en-US" sz="1100" b="1" dirty="0">
                <a:solidFill>
                  <a:srgbClr val="E2F4F7"/>
                </a:solidFill>
                <a:latin typeface="Calibri" pitchFamily="34" charset="0"/>
                <a:ea typeface="Calibri" pitchFamily="34" charset="-122"/>
                <a:cs typeface="Calibri" pitchFamily="34" charset="-120"/>
              </a:rPr>
              <a:t>Dropout (0.3)</a:t>
            </a:r>
            <a:endParaRPr lang="en-US" sz="1100" dirty="0"/>
          </a:p>
        </p:txBody>
      </p:sp>
      <p:sp>
        <p:nvSpPr>
          <p:cNvPr id="21" name="Text 19"/>
          <p:cNvSpPr/>
          <p:nvPr/>
        </p:nvSpPr>
        <p:spPr>
          <a:xfrm>
            <a:off x="2286000" y="3419856"/>
            <a:ext cx="1920240" cy="237744"/>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Regularisation</a:t>
            </a:r>
            <a:endParaRPr lang="en-US" sz="1000" dirty="0"/>
          </a:p>
        </p:txBody>
      </p:sp>
      <p:sp>
        <p:nvSpPr>
          <p:cNvPr id="22" name="Shape 20"/>
          <p:cNvSpPr/>
          <p:nvPr/>
        </p:nvSpPr>
        <p:spPr>
          <a:xfrm>
            <a:off x="457200" y="3822192"/>
            <a:ext cx="3840480" cy="393192"/>
          </a:xfrm>
          <a:prstGeom prst="rect">
            <a:avLst/>
          </a:prstGeom>
          <a:solidFill>
            <a:srgbClr val="22D3A0"/>
          </a:solidFill>
          <a:ln w="12700">
            <a:solidFill>
              <a:srgbClr val="1E4060"/>
            </a:solidFill>
            <a:prstDash val="solid"/>
          </a:ln>
        </p:spPr>
      </p:sp>
      <p:sp>
        <p:nvSpPr>
          <p:cNvPr id="23" name="Text 21"/>
          <p:cNvSpPr/>
          <p:nvPr/>
        </p:nvSpPr>
        <p:spPr>
          <a:xfrm>
            <a:off x="548640" y="3877056"/>
            <a:ext cx="1645920" cy="274320"/>
          </a:xfrm>
          <a:prstGeom prst="rect">
            <a:avLst/>
          </a:prstGeom>
          <a:noFill/>
          <a:ln/>
        </p:spPr>
        <p:txBody>
          <a:bodyPr wrap="square" lIns="0" tIns="0" rIns="0" bIns="0" rtlCol="0" anchor="ctr"/>
          <a:lstStyle/>
          <a:p>
            <a:pPr marL="0" indent="0">
              <a:buNone/>
            </a:pPr>
            <a:r>
              <a:rPr lang="en-US" sz="1100" b="1" dirty="0">
                <a:solidFill>
                  <a:srgbClr val="22D3A0"/>
                </a:solidFill>
                <a:latin typeface="Calibri" pitchFamily="34" charset="0"/>
                <a:ea typeface="Calibri" pitchFamily="34" charset="-122"/>
                <a:cs typeface="Calibri" pitchFamily="34" charset="-120"/>
              </a:rPr>
              <a:t>Dense 4 + Softmax</a:t>
            </a:r>
            <a:endParaRPr lang="en-US" sz="1100" dirty="0"/>
          </a:p>
        </p:txBody>
      </p:sp>
      <p:sp>
        <p:nvSpPr>
          <p:cNvPr id="24" name="Text 22"/>
          <p:cNvSpPr/>
          <p:nvPr/>
        </p:nvSpPr>
        <p:spPr>
          <a:xfrm>
            <a:off x="2286000" y="3895344"/>
            <a:ext cx="1920240" cy="237744"/>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4-class output</a:t>
            </a:r>
            <a:endParaRPr lang="en-US" sz="1000" dirty="0"/>
          </a:p>
        </p:txBody>
      </p:sp>
      <p:sp>
        <p:nvSpPr>
          <p:cNvPr id="25" name="Shape 23"/>
          <p:cNvSpPr/>
          <p:nvPr/>
        </p:nvSpPr>
        <p:spPr>
          <a:xfrm>
            <a:off x="4663440" y="1005840"/>
            <a:ext cx="4160520" cy="1828800"/>
          </a:xfrm>
          <a:prstGeom prst="rect">
            <a:avLst/>
          </a:prstGeom>
          <a:solidFill>
            <a:srgbClr val="132840"/>
          </a:solidFill>
          <a:ln w="12700">
            <a:solidFill>
              <a:srgbClr val="1E4060"/>
            </a:solidFill>
            <a:prstDash val="solid"/>
          </a:ln>
        </p:spPr>
      </p:sp>
      <p:sp>
        <p:nvSpPr>
          <p:cNvPr id="26" name="Text 24"/>
          <p:cNvSpPr/>
          <p:nvPr/>
        </p:nvSpPr>
        <p:spPr>
          <a:xfrm>
            <a:off x="4800600" y="1078992"/>
            <a:ext cx="3886200" cy="27432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Per-Class Performance</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663440" y="1389888"/>
          <a:ext cx="4160520" cy="1295400"/>
        </p:xfrm>
        <a:graphic>
          <a:graphicData uri="http://schemas.openxmlformats.org/drawingml/2006/table">
            <a:tbl>
              <a:tblPr/>
              <a:tblGrid>
                <a:gridCol w="12801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7FA8BD"/>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b="1" dirty="0">
                          <a:solidFill>
                            <a:srgbClr val="7FA8BD"/>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b="1" dirty="0">
                          <a:solidFill>
                            <a:srgbClr val="7FA8BD"/>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b="1" dirty="0">
                          <a:solidFill>
                            <a:srgbClr val="7FA8BD"/>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Glioma</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BBF24"/>
                          </a:solidFill>
                          <a:latin typeface="Calibri" pitchFamily="34" charset="0"/>
                          <a:ea typeface="Calibri" pitchFamily="34" charset="-122"/>
                          <a:cs typeface="Calibri" pitchFamily="34" charset="-120"/>
                        </a:rPr>
                        <a:t>0.76</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Meningioma</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0.85</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0.86</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0.86</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Pituitary</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22D3A0"/>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22D3A0"/>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No Tumor</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FFFFFF"/>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22D3A0"/>
                          </a:solidFill>
                          <a:latin typeface="Calibri" pitchFamily="34" charset="0"/>
                          <a:ea typeface="Calibri" pitchFamily="34" charset="-122"/>
                          <a:cs typeface="Calibri" pitchFamily="34" charset="-120"/>
                        </a:rPr>
                        <a:t>0.96</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4"/>
                  </a:ext>
                </a:extLst>
              </a:tr>
            </a:tbl>
          </a:graphicData>
        </a:graphic>
      </p:graphicFrame>
      <p:sp>
        <p:nvSpPr>
          <p:cNvPr id="28" name="Shape 25"/>
          <p:cNvSpPr/>
          <p:nvPr/>
        </p:nvSpPr>
        <p:spPr>
          <a:xfrm>
            <a:off x="4663440" y="2926080"/>
            <a:ext cx="4160520" cy="2011680"/>
          </a:xfrm>
          <a:prstGeom prst="rect">
            <a:avLst/>
          </a:prstGeom>
          <a:solidFill>
            <a:srgbClr val="132840"/>
          </a:solidFill>
          <a:ln w="12700">
            <a:solidFill>
              <a:srgbClr val="1E4060"/>
            </a:solidFill>
            <a:prstDash val="solid"/>
          </a:ln>
        </p:spPr>
      </p:sp>
      <p:sp>
        <p:nvSpPr>
          <p:cNvPr id="29" name="Text 26"/>
          <p:cNvSpPr/>
          <p:nvPr/>
        </p:nvSpPr>
        <p:spPr>
          <a:xfrm>
            <a:off x="4754880" y="2924438"/>
            <a:ext cx="3886200" cy="27432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Training Config &amp; Results</a:t>
            </a:r>
            <a:endParaRPr lang="en-US" sz="1300" dirty="0"/>
          </a:p>
        </p:txBody>
      </p:sp>
      <p:sp>
        <p:nvSpPr>
          <p:cNvPr id="30" name="Text 27"/>
          <p:cNvSpPr/>
          <p:nvPr/>
        </p:nvSpPr>
        <p:spPr>
          <a:xfrm>
            <a:off x="4754880" y="3262766"/>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Epochs:</a:t>
            </a:r>
            <a:endParaRPr lang="en-US" sz="1100" dirty="0"/>
          </a:p>
        </p:txBody>
      </p:sp>
      <p:sp>
        <p:nvSpPr>
          <p:cNvPr id="31" name="Text 28"/>
          <p:cNvSpPr/>
          <p:nvPr/>
        </p:nvSpPr>
        <p:spPr>
          <a:xfrm>
            <a:off x="6492240" y="3262766"/>
            <a:ext cx="219456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15</a:t>
            </a:r>
            <a:endParaRPr lang="en-US" sz="1100" dirty="0"/>
          </a:p>
        </p:txBody>
      </p:sp>
      <p:sp>
        <p:nvSpPr>
          <p:cNvPr id="32" name="Text 29"/>
          <p:cNvSpPr/>
          <p:nvPr/>
        </p:nvSpPr>
        <p:spPr>
          <a:xfrm>
            <a:off x="4754880" y="3518798"/>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Batch Size:</a:t>
            </a:r>
            <a:endParaRPr lang="en-US" sz="1100" dirty="0"/>
          </a:p>
        </p:txBody>
      </p:sp>
      <p:sp>
        <p:nvSpPr>
          <p:cNvPr id="33" name="Text 30"/>
          <p:cNvSpPr/>
          <p:nvPr/>
        </p:nvSpPr>
        <p:spPr>
          <a:xfrm>
            <a:off x="6492240" y="3518798"/>
            <a:ext cx="219456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175</a:t>
            </a:r>
            <a:endParaRPr lang="en-US" sz="1100" dirty="0"/>
          </a:p>
        </p:txBody>
      </p:sp>
      <p:sp>
        <p:nvSpPr>
          <p:cNvPr id="34" name="Text 31"/>
          <p:cNvSpPr/>
          <p:nvPr/>
        </p:nvSpPr>
        <p:spPr>
          <a:xfrm>
            <a:off x="4754880" y="3774830"/>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Optimizer:</a:t>
            </a:r>
            <a:endParaRPr lang="en-US" sz="1100" dirty="0"/>
          </a:p>
        </p:txBody>
      </p:sp>
      <p:sp>
        <p:nvSpPr>
          <p:cNvPr id="35" name="Text 32"/>
          <p:cNvSpPr/>
          <p:nvPr/>
        </p:nvSpPr>
        <p:spPr>
          <a:xfrm>
            <a:off x="6492240" y="3774830"/>
            <a:ext cx="219456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Adam</a:t>
            </a:r>
            <a:endParaRPr lang="en-US" sz="1100" dirty="0"/>
          </a:p>
        </p:txBody>
      </p:sp>
      <p:sp>
        <p:nvSpPr>
          <p:cNvPr id="36" name="Text 33"/>
          <p:cNvSpPr/>
          <p:nvPr/>
        </p:nvSpPr>
        <p:spPr>
          <a:xfrm>
            <a:off x="4754880" y="4030862"/>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Loss:</a:t>
            </a:r>
            <a:endParaRPr lang="en-US" sz="1100" dirty="0"/>
          </a:p>
        </p:txBody>
      </p:sp>
      <p:sp>
        <p:nvSpPr>
          <p:cNvPr id="37" name="Text 34"/>
          <p:cNvSpPr/>
          <p:nvPr/>
        </p:nvSpPr>
        <p:spPr>
          <a:xfrm>
            <a:off x="6492240" y="4030862"/>
            <a:ext cx="219456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Categorical Cross-Entropy</a:t>
            </a:r>
            <a:endParaRPr lang="en-US" sz="1100" dirty="0"/>
          </a:p>
        </p:txBody>
      </p:sp>
      <p:sp>
        <p:nvSpPr>
          <p:cNvPr id="38" name="Text 35"/>
          <p:cNvSpPr/>
          <p:nvPr/>
        </p:nvSpPr>
        <p:spPr>
          <a:xfrm>
            <a:off x="4754880" y="4286894"/>
            <a:ext cx="1645920" cy="22860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Augmentation:</a:t>
            </a:r>
            <a:endParaRPr lang="en-US" sz="1100" dirty="0"/>
          </a:p>
        </p:txBody>
      </p:sp>
      <p:sp>
        <p:nvSpPr>
          <p:cNvPr id="39" name="Text 36"/>
          <p:cNvSpPr/>
          <p:nvPr/>
        </p:nvSpPr>
        <p:spPr>
          <a:xfrm>
            <a:off x="6492240" y="4286894"/>
            <a:ext cx="219456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Rotate / Zoom / Flip</a:t>
            </a:r>
            <a:endParaRPr lang="en-US" sz="1100" dirty="0"/>
          </a:p>
        </p:txBody>
      </p:sp>
      <p:sp>
        <p:nvSpPr>
          <p:cNvPr id="40" name="Shape 37"/>
          <p:cNvSpPr/>
          <p:nvPr/>
        </p:nvSpPr>
        <p:spPr>
          <a:xfrm>
            <a:off x="4862146" y="4507054"/>
            <a:ext cx="1538654" cy="383843"/>
          </a:xfrm>
          <a:prstGeom prst="rect">
            <a:avLst/>
          </a:prstGeom>
          <a:solidFill>
            <a:srgbClr val="132840"/>
          </a:solidFill>
          <a:ln w="12700">
            <a:solidFill>
              <a:srgbClr val="1E4060"/>
            </a:solidFill>
            <a:prstDash val="solid"/>
          </a:ln>
        </p:spPr>
      </p:sp>
      <p:sp>
        <p:nvSpPr>
          <p:cNvPr id="41" name="Text 38"/>
          <p:cNvSpPr/>
          <p:nvPr/>
        </p:nvSpPr>
        <p:spPr>
          <a:xfrm>
            <a:off x="4686300" y="4582726"/>
            <a:ext cx="1920240" cy="226314"/>
          </a:xfrm>
          <a:prstGeom prst="rect">
            <a:avLst/>
          </a:prstGeom>
          <a:noFill/>
          <a:ln/>
        </p:spPr>
        <p:txBody>
          <a:bodyPr wrap="square" lIns="0" tIns="0" rIns="0" bIns="0" rtlCol="0" anchor="ctr"/>
          <a:lstStyle/>
          <a:p>
            <a:pPr marL="0" indent="0" algn="ctr">
              <a:buNone/>
            </a:pPr>
            <a:r>
              <a:rPr lang="en-US" sz="3000" b="1" dirty="0">
                <a:solidFill>
                  <a:srgbClr val="38BDF8"/>
                </a:solidFill>
                <a:latin typeface="Calibri" pitchFamily="34" charset="0"/>
                <a:ea typeface="Calibri" pitchFamily="34" charset="-122"/>
                <a:cs typeface="Calibri" pitchFamily="34" charset="-120"/>
              </a:rPr>
              <a:t>90.0%</a:t>
            </a:r>
            <a:endParaRPr lang="en-US" sz="3000" dirty="0"/>
          </a:p>
        </p:txBody>
      </p:sp>
      <p:sp>
        <p:nvSpPr>
          <p:cNvPr id="42" name="Text 39"/>
          <p:cNvSpPr/>
          <p:nvPr/>
        </p:nvSpPr>
        <p:spPr>
          <a:xfrm>
            <a:off x="4709160" y="4818888"/>
            <a:ext cx="1920240" cy="144018"/>
          </a:xfrm>
          <a:prstGeom prst="rect">
            <a:avLst/>
          </a:prstGeom>
          <a:noFill/>
          <a:ln/>
        </p:spPr>
        <p:txBody>
          <a:bodyPr wrap="square" lIns="0" tIns="0" rIns="0" bIns="0" rtlCol="0" anchor="ctr"/>
          <a:lstStyle/>
          <a:p>
            <a:pPr marL="0" indent="0" algn="ctr">
              <a:buNone/>
            </a:pPr>
            <a:endParaRPr lang="en-US" sz="1100" dirty="0"/>
          </a:p>
        </p:txBody>
      </p:sp>
      <p:sp>
        <p:nvSpPr>
          <p:cNvPr id="43" name="Text 40"/>
          <p:cNvSpPr/>
          <p:nvPr/>
        </p:nvSpPr>
        <p:spPr>
          <a:xfrm>
            <a:off x="6675120" y="4645152"/>
            <a:ext cx="2103120" cy="274320"/>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Overall Accuracy  |  Macro Avg F1: 0.90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3 — Tumor Segmentation (U-Net)</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Pixel-wise tumor boundary delineation using encoder-decoder architecture</a:t>
            </a:r>
            <a:endParaRPr lang="en-US" sz="1100" dirty="0"/>
          </a:p>
        </p:txBody>
      </p:sp>
      <p:sp>
        <p:nvSpPr>
          <p:cNvPr id="5" name="Shape 3"/>
          <p:cNvSpPr/>
          <p:nvPr/>
        </p:nvSpPr>
        <p:spPr>
          <a:xfrm>
            <a:off x="320040" y="1005840"/>
            <a:ext cx="2560320" cy="3931920"/>
          </a:xfrm>
          <a:prstGeom prst="rect">
            <a:avLst/>
          </a:prstGeom>
          <a:solidFill>
            <a:srgbClr val="132840"/>
          </a:solidFill>
          <a:ln w="12700">
            <a:solidFill>
              <a:srgbClr val="1E4060"/>
            </a:solidFill>
            <a:prstDash val="solid"/>
          </a:ln>
        </p:spPr>
      </p:sp>
      <p:sp>
        <p:nvSpPr>
          <p:cNvPr id="6" name="Text 4"/>
          <p:cNvSpPr/>
          <p:nvPr/>
        </p:nvSpPr>
        <p:spPr>
          <a:xfrm>
            <a:off x="457200" y="1078992"/>
            <a:ext cx="2286000" cy="25603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ENCODER</a:t>
            </a:r>
            <a:endParaRPr lang="en-US" sz="1100" dirty="0"/>
          </a:p>
        </p:txBody>
      </p:sp>
      <p:sp>
        <p:nvSpPr>
          <p:cNvPr id="7" name="Shape 5"/>
          <p:cNvSpPr/>
          <p:nvPr/>
        </p:nvSpPr>
        <p:spPr>
          <a:xfrm>
            <a:off x="457200" y="1417320"/>
            <a:ext cx="2286000" cy="411480"/>
          </a:xfrm>
          <a:prstGeom prst="rect">
            <a:avLst/>
          </a:prstGeom>
          <a:solidFill>
            <a:srgbClr val="112D4E"/>
          </a:solidFill>
          <a:ln w="12700">
            <a:solidFill>
              <a:srgbClr val="00C2CB"/>
            </a:solidFill>
            <a:prstDash val="solid"/>
          </a:ln>
        </p:spPr>
      </p:sp>
      <p:sp>
        <p:nvSpPr>
          <p:cNvPr id="8" name="Text 6"/>
          <p:cNvSpPr/>
          <p:nvPr/>
        </p:nvSpPr>
        <p:spPr>
          <a:xfrm>
            <a:off x="457200" y="1417320"/>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Input 128×128×3</a:t>
            </a:r>
            <a:endParaRPr lang="en-US" sz="1100" dirty="0"/>
          </a:p>
        </p:txBody>
      </p:sp>
      <p:sp>
        <p:nvSpPr>
          <p:cNvPr id="9" name="Text 7"/>
          <p:cNvSpPr/>
          <p:nvPr/>
        </p:nvSpPr>
        <p:spPr>
          <a:xfrm>
            <a:off x="1371600" y="1828800"/>
            <a:ext cx="457200" cy="118872"/>
          </a:xfrm>
          <a:prstGeom prst="rect">
            <a:avLst/>
          </a:prstGeom>
          <a:noFill/>
          <a:ln/>
        </p:spPr>
        <p:txBody>
          <a:bodyPr wrap="square" lIns="0" tIns="0" rIns="0" bIns="0" rtlCol="0" anchor="ctr"/>
          <a:lstStyle/>
          <a:p>
            <a:pPr marL="0" indent="0" algn="ctr">
              <a:buNone/>
            </a:pPr>
            <a:r>
              <a:rPr lang="en-US" sz="900" dirty="0">
                <a:solidFill>
                  <a:srgbClr val="00C2CB"/>
                </a:solidFill>
                <a:latin typeface="Calibri" pitchFamily="34" charset="0"/>
                <a:ea typeface="Calibri" pitchFamily="34" charset="-122"/>
                <a:cs typeface="Calibri" pitchFamily="34" charset="-120"/>
              </a:rPr>
              <a:t>↓</a:t>
            </a:r>
            <a:endParaRPr lang="en-US" sz="900" dirty="0"/>
          </a:p>
        </p:txBody>
      </p:sp>
      <p:sp>
        <p:nvSpPr>
          <p:cNvPr id="10" name="Shape 8"/>
          <p:cNvSpPr/>
          <p:nvPr/>
        </p:nvSpPr>
        <p:spPr>
          <a:xfrm>
            <a:off x="457200" y="1947672"/>
            <a:ext cx="2286000" cy="411480"/>
          </a:xfrm>
          <a:prstGeom prst="rect">
            <a:avLst/>
          </a:prstGeom>
          <a:solidFill>
            <a:srgbClr val="112D4E"/>
          </a:solidFill>
          <a:ln w="12700">
            <a:solidFill>
              <a:srgbClr val="00C2CB"/>
            </a:solidFill>
            <a:prstDash val="solid"/>
          </a:ln>
        </p:spPr>
      </p:sp>
      <p:sp>
        <p:nvSpPr>
          <p:cNvPr id="11" name="Text 9"/>
          <p:cNvSpPr/>
          <p:nvPr/>
        </p:nvSpPr>
        <p:spPr>
          <a:xfrm>
            <a:off x="457200" y="1947672"/>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Conv+BN+ReLU</a:t>
            </a:r>
            <a:endParaRPr lang="en-US" sz="1100" dirty="0"/>
          </a:p>
        </p:txBody>
      </p:sp>
      <p:sp>
        <p:nvSpPr>
          <p:cNvPr id="12" name="Text 10"/>
          <p:cNvSpPr/>
          <p:nvPr/>
        </p:nvSpPr>
        <p:spPr>
          <a:xfrm>
            <a:off x="1371600" y="2359152"/>
            <a:ext cx="457200" cy="118872"/>
          </a:xfrm>
          <a:prstGeom prst="rect">
            <a:avLst/>
          </a:prstGeom>
          <a:noFill/>
          <a:ln/>
        </p:spPr>
        <p:txBody>
          <a:bodyPr wrap="square" lIns="0" tIns="0" rIns="0" bIns="0" rtlCol="0" anchor="ctr"/>
          <a:lstStyle/>
          <a:p>
            <a:pPr marL="0" indent="0" algn="ctr">
              <a:buNone/>
            </a:pPr>
            <a:r>
              <a:rPr lang="en-US" sz="900" dirty="0">
                <a:solidFill>
                  <a:srgbClr val="00C2CB"/>
                </a:solidFill>
                <a:latin typeface="Calibri" pitchFamily="34" charset="0"/>
                <a:ea typeface="Calibri" pitchFamily="34" charset="-122"/>
                <a:cs typeface="Calibri" pitchFamily="34" charset="-120"/>
              </a:rPr>
              <a:t>↓</a:t>
            </a:r>
            <a:endParaRPr lang="en-US" sz="900" dirty="0"/>
          </a:p>
        </p:txBody>
      </p:sp>
      <p:sp>
        <p:nvSpPr>
          <p:cNvPr id="13" name="Shape 11"/>
          <p:cNvSpPr/>
          <p:nvPr/>
        </p:nvSpPr>
        <p:spPr>
          <a:xfrm>
            <a:off x="457200" y="2478024"/>
            <a:ext cx="2286000" cy="411480"/>
          </a:xfrm>
          <a:prstGeom prst="rect">
            <a:avLst/>
          </a:prstGeom>
          <a:solidFill>
            <a:srgbClr val="112D4E"/>
          </a:solidFill>
          <a:ln w="12700">
            <a:solidFill>
              <a:srgbClr val="00C2CB"/>
            </a:solidFill>
            <a:prstDash val="solid"/>
          </a:ln>
        </p:spPr>
      </p:sp>
      <p:sp>
        <p:nvSpPr>
          <p:cNvPr id="14" name="Text 12"/>
          <p:cNvSpPr/>
          <p:nvPr/>
        </p:nvSpPr>
        <p:spPr>
          <a:xfrm>
            <a:off x="457200" y="2478024"/>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MaxPool ↓</a:t>
            </a:r>
            <a:endParaRPr lang="en-US" sz="1100" dirty="0"/>
          </a:p>
        </p:txBody>
      </p:sp>
      <p:sp>
        <p:nvSpPr>
          <p:cNvPr id="15" name="Text 13"/>
          <p:cNvSpPr/>
          <p:nvPr/>
        </p:nvSpPr>
        <p:spPr>
          <a:xfrm>
            <a:off x="1371600" y="2889504"/>
            <a:ext cx="457200" cy="118872"/>
          </a:xfrm>
          <a:prstGeom prst="rect">
            <a:avLst/>
          </a:prstGeom>
          <a:noFill/>
          <a:ln/>
        </p:spPr>
        <p:txBody>
          <a:bodyPr wrap="square" lIns="0" tIns="0" rIns="0" bIns="0" rtlCol="0" anchor="ctr"/>
          <a:lstStyle/>
          <a:p>
            <a:pPr marL="0" indent="0" algn="ctr">
              <a:buNone/>
            </a:pPr>
            <a:r>
              <a:rPr lang="en-US" sz="900" dirty="0">
                <a:solidFill>
                  <a:srgbClr val="00C2CB"/>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457200" y="3008376"/>
            <a:ext cx="2286000" cy="411480"/>
          </a:xfrm>
          <a:prstGeom prst="rect">
            <a:avLst/>
          </a:prstGeom>
          <a:solidFill>
            <a:srgbClr val="112D4E"/>
          </a:solidFill>
          <a:ln w="12700">
            <a:solidFill>
              <a:srgbClr val="00C2CB"/>
            </a:solidFill>
            <a:prstDash val="solid"/>
          </a:ln>
        </p:spPr>
      </p:sp>
      <p:sp>
        <p:nvSpPr>
          <p:cNvPr id="17" name="Text 15"/>
          <p:cNvSpPr/>
          <p:nvPr/>
        </p:nvSpPr>
        <p:spPr>
          <a:xfrm>
            <a:off x="457200" y="3008376"/>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Conv+BN+ReLU</a:t>
            </a:r>
            <a:endParaRPr lang="en-US" sz="1100" dirty="0"/>
          </a:p>
        </p:txBody>
      </p:sp>
      <p:sp>
        <p:nvSpPr>
          <p:cNvPr id="18" name="Text 16"/>
          <p:cNvSpPr/>
          <p:nvPr/>
        </p:nvSpPr>
        <p:spPr>
          <a:xfrm>
            <a:off x="1371600" y="3419856"/>
            <a:ext cx="457200" cy="118872"/>
          </a:xfrm>
          <a:prstGeom prst="rect">
            <a:avLst/>
          </a:prstGeom>
          <a:noFill/>
          <a:ln/>
        </p:spPr>
        <p:txBody>
          <a:bodyPr wrap="square" lIns="0" tIns="0" rIns="0" bIns="0" rtlCol="0" anchor="ctr"/>
          <a:lstStyle/>
          <a:p>
            <a:pPr marL="0" indent="0" algn="ctr">
              <a:buNone/>
            </a:pPr>
            <a:r>
              <a:rPr lang="en-US" sz="900" dirty="0">
                <a:solidFill>
                  <a:srgbClr val="00C2CB"/>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457200" y="3538728"/>
            <a:ext cx="2286000" cy="411480"/>
          </a:xfrm>
          <a:prstGeom prst="rect">
            <a:avLst/>
          </a:prstGeom>
          <a:solidFill>
            <a:srgbClr val="112D4E"/>
          </a:solidFill>
          <a:ln w="12700">
            <a:solidFill>
              <a:srgbClr val="00C2CB"/>
            </a:solidFill>
            <a:prstDash val="solid"/>
          </a:ln>
        </p:spPr>
      </p:sp>
      <p:sp>
        <p:nvSpPr>
          <p:cNvPr id="20" name="Text 18"/>
          <p:cNvSpPr/>
          <p:nvPr/>
        </p:nvSpPr>
        <p:spPr>
          <a:xfrm>
            <a:off x="457200" y="3538728"/>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MaxPool ↓</a:t>
            </a:r>
            <a:endParaRPr lang="en-US" sz="1100" dirty="0"/>
          </a:p>
        </p:txBody>
      </p:sp>
      <p:sp>
        <p:nvSpPr>
          <p:cNvPr id="21" name="Text 19"/>
          <p:cNvSpPr/>
          <p:nvPr/>
        </p:nvSpPr>
        <p:spPr>
          <a:xfrm>
            <a:off x="1371600" y="3950208"/>
            <a:ext cx="457200" cy="118872"/>
          </a:xfrm>
          <a:prstGeom prst="rect">
            <a:avLst/>
          </a:prstGeom>
          <a:noFill/>
          <a:ln/>
        </p:spPr>
        <p:txBody>
          <a:bodyPr wrap="square" lIns="0" tIns="0" rIns="0" bIns="0" rtlCol="0" anchor="ctr"/>
          <a:lstStyle/>
          <a:p>
            <a:pPr marL="0" indent="0" algn="ctr">
              <a:buNone/>
            </a:pPr>
            <a:r>
              <a:rPr lang="en-US" sz="900" dirty="0">
                <a:solidFill>
                  <a:srgbClr val="00C2CB"/>
                </a:solidFill>
                <a:latin typeface="Calibri" pitchFamily="34" charset="0"/>
                <a:ea typeface="Calibri" pitchFamily="34" charset="-122"/>
                <a:cs typeface="Calibri" pitchFamily="34" charset="-120"/>
              </a:rPr>
              <a:t>↓</a:t>
            </a:r>
            <a:endParaRPr lang="en-US" sz="900" dirty="0"/>
          </a:p>
        </p:txBody>
      </p:sp>
      <p:sp>
        <p:nvSpPr>
          <p:cNvPr id="22" name="Shape 20"/>
          <p:cNvSpPr/>
          <p:nvPr/>
        </p:nvSpPr>
        <p:spPr>
          <a:xfrm>
            <a:off x="457200" y="4069080"/>
            <a:ext cx="2286000" cy="411480"/>
          </a:xfrm>
          <a:prstGeom prst="rect">
            <a:avLst/>
          </a:prstGeom>
          <a:solidFill>
            <a:srgbClr val="112D4E"/>
          </a:solidFill>
          <a:ln w="12700">
            <a:solidFill>
              <a:srgbClr val="00C2CB"/>
            </a:solidFill>
            <a:prstDash val="solid"/>
          </a:ln>
        </p:spPr>
      </p:sp>
      <p:sp>
        <p:nvSpPr>
          <p:cNvPr id="23" name="Text 21"/>
          <p:cNvSpPr/>
          <p:nvPr/>
        </p:nvSpPr>
        <p:spPr>
          <a:xfrm>
            <a:off x="457200" y="4069080"/>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Bottleneck</a:t>
            </a:r>
            <a:endParaRPr lang="en-US" sz="1100" dirty="0"/>
          </a:p>
        </p:txBody>
      </p:sp>
      <p:sp>
        <p:nvSpPr>
          <p:cNvPr id="24" name="Text 22"/>
          <p:cNvSpPr/>
          <p:nvPr/>
        </p:nvSpPr>
        <p:spPr>
          <a:xfrm>
            <a:off x="2926080" y="2468880"/>
            <a:ext cx="1325880" cy="731520"/>
          </a:xfrm>
          <a:prstGeom prst="rect">
            <a:avLst/>
          </a:prstGeom>
          <a:noFill/>
          <a:ln/>
        </p:spPr>
        <p:txBody>
          <a:bodyPr wrap="square" lIns="0" tIns="0" rIns="0" bIns="0" rtlCol="0" anchor="ctr"/>
          <a:lstStyle/>
          <a:p>
            <a:pPr marL="0" indent="0" algn="ctr">
              <a:buNone/>
            </a:pPr>
            <a:r>
              <a:rPr lang="en-US" sz="1000" i="1" dirty="0">
                <a:solidFill>
                  <a:srgbClr val="FBBF24"/>
                </a:solidFill>
                <a:latin typeface="Calibri" pitchFamily="34" charset="0"/>
                <a:ea typeface="Calibri" pitchFamily="34" charset="-122"/>
                <a:cs typeface="Calibri" pitchFamily="34" charset="-120"/>
              </a:rPr>
              <a:t>← Skip Connections →</a:t>
            </a:r>
            <a:endParaRPr lang="en-US" sz="1000" dirty="0"/>
          </a:p>
        </p:txBody>
      </p:sp>
      <p:sp>
        <p:nvSpPr>
          <p:cNvPr id="25" name="Shape 23"/>
          <p:cNvSpPr/>
          <p:nvPr/>
        </p:nvSpPr>
        <p:spPr>
          <a:xfrm>
            <a:off x="4434840" y="1005840"/>
            <a:ext cx="2560320" cy="3931920"/>
          </a:xfrm>
          <a:prstGeom prst="rect">
            <a:avLst/>
          </a:prstGeom>
          <a:solidFill>
            <a:srgbClr val="132840"/>
          </a:solidFill>
          <a:ln w="12700">
            <a:solidFill>
              <a:srgbClr val="1E4060"/>
            </a:solidFill>
            <a:prstDash val="solid"/>
          </a:ln>
        </p:spPr>
      </p:sp>
      <p:sp>
        <p:nvSpPr>
          <p:cNvPr id="26" name="Text 24"/>
          <p:cNvSpPr/>
          <p:nvPr/>
        </p:nvSpPr>
        <p:spPr>
          <a:xfrm>
            <a:off x="4572000" y="1078992"/>
            <a:ext cx="2286000" cy="256032"/>
          </a:xfrm>
          <a:prstGeom prst="rect">
            <a:avLst/>
          </a:prstGeom>
          <a:noFill/>
          <a:ln/>
        </p:spPr>
        <p:txBody>
          <a:bodyPr wrap="square" lIns="0" tIns="0" rIns="0" bIns="0" rtlCol="0" anchor="ctr"/>
          <a:lstStyle/>
          <a:p>
            <a:pPr marL="0" indent="0" algn="ctr">
              <a:buNone/>
            </a:pPr>
            <a:r>
              <a:rPr lang="en-US" sz="1100" b="1" dirty="0">
                <a:solidFill>
                  <a:srgbClr val="22D3A0"/>
                </a:solidFill>
                <a:latin typeface="Calibri" pitchFamily="34" charset="0"/>
                <a:ea typeface="Calibri" pitchFamily="34" charset="-122"/>
                <a:cs typeface="Calibri" pitchFamily="34" charset="-120"/>
              </a:rPr>
              <a:t>DECODER</a:t>
            </a:r>
            <a:endParaRPr lang="en-US" sz="1100" dirty="0"/>
          </a:p>
        </p:txBody>
      </p:sp>
      <p:sp>
        <p:nvSpPr>
          <p:cNvPr id="27" name="Shape 25"/>
          <p:cNvSpPr/>
          <p:nvPr/>
        </p:nvSpPr>
        <p:spPr>
          <a:xfrm>
            <a:off x="4572000" y="1417320"/>
            <a:ext cx="2286000" cy="411480"/>
          </a:xfrm>
          <a:prstGeom prst="rect">
            <a:avLst/>
          </a:prstGeom>
          <a:solidFill>
            <a:srgbClr val="112D4E"/>
          </a:solidFill>
          <a:ln w="12700">
            <a:solidFill>
              <a:srgbClr val="1E4060"/>
            </a:solidFill>
            <a:prstDash val="solid"/>
          </a:ln>
        </p:spPr>
      </p:sp>
      <p:sp>
        <p:nvSpPr>
          <p:cNvPr id="28" name="Text 26"/>
          <p:cNvSpPr/>
          <p:nvPr/>
        </p:nvSpPr>
        <p:spPr>
          <a:xfrm>
            <a:off x="4572000" y="1417320"/>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UpSample ↑</a:t>
            </a:r>
            <a:endParaRPr lang="en-US" sz="1100" dirty="0"/>
          </a:p>
        </p:txBody>
      </p:sp>
      <p:sp>
        <p:nvSpPr>
          <p:cNvPr id="29" name="Text 27"/>
          <p:cNvSpPr/>
          <p:nvPr/>
        </p:nvSpPr>
        <p:spPr>
          <a:xfrm>
            <a:off x="5440680" y="1828800"/>
            <a:ext cx="457200" cy="118872"/>
          </a:xfrm>
          <a:prstGeom prst="rect">
            <a:avLst/>
          </a:prstGeom>
          <a:noFill/>
          <a:ln/>
        </p:spPr>
        <p:txBody>
          <a:bodyPr wrap="square" lIns="0" tIns="0" rIns="0" bIns="0" rtlCol="0" anchor="ctr"/>
          <a:lstStyle/>
          <a:p>
            <a:pPr marL="0" indent="0" algn="ctr">
              <a:buNone/>
            </a:pPr>
            <a:r>
              <a:rPr lang="en-US" sz="900" dirty="0">
                <a:solidFill>
                  <a:srgbClr val="22D3A0"/>
                </a:solidFill>
                <a:latin typeface="Calibri" pitchFamily="34" charset="0"/>
                <a:ea typeface="Calibri" pitchFamily="34" charset="-122"/>
                <a:cs typeface="Calibri" pitchFamily="34" charset="-120"/>
              </a:rPr>
              <a:t>↓</a:t>
            </a:r>
            <a:endParaRPr lang="en-US" sz="900" dirty="0"/>
          </a:p>
        </p:txBody>
      </p:sp>
      <p:sp>
        <p:nvSpPr>
          <p:cNvPr id="30" name="Shape 28"/>
          <p:cNvSpPr/>
          <p:nvPr/>
        </p:nvSpPr>
        <p:spPr>
          <a:xfrm>
            <a:off x="4572000" y="1947672"/>
            <a:ext cx="2286000" cy="411480"/>
          </a:xfrm>
          <a:prstGeom prst="rect">
            <a:avLst/>
          </a:prstGeom>
          <a:solidFill>
            <a:srgbClr val="112D4E"/>
          </a:solidFill>
          <a:ln w="12700">
            <a:solidFill>
              <a:srgbClr val="1E4060"/>
            </a:solidFill>
            <a:prstDash val="solid"/>
          </a:ln>
        </p:spPr>
      </p:sp>
      <p:sp>
        <p:nvSpPr>
          <p:cNvPr id="31" name="Text 29"/>
          <p:cNvSpPr/>
          <p:nvPr/>
        </p:nvSpPr>
        <p:spPr>
          <a:xfrm>
            <a:off x="4572000" y="1947672"/>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Conv + Skip</a:t>
            </a:r>
            <a:endParaRPr lang="en-US" sz="1100" dirty="0"/>
          </a:p>
        </p:txBody>
      </p:sp>
      <p:sp>
        <p:nvSpPr>
          <p:cNvPr id="32" name="Text 30"/>
          <p:cNvSpPr/>
          <p:nvPr/>
        </p:nvSpPr>
        <p:spPr>
          <a:xfrm>
            <a:off x="5440680" y="2359152"/>
            <a:ext cx="457200" cy="118872"/>
          </a:xfrm>
          <a:prstGeom prst="rect">
            <a:avLst/>
          </a:prstGeom>
          <a:noFill/>
          <a:ln/>
        </p:spPr>
        <p:txBody>
          <a:bodyPr wrap="square" lIns="0" tIns="0" rIns="0" bIns="0" rtlCol="0" anchor="ctr"/>
          <a:lstStyle/>
          <a:p>
            <a:pPr marL="0" indent="0" algn="ctr">
              <a:buNone/>
            </a:pPr>
            <a:r>
              <a:rPr lang="en-US" sz="900" dirty="0">
                <a:solidFill>
                  <a:srgbClr val="22D3A0"/>
                </a:solidFill>
                <a:latin typeface="Calibri" pitchFamily="34" charset="0"/>
                <a:ea typeface="Calibri" pitchFamily="34" charset="-122"/>
                <a:cs typeface="Calibri" pitchFamily="34" charset="-120"/>
              </a:rPr>
              <a:t>↓</a:t>
            </a:r>
            <a:endParaRPr lang="en-US" sz="900" dirty="0"/>
          </a:p>
        </p:txBody>
      </p:sp>
      <p:sp>
        <p:nvSpPr>
          <p:cNvPr id="33" name="Shape 31"/>
          <p:cNvSpPr/>
          <p:nvPr/>
        </p:nvSpPr>
        <p:spPr>
          <a:xfrm>
            <a:off x="4572000" y="2478024"/>
            <a:ext cx="2286000" cy="411480"/>
          </a:xfrm>
          <a:prstGeom prst="rect">
            <a:avLst/>
          </a:prstGeom>
          <a:solidFill>
            <a:srgbClr val="112D4E"/>
          </a:solidFill>
          <a:ln w="12700">
            <a:solidFill>
              <a:srgbClr val="1E4060"/>
            </a:solidFill>
            <a:prstDash val="solid"/>
          </a:ln>
        </p:spPr>
      </p:sp>
      <p:sp>
        <p:nvSpPr>
          <p:cNvPr id="34" name="Text 32"/>
          <p:cNvSpPr/>
          <p:nvPr/>
        </p:nvSpPr>
        <p:spPr>
          <a:xfrm>
            <a:off x="4572000" y="2478024"/>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UpSample ↑</a:t>
            </a:r>
            <a:endParaRPr lang="en-US" sz="1100" dirty="0"/>
          </a:p>
        </p:txBody>
      </p:sp>
      <p:sp>
        <p:nvSpPr>
          <p:cNvPr id="35" name="Text 33"/>
          <p:cNvSpPr/>
          <p:nvPr/>
        </p:nvSpPr>
        <p:spPr>
          <a:xfrm>
            <a:off x="5440680" y="2889504"/>
            <a:ext cx="457200" cy="118872"/>
          </a:xfrm>
          <a:prstGeom prst="rect">
            <a:avLst/>
          </a:prstGeom>
          <a:noFill/>
          <a:ln/>
        </p:spPr>
        <p:txBody>
          <a:bodyPr wrap="square" lIns="0" tIns="0" rIns="0" bIns="0" rtlCol="0" anchor="ctr"/>
          <a:lstStyle/>
          <a:p>
            <a:pPr marL="0" indent="0" algn="ctr">
              <a:buNone/>
            </a:pPr>
            <a:r>
              <a:rPr lang="en-US" sz="900" dirty="0">
                <a:solidFill>
                  <a:srgbClr val="22D3A0"/>
                </a:solidFill>
                <a:latin typeface="Calibri" pitchFamily="34" charset="0"/>
                <a:ea typeface="Calibri" pitchFamily="34" charset="-122"/>
                <a:cs typeface="Calibri" pitchFamily="34" charset="-120"/>
              </a:rPr>
              <a:t>↓</a:t>
            </a:r>
            <a:endParaRPr lang="en-US" sz="900" dirty="0"/>
          </a:p>
        </p:txBody>
      </p:sp>
      <p:sp>
        <p:nvSpPr>
          <p:cNvPr id="36" name="Shape 34"/>
          <p:cNvSpPr/>
          <p:nvPr/>
        </p:nvSpPr>
        <p:spPr>
          <a:xfrm>
            <a:off x="4572000" y="3008376"/>
            <a:ext cx="2286000" cy="411480"/>
          </a:xfrm>
          <a:prstGeom prst="rect">
            <a:avLst/>
          </a:prstGeom>
          <a:solidFill>
            <a:srgbClr val="112D4E"/>
          </a:solidFill>
          <a:ln w="12700">
            <a:solidFill>
              <a:srgbClr val="1E4060"/>
            </a:solidFill>
            <a:prstDash val="solid"/>
          </a:ln>
        </p:spPr>
      </p:sp>
      <p:sp>
        <p:nvSpPr>
          <p:cNvPr id="37" name="Text 35"/>
          <p:cNvSpPr/>
          <p:nvPr/>
        </p:nvSpPr>
        <p:spPr>
          <a:xfrm>
            <a:off x="4572000" y="3008376"/>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Conv + Skip</a:t>
            </a:r>
            <a:endParaRPr lang="en-US" sz="1100" dirty="0"/>
          </a:p>
        </p:txBody>
      </p:sp>
      <p:sp>
        <p:nvSpPr>
          <p:cNvPr id="38" name="Text 36"/>
          <p:cNvSpPr/>
          <p:nvPr/>
        </p:nvSpPr>
        <p:spPr>
          <a:xfrm>
            <a:off x="5440680" y="3419856"/>
            <a:ext cx="457200" cy="118872"/>
          </a:xfrm>
          <a:prstGeom prst="rect">
            <a:avLst/>
          </a:prstGeom>
          <a:noFill/>
          <a:ln/>
        </p:spPr>
        <p:txBody>
          <a:bodyPr wrap="square" lIns="0" tIns="0" rIns="0" bIns="0" rtlCol="0" anchor="ctr"/>
          <a:lstStyle/>
          <a:p>
            <a:pPr marL="0" indent="0" algn="ctr">
              <a:buNone/>
            </a:pPr>
            <a:r>
              <a:rPr lang="en-US" sz="900" dirty="0">
                <a:solidFill>
                  <a:srgbClr val="22D3A0"/>
                </a:solidFill>
                <a:latin typeface="Calibri" pitchFamily="34" charset="0"/>
                <a:ea typeface="Calibri" pitchFamily="34" charset="-122"/>
                <a:cs typeface="Calibri" pitchFamily="34" charset="-120"/>
              </a:rPr>
              <a:t>↓</a:t>
            </a:r>
            <a:endParaRPr lang="en-US" sz="900" dirty="0"/>
          </a:p>
        </p:txBody>
      </p:sp>
      <p:sp>
        <p:nvSpPr>
          <p:cNvPr id="39" name="Shape 37"/>
          <p:cNvSpPr/>
          <p:nvPr/>
        </p:nvSpPr>
        <p:spPr>
          <a:xfrm>
            <a:off x="4572000" y="3538728"/>
            <a:ext cx="2286000" cy="411480"/>
          </a:xfrm>
          <a:prstGeom prst="rect">
            <a:avLst/>
          </a:prstGeom>
          <a:solidFill>
            <a:srgbClr val="112D4E"/>
          </a:solidFill>
          <a:ln w="12700">
            <a:solidFill>
              <a:srgbClr val="1E4060"/>
            </a:solidFill>
            <a:prstDash val="solid"/>
          </a:ln>
        </p:spPr>
      </p:sp>
      <p:sp>
        <p:nvSpPr>
          <p:cNvPr id="40" name="Text 38"/>
          <p:cNvSpPr/>
          <p:nvPr/>
        </p:nvSpPr>
        <p:spPr>
          <a:xfrm>
            <a:off x="4572000" y="3538728"/>
            <a:ext cx="2286000" cy="411480"/>
          </a:xfrm>
          <a:prstGeom prst="rect">
            <a:avLst/>
          </a:prstGeom>
          <a:noFill/>
          <a:ln/>
        </p:spPr>
        <p:txBody>
          <a:bodyPr wrap="square" lIns="0" tIns="0" rIns="0" bIns="0" rtlCol="0" anchor="ctr"/>
          <a:lstStyle/>
          <a:p>
            <a:pPr marL="0" indent="0" algn="ctr">
              <a:buNone/>
            </a:pPr>
            <a:r>
              <a:rPr lang="en-US" sz="1100" dirty="0">
                <a:solidFill>
                  <a:srgbClr val="E2F4F7"/>
                </a:solidFill>
                <a:latin typeface="Calibri" pitchFamily="34" charset="0"/>
                <a:ea typeface="Calibri" pitchFamily="34" charset="-122"/>
                <a:cs typeface="Calibri" pitchFamily="34" charset="-120"/>
              </a:rPr>
              <a:t>Conv 1×1</a:t>
            </a:r>
            <a:endParaRPr lang="en-US" sz="1100" dirty="0"/>
          </a:p>
        </p:txBody>
      </p:sp>
      <p:sp>
        <p:nvSpPr>
          <p:cNvPr id="41" name="Text 39"/>
          <p:cNvSpPr/>
          <p:nvPr/>
        </p:nvSpPr>
        <p:spPr>
          <a:xfrm>
            <a:off x="5440680" y="3950208"/>
            <a:ext cx="457200" cy="118872"/>
          </a:xfrm>
          <a:prstGeom prst="rect">
            <a:avLst/>
          </a:prstGeom>
          <a:noFill/>
          <a:ln/>
        </p:spPr>
        <p:txBody>
          <a:bodyPr wrap="square" lIns="0" tIns="0" rIns="0" bIns="0" rtlCol="0" anchor="ctr"/>
          <a:lstStyle/>
          <a:p>
            <a:pPr marL="0" indent="0" algn="ctr">
              <a:buNone/>
            </a:pPr>
            <a:r>
              <a:rPr lang="en-US" sz="900" dirty="0">
                <a:solidFill>
                  <a:srgbClr val="22D3A0"/>
                </a:solidFill>
                <a:latin typeface="Calibri" pitchFamily="34" charset="0"/>
                <a:ea typeface="Calibri" pitchFamily="34" charset="-122"/>
                <a:cs typeface="Calibri" pitchFamily="34" charset="-120"/>
              </a:rPr>
              <a:t>↓</a:t>
            </a:r>
            <a:endParaRPr lang="en-US" sz="900" dirty="0"/>
          </a:p>
        </p:txBody>
      </p:sp>
      <p:sp>
        <p:nvSpPr>
          <p:cNvPr id="42" name="Shape 40"/>
          <p:cNvSpPr/>
          <p:nvPr/>
        </p:nvSpPr>
        <p:spPr>
          <a:xfrm>
            <a:off x="4572000" y="4069080"/>
            <a:ext cx="2286000" cy="411480"/>
          </a:xfrm>
          <a:prstGeom prst="rect">
            <a:avLst/>
          </a:prstGeom>
          <a:solidFill>
            <a:srgbClr val="112D4E"/>
          </a:solidFill>
          <a:ln w="12700">
            <a:solidFill>
              <a:srgbClr val="22D3A0"/>
            </a:solidFill>
            <a:prstDash val="solid"/>
          </a:ln>
        </p:spPr>
      </p:sp>
      <p:sp>
        <p:nvSpPr>
          <p:cNvPr id="43" name="Text 41"/>
          <p:cNvSpPr/>
          <p:nvPr/>
        </p:nvSpPr>
        <p:spPr>
          <a:xfrm>
            <a:off x="4572000" y="4069080"/>
            <a:ext cx="2286000" cy="411480"/>
          </a:xfrm>
          <a:prstGeom prst="rect">
            <a:avLst/>
          </a:prstGeom>
          <a:noFill/>
          <a:ln/>
        </p:spPr>
        <p:txBody>
          <a:bodyPr wrap="square" lIns="0" tIns="0" rIns="0" bIns="0" rtlCol="0" anchor="ctr"/>
          <a:lstStyle/>
          <a:p>
            <a:pPr marL="0" indent="0" algn="ctr">
              <a:buNone/>
            </a:pPr>
            <a:r>
              <a:rPr lang="en-US" sz="1100" dirty="0">
                <a:solidFill>
                  <a:srgbClr val="22D3A0"/>
                </a:solidFill>
                <a:latin typeface="Calibri" pitchFamily="34" charset="0"/>
                <a:ea typeface="Calibri" pitchFamily="34" charset="-122"/>
                <a:cs typeface="Calibri" pitchFamily="34" charset="-120"/>
              </a:rPr>
              <a:t>Output Mask</a:t>
            </a:r>
            <a:endParaRPr lang="en-US" sz="1100" dirty="0"/>
          </a:p>
        </p:txBody>
      </p:sp>
      <p:sp>
        <p:nvSpPr>
          <p:cNvPr id="44" name="Shape 42"/>
          <p:cNvSpPr/>
          <p:nvPr/>
        </p:nvSpPr>
        <p:spPr>
          <a:xfrm>
            <a:off x="7178040" y="1005840"/>
            <a:ext cx="1645920" cy="3931920"/>
          </a:xfrm>
          <a:prstGeom prst="rect">
            <a:avLst/>
          </a:prstGeom>
          <a:solidFill>
            <a:srgbClr val="132840"/>
          </a:solidFill>
          <a:ln w="12700">
            <a:solidFill>
              <a:srgbClr val="1E4060"/>
            </a:solidFill>
            <a:prstDash val="solid"/>
          </a:ln>
        </p:spPr>
      </p:sp>
      <p:sp>
        <p:nvSpPr>
          <p:cNvPr id="45" name="Text 43"/>
          <p:cNvSpPr/>
          <p:nvPr/>
        </p:nvSpPr>
        <p:spPr>
          <a:xfrm>
            <a:off x="7269480" y="1078992"/>
            <a:ext cx="1463040" cy="256032"/>
          </a:xfrm>
          <a:prstGeom prst="rect">
            <a:avLst/>
          </a:prstGeom>
          <a:noFill/>
          <a:ln/>
        </p:spPr>
        <p:txBody>
          <a:bodyPr wrap="square" lIns="0" tIns="0" rIns="0" bIns="0" rtlCol="0" anchor="ctr"/>
          <a:lstStyle/>
          <a:p>
            <a:pPr marL="0" indent="0" algn="ctr">
              <a:buNone/>
            </a:pPr>
            <a:r>
              <a:rPr lang="en-US" sz="1100" b="1" dirty="0">
                <a:solidFill>
                  <a:srgbClr val="22D3A0"/>
                </a:solidFill>
                <a:latin typeface="Calibri" pitchFamily="34" charset="0"/>
                <a:ea typeface="Calibri" pitchFamily="34" charset="-122"/>
                <a:cs typeface="Calibri" pitchFamily="34" charset="-120"/>
              </a:rPr>
              <a:t>Config</a:t>
            </a:r>
            <a:endParaRPr lang="en-US" sz="1100" dirty="0"/>
          </a:p>
        </p:txBody>
      </p:sp>
      <p:sp>
        <p:nvSpPr>
          <p:cNvPr id="46" name="Text 44"/>
          <p:cNvSpPr/>
          <p:nvPr/>
        </p:nvSpPr>
        <p:spPr>
          <a:xfrm>
            <a:off x="7223760" y="1417320"/>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Input</a:t>
            </a:r>
            <a:endParaRPr lang="en-US" sz="1000" dirty="0"/>
          </a:p>
        </p:txBody>
      </p:sp>
      <p:sp>
        <p:nvSpPr>
          <p:cNvPr id="47" name="Text 45"/>
          <p:cNvSpPr/>
          <p:nvPr/>
        </p:nvSpPr>
        <p:spPr>
          <a:xfrm>
            <a:off x="7955280" y="1417320"/>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128×128</a:t>
            </a:r>
            <a:endParaRPr lang="en-US" sz="1000" dirty="0"/>
          </a:p>
        </p:txBody>
      </p:sp>
      <p:sp>
        <p:nvSpPr>
          <p:cNvPr id="48" name="Text 46"/>
          <p:cNvSpPr/>
          <p:nvPr/>
        </p:nvSpPr>
        <p:spPr>
          <a:xfrm>
            <a:off x="7223760" y="1837944"/>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Epochs</a:t>
            </a:r>
            <a:endParaRPr lang="en-US" sz="1000" dirty="0"/>
          </a:p>
        </p:txBody>
      </p:sp>
      <p:sp>
        <p:nvSpPr>
          <p:cNvPr id="49" name="Text 47"/>
          <p:cNvSpPr/>
          <p:nvPr/>
        </p:nvSpPr>
        <p:spPr>
          <a:xfrm>
            <a:off x="7955280" y="1837944"/>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30</a:t>
            </a:r>
            <a:endParaRPr lang="en-US" sz="1000" dirty="0"/>
          </a:p>
        </p:txBody>
      </p:sp>
      <p:sp>
        <p:nvSpPr>
          <p:cNvPr id="50" name="Text 48"/>
          <p:cNvSpPr/>
          <p:nvPr/>
        </p:nvSpPr>
        <p:spPr>
          <a:xfrm>
            <a:off x="7223760" y="2258568"/>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Batch</a:t>
            </a:r>
            <a:endParaRPr lang="en-US" sz="1000" dirty="0"/>
          </a:p>
        </p:txBody>
      </p:sp>
      <p:sp>
        <p:nvSpPr>
          <p:cNvPr id="51" name="Text 49"/>
          <p:cNvSpPr/>
          <p:nvPr/>
        </p:nvSpPr>
        <p:spPr>
          <a:xfrm>
            <a:off x="7955280" y="2258568"/>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307</a:t>
            </a:r>
            <a:endParaRPr lang="en-US" sz="1000" dirty="0"/>
          </a:p>
        </p:txBody>
      </p:sp>
      <p:sp>
        <p:nvSpPr>
          <p:cNvPr id="52" name="Text 50"/>
          <p:cNvSpPr/>
          <p:nvPr/>
        </p:nvSpPr>
        <p:spPr>
          <a:xfrm>
            <a:off x="7223760" y="2679192"/>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Loss</a:t>
            </a:r>
            <a:endParaRPr lang="en-US" sz="1000" dirty="0"/>
          </a:p>
        </p:txBody>
      </p:sp>
      <p:sp>
        <p:nvSpPr>
          <p:cNvPr id="53" name="Text 51"/>
          <p:cNvSpPr/>
          <p:nvPr/>
        </p:nvSpPr>
        <p:spPr>
          <a:xfrm>
            <a:off x="7955280" y="2679192"/>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Dice+BCE</a:t>
            </a:r>
            <a:endParaRPr lang="en-US" sz="1000" dirty="0"/>
          </a:p>
        </p:txBody>
      </p:sp>
      <p:sp>
        <p:nvSpPr>
          <p:cNvPr id="54" name="Text 52"/>
          <p:cNvSpPr/>
          <p:nvPr/>
        </p:nvSpPr>
        <p:spPr>
          <a:xfrm>
            <a:off x="7223760" y="3099816"/>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Optim.</a:t>
            </a:r>
            <a:endParaRPr lang="en-US" sz="1000" dirty="0"/>
          </a:p>
        </p:txBody>
      </p:sp>
      <p:sp>
        <p:nvSpPr>
          <p:cNvPr id="55" name="Text 53"/>
          <p:cNvSpPr/>
          <p:nvPr/>
        </p:nvSpPr>
        <p:spPr>
          <a:xfrm>
            <a:off x="7955280" y="3099816"/>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Adam</a:t>
            </a:r>
            <a:endParaRPr lang="en-US" sz="1000" dirty="0"/>
          </a:p>
        </p:txBody>
      </p:sp>
      <p:sp>
        <p:nvSpPr>
          <p:cNvPr id="56" name="Text 54"/>
          <p:cNvSpPr/>
          <p:nvPr/>
        </p:nvSpPr>
        <p:spPr>
          <a:xfrm>
            <a:off x="7223760" y="3520440"/>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Output</a:t>
            </a:r>
            <a:endParaRPr lang="en-US" sz="1000" dirty="0"/>
          </a:p>
        </p:txBody>
      </p:sp>
      <p:sp>
        <p:nvSpPr>
          <p:cNvPr id="57" name="Text 55"/>
          <p:cNvSpPr/>
          <p:nvPr/>
        </p:nvSpPr>
        <p:spPr>
          <a:xfrm>
            <a:off x="7955280" y="3520440"/>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Sigmoid</a:t>
            </a:r>
            <a:endParaRPr lang="en-US" sz="1000" dirty="0"/>
          </a:p>
        </p:txBody>
      </p:sp>
      <p:sp>
        <p:nvSpPr>
          <p:cNvPr id="58" name="Text 56"/>
          <p:cNvSpPr/>
          <p:nvPr/>
        </p:nvSpPr>
        <p:spPr>
          <a:xfrm>
            <a:off x="7223760" y="3941064"/>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BN</a:t>
            </a:r>
            <a:endParaRPr lang="en-US" sz="1000" dirty="0"/>
          </a:p>
        </p:txBody>
      </p:sp>
      <p:sp>
        <p:nvSpPr>
          <p:cNvPr id="59" name="Text 57"/>
          <p:cNvSpPr/>
          <p:nvPr/>
        </p:nvSpPr>
        <p:spPr>
          <a:xfrm>
            <a:off x="7955280" y="3941064"/>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Yes</a:t>
            </a:r>
            <a:endParaRPr lang="en-US" sz="1000" dirty="0"/>
          </a:p>
        </p:txBody>
      </p:sp>
      <p:sp>
        <p:nvSpPr>
          <p:cNvPr id="60" name="Text 58"/>
          <p:cNvSpPr/>
          <p:nvPr/>
        </p:nvSpPr>
        <p:spPr>
          <a:xfrm>
            <a:off x="7223760" y="4361688"/>
            <a:ext cx="685800" cy="347472"/>
          </a:xfrm>
          <a:prstGeom prst="rect">
            <a:avLst/>
          </a:prstGeom>
          <a:noFill/>
          <a:ln/>
        </p:spPr>
        <p:txBody>
          <a:bodyPr wrap="square" lIns="0" tIns="0" rIns="0" bIns="0" rtlCol="0" anchor="ctr"/>
          <a:lstStyle/>
          <a:p>
            <a:pPr marL="0" indent="0">
              <a:buNone/>
            </a:pPr>
            <a:r>
              <a:rPr lang="en-US" sz="1000" dirty="0">
                <a:solidFill>
                  <a:srgbClr val="7FA8BD"/>
                </a:solidFill>
                <a:latin typeface="Calibri" pitchFamily="34" charset="0"/>
                <a:ea typeface="Calibri" pitchFamily="34" charset="-122"/>
                <a:cs typeface="Calibri" pitchFamily="34" charset="-120"/>
              </a:rPr>
              <a:t>Drop</a:t>
            </a:r>
            <a:endParaRPr lang="en-US" sz="1000" dirty="0"/>
          </a:p>
        </p:txBody>
      </p:sp>
      <p:sp>
        <p:nvSpPr>
          <p:cNvPr id="61" name="Text 59"/>
          <p:cNvSpPr/>
          <p:nvPr/>
        </p:nvSpPr>
        <p:spPr>
          <a:xfrm>
            <a:off x="7955280" y="4361688"/>
            <a:ext cx="7772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Yes</a:t>
            </a:r>
            <a:endParaRPr lang="en-US" sz="1000" dirty="0"/>
          </a:p>
        </p:txBody>
      </p:sp>
      <p:sp>
        <p:nvSpPr>
          <p:cNvPr id="62" name="Shape 60"/>
          <p:cNvSpPr/>
          <p:nvPr/>
        </p:nvSpPr>
        <p:spPr>
          <a:xfrm>
            <a:off x="320040" y="4919472"/>
            <a:ext cx="6675120" cy="201168"/>
          </a:xfrm>
          <a:prstGeom prst="rect">
            <a:avLst/>
          </a:prstGeom>
          <a:solidFill>
            <a:srgbClr val="132840"/>
          </a:solidFill>
          <a:ln w="12700">
            <a:solidFill>
              <a:srgbClr val="1E4060"/>
            </a:solidFill>
            <a:prstDash val="solid"/>
          </a:ln>
        </p:spPr>
      </p:sp>
      <p:sp>
        <p:nvSpPr>
          <p:cNvPr id="63" name="Text 61"/>
          <p:cNvSpPr/>
          <p:nvPr/>
        </p:nvSpPr>
        <p:spPr>
          <a:xfrm>
            <a:off x="457200" y="4928616"/>
            <a:ext cx="6492240" cy="182880"/>
          </a:xfrm>
          <a:prstGeom prst="rect">
            <a:avLst/>
          </a:prstGeom>
          <a:noFill/>
          <a:ln/>
        </p:spPr>
        <p:txBody>
          <a:bodyPr wrap="square" lIns="0" tIns="0" rIns="0" bIns="0" rtlCol="0" anchor="ctr"/>
          <a:lstStyle/>
          <a:p>
            <a:pPr marL="0" indent="0" algn="ctr">
              <a:buNone/>
            </a:pPr>
            <a:r>
              <a:rPr lang="en-US" sz="1050" b="1" dirty="0">
                <a:solidFill>
                  <a:srgbClr val="22D3A0"/>
                </a:solidFill>
                <a:latin typeface="Calibri" pitchFamily="34" charset="0"/>
                <a:ea typeface="Calibri" pitchFamily="34" charset="-122"/>
                <a:cs typeface="Calibri" pitchFamily="34" charset="-120"/>
              </a:rPr>
              <a:t>Dice = 2 × |A ∩ B| / (|A| + |B|)   |   Train Dice: 0.9164   |   Val Dice: 0.8041   |   Score: 0.80+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Training Process &amp; Configuration</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Hardware constraints and callback strategy across all three models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8494776" cy="1813560"/>
        </p:xfrm>
        <a:graphic>
          <a:graphicData uri="http://schemas.openxmlformats.org/drawingml/2006/table">
            <a:tbl>
              <a:tblPr/>
              <a:tblGrid>
                <a:gridCol w="182880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gridCol w="2221992">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CNN Detection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38BDF8"/>
                          </a:solidFill>
                          <a:latin typeface="Calibri" pitchFamily="34" charset="0"/>
                          <a:ea typeface="Calibri" pitchFamily="34" charset="-122"/>
                          <a:cs typeface="Calibri" pitchFamily="34" charset="-120"/>
                        </a:rPr>
                        <a:t>MobileNetV2</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U-Net Segmentation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Epochs</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433</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307</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Adam</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Adam</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Adam</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Loss Function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Binary CE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Categorical CE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Dice + BCE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Input Size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128 × 128</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224 × 224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128 × 128</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Output Activation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Sigmoid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Softmax (4)</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Sigmoid (mask)</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6"/>
                  </a:ext>
                </a:extLst>
              </a:tr>
            </a:tbl>
          </a:graphicData>
        </a:graphic>
      </p:graphicFrame>
      <p:sp>
        <p:nvSpPr>
          <p:cNvPr id="6" name="Shape 3"/>
          <p:cNvSpPr/>
          <p:nvPr/>
        </p:nvSpPr>
        <p:spPr>
          <a:xfrm>
            <a:off x="320040" y="3022795"/>
            <a:ext cx="8503920" cy="1097280"/>
          </a:xfrm>
          <a:prstGeom prst="rect">
            <a:avLst/>
          </a:prstGeom>
          <a:solidFill>
            <a:srgbClr val="132840"/>
          </a:solidFill>
          <a:ln w="12700">
            <a:solidFill>
              <a:srgbClr val="1E4060"/>
            </a:solidFill>
            <a:prstDash val="solid"/>
          </a:ln>
        </p:spPr>
      </p:sp>
      <p:sp>
        <p:nvSpPr>
          <p:cNvPr id="7" name="Text 4"/>
          <p:cNvSpPr/>
          <p:nvPr/>
        </p:nvSpPr>
        <p:spPr>
          <a:xfrm>
            <a:off x="457200" y="3095947"/>
            <a:ext cx="8229600" cy="27432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Training Callbacks — Applied to All Models</a:t>
            </a:r>
            <a:endParaRPr lang="en-US" sz="1300" dirty="0"/>
          </a:p>
        </p:txBody>
      </p:sp>
      <p:sp>
        <p:nvSpPr>
          <p:cNvPr id="8" name="Text 5"/>
          <p:cNvSpPr/>
          <p:nvPr/>
        </p:nvSpPr>
        <p:spPr>
          <a:xfrm>
            <a:off x="502920" y="3434275"/>
            <a:ext cx="1463040" cy="256032"/>
          </a:xfrm>
          <a:prstGeom prst="rect">
            <a:avLst/>
          </a:prstGeom>
          <a:noFill/>
          <a:ln/>
        </p:spPr>
        <p:txBody>
          <a:bodyPr wrap="square" lIns="0" tIns="0" rIns="0" bIns="0" rtlCol="0" anchor="ctr"/>
          <a:lstStyle/>
          <a:p>
            <a:pPr marL="0" indent="0">
              <a:buNone/>
            </a:pPr>
            <a:r>
              <a:rPr lang="en-US" sz="1150" b="1" dirty="0">
                <a:solidFill>
                  <a:srgbClr val="FBBF24"/>
                </a:solidFill>
                <a:latin typeface="Calibri" pitchFamily="34" charset="0"/>
                <a:ea typeface="Calibri" pitchFamily="34" charset="-122"/>
                <a:cs typeface="Calibri" pitchFamily="34" charset="-120"/>
              </a:rPr>
              <a:t>▸  EarlyStopping:</a:t>
            </a:r>
            <a:endParaRPr lang="en-US" sz="1150" dirty="0"/>
          </a:p>
        </p:txBody>
      </p:sp>
      <p:sp>
        <p:nvSpPr>
          <p:cNvPr id="9" name="Text 6"/>
          <p:cNvSpPr/>
          <p:nvPr/>
        </p:nvSpPr>
        <p:spPr>
          <a:xfrm>
            <a:off x="502920" y="3708595"/>
            <a:ext cx="4023360" cy="320040"/>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Monitors val_loss — stops training when no improvement for 5 consecutive epochs. Prevents overfitting.</a:t>
            </a:r>
            <a:endParaRPr lang="en-US" sz="1100" dirty="0"/>
          </a:p>
        </p:txBody>
      </p:sp>
      <p:sp>
        <p:nvSpPr>
          <p:cNvPr id="10" name="Text 7"/>
          <p:cNvSpPr/>
          <p:nvPr/>
        </p:nvSpPr>
        <p:spPr>
          <a:xfrm>
            <a:off x="4754880" y="3434275"/>
            <a:ext cx="1463040" cy="256032"/>
          </a:xfrm>
          <a:prstGeom prst="rect">
            <a:avLst/>
          </a:prstGeom>
          <a:noFill/>
          <a:ln/>
        </p:spPr>
        <p:txBody>
          <a:bodyPr wrap="square" lIns="0" tIns="0" rIns="0" bIns="0" rtlCol="0" anchor="ctr"/>
          <a:lstStyle/>
          <a:p>
            <a:pPr marL="0" indent="0">
              <a:buNone/>
            </a:pPr>
            <a:r>
              <a:rPr lang="en-US" sz="1150" b="1" dirty="0">
                <a:solidFill>
                  <a:srgbClr val="FBBF24"/>
                </a:solidFill>
                <a:latin typeface="Calibri" pitchFamily="34" charset="0"/>
                <a:ea typeface="Calibri" pitchFamily="34" charset="-122"/>
                <a:cs typeface="Calibri" pitchFamily="34" charset="-120"/>
              </a:rPr>
              <a:t>▸  ReduceLROnPlateau:</a:t>
            </a:r>
            <a:endParaRPr lang="en-US" sz="1150" dirty="0"/>
          </a:p>
        </p:txBody>
      </p:sp>
      <p:sp>
        <p:nvSpPr>
          <p:cNvPr id="11" name="Text 8"/>
          <p:cNvSpPr/>
          <p:nvPr/>
        </p:nvSpPr>
        <p:spPr>
          <a:xfrm>
            <a:off x="4754880" y="3708595"/>
            <a:ext cx="4023360" cy="320040"/>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Halves learning rate on plateau (factor=0.5). Helps escape flat minima during convergence.</a:t>
            </a:r>
            <a:endParaRPr lang="en-US" sz="1100" dirty="0"/>
          </a:p>
        </p:txBody>
      </p:sp>
      <p:sp>
        <p:nvSpPr>
          <p:cNvPr id="12" name="Shape 9"/>
          <p:cNvSpPr/>
          <p:nvPr/>
        </p:nvSpPr>
        <p:spPr>
          <a:xfrm>
            <a:off x="320040" y="4323470"/>
            <a:ext cx="8503920" cy="710302"/>
          </a:xfrm>
          <a:prstGeom prst="rect">
            <a:avLst/>
          </a:prstGeom>
          <a:solidFill>
            <a:srgbClr val="132840"/>
          </a:solidFill>
          <a:ln w="12700">
            <a:solidFill>
              <a:srgbClr val="1E4060"/>
            </a:solidFill>
            <a:prstDash val="solid"/>
          </a:ln>
        </p:spPr>
      </p:sp>
      <p:sp>
        <p:nvSpPr>
          <p:cNvPr id="13" name="Text 10"/>
          <p:cNvSpPr/>
          <p:nvPr/>
        </p:nvSpPr>
        <p:spPr>
          <a:xfrm>
            <a:off x="502920" y="4361570"/>
            <a:ext cx="3200400" cy="256032"/>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  CPU-Only Training Environment</a:t>
            </a:r>
            <a:endParaRPr lang="en-US" sz="1200" dirty="0"/>
          </a:p>
        </p:txBody>
      </p:sp>
      <p:sp>
        <p:nvSpPr>
          <p:cNvPr id="5" name="Text 11"/>
          <p:cNvSpPr/>
          <p:nvPr/>
        </p:nvSpPr>
        <p:spPr>
          <a:xfrm>
            <a:off x="502920" y="4680086"/>
            <a:ext cx="8229600" cy="201168"/>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No GPU access — all models trained on CPU. Batch sizes chosen to fit available RAM. Training took significantly longer vs GPU but models converged successfully. Isolated Python environments with pinned dependency versions ensured reproducibility.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Performance Metrics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Evaluation framework across all three model stages</a:t>
            </a:r>
            <a:endParaRPr lang="en-US" sz="1100" dirty="0"/>
          </a:p>
        </p:txBody>
      </p:sp>
      <p:sp>
        <p:nvSpPr>
          <p:cNvPr id="5" name="Shape 3"/>
          <p:cNvSpPr/>
          <p:nvPr/>
        </p:nvSpPr>
        <p:spPr>
          <a:xfrm>
            <a:off x="320040" y="1024128"/>
            <a:ext cx="2651760" cy="1234440"/>
          </a:xfrm>
          <a:prstGeom prst="rect">
            <a:avLst/>
          </a:prstGeom>
          <a:solidFill>
            <a:srgbClr val="132840"/>
          </a:solidFill>
          <a:ln w="12700">
            <a:solidFill>
              <a:srgbClr val="1E4060"/>
            </a:solidFill>
            <a:prstDash val="solid"/>
          </a:ln>
        </p:spPr>
      </p:sp>
      <p:sp>
        <p:nvSpPr>
          <p:cNvPr id="6" name="Text 4"/>
          <p:cNvSpPr/>
          <p:nvPr/>
        </p:nvSpPr>
        <p:spPr>
          <a:xfrm>
            <a:off x="320040" y="1097280"/>
            <a:ext cx="2651760" cy="678942"/>
          </a:xfrm>
          <a:prstGeom prst="rect">
            <a:avLst/>
          </a:prstGeom>
          <a:noFill/>
          <a:ln/>
        </p:spPr>
        <p:txBody>
          <a:bodyPr wrap="square" lIns="0" tIns="0" rIns="0" bIns="0" rtlCol="0" anchor="ctr"/>
          <a:lstStyle/>
          <a:p>
            <a:pPr marL="0" indent="0" algn="ctr">
              <a:buNone/>
            </a:pPr>
            <a:r>
              <a:rPr lang="en-US" sz="3000" b="1" dirty="0">
                <a:solidFill>
                  <a:srgbClr val="00C2CB"/>
                </a:solidFill>
                <a:latin typeface="Calibri" pitchFamily="34" charset="0"/>
                <a:ea typeface="Calibri" pitchFamily="34" charset="-122"/>
                <a:cs typeface="Calibri" pitchFamily="34" charset="-120"/>
              </a:rPr>
              <a:t>97.3%</a:t>
            </a:r>
            <a:endParaRPr lang="en-US" sz="3000" dirty="0"/>
          </a:p>
        </p:txBody>
      </p:sp>
      <p:sp>
        <p:nvSpPr>
          <p:cNvPr id="7" name="Text 5"/>
          <p:cNvSpPr/>
          <p:nvPr/>
        </p:nvSpPr>
        <p:spPr>
          <a:xfrm>
            <a:off x="320040" y="1764792"/>
            <a:ext cx="2651760" cy="432054"/>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CNN Binary Detection</a:t>
            </a:r>
            <a:endParaRPr lang="en-US" sz="1100" dirty="0"/>
          </a:p>
        </p:txBody>
      </p:sp>
      <p:sp>
        <p:nvSpPr>
          <p:cNvPr id="8" name="Shape 6"/>
          <p:cNvSpPr/>
          <p:nvPr/>
        </p:nvSpPr>
        <p:spPr>
          <a:xfrm>
            <a:off x="3246120" y="1024128"/>
            <a:ext cx="2651760" cy="1234440"/>
          </a:xfrm>
          <a:prstGeom prst="rect">
            <a:avLst/>
          </a:prstGeom>
          <a:solidFill>
            <a:srgbClr val="132840"/>
          </a:solidFill>
          <a:ln w="12700">
            <a:solidFill>
              <a:srgbClr val="1E4060"/>
            </a:solidFill>
            <a:prstDash val="solid"/>
          </a:ln>
        </p:spPr>
      </p:sp>
      <p:sp>
        <p:nvSpPr>
          <p:cNvPr id="9" name="Text 7"/>
          <p:cNvSpPr/>
          <p:nvPr/>
        </p:nvSpPr>
        <p:spPr>
          <a:xfrm>
            <a:off x="3246120" y="1097280"/>
            <a:ext cx="2651760" cy="678942"/>
          </a:xfrm>
          <a:prstGeom prst="rect">
            <a:avLst/>
          </a:prstGeom>
          <a:noFill/>
          <a:ln/>
        </p:spPr>
        <p:txBody>
          <a:bodyPr wrap="square" lIns="0" tIns="0" rIns="0" bIns="0" rtlCol="0" anchor="ctr"/>
          <a:lstStyle/>
          <a:p>
            <a:pPr marL="0" indent="0" algn="ctr">
              <a:buNone/>
            </a:pPr>
            <a:r>
              <a:rPr lang="en-US" sz="3000" b="1" dirty="0">
                <a:solidFill>
                  <a:srgbClr val="38BDF8"/>
                </a:solidFill>
                <a:latin typeface="Calibri" pitchFamily="34" charset="0"/>
                <a:ea typeface="Calibri" pitchFamily="34" charset="-122"/>
                <a:cs typeface="Calibri" pitchFamily="34" charset="-120"/>
              </a:rPr>
              <a:t>90.0%</a:t>
            </a:r>
            <a:endParaRPr lang="en-US" sz="3000" dirty="0"/>
          </a:p>
        </p:txBody>
      </p:sp>
      <p:sp>
        <p:nvSpPr>
          <p:cNvPr id="10" name="Text 8"/>
          <p:cNvSpPr/>
          <p:nvPr/>
        </p:nvSpPr>
        <p:spPr>
          <a:xfrm>
            <a:off x="3246120" y="1764792"/>
            <a:ext cx="2651760" cy="432054"/>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MobileNetV2 Classification</a:t>
            </a:r>
            <a:endParaRPr lang="en-US" sz="1100" dirty="0"/>
          </a:p>
        </p:txBody>
      </p:sp>
      <p:sp>
        <p:nvSpPr>
          <p:cNvPr id="11" name="Shape 9"/>
          <p:cNvSpPr/>
          <p:nvPr/>
        </p:nvSpPr>
        <p:spPr>
          <a:xfrm>
            <a:off x="6172200" y="1024128"/>
            <a:ext cx="2651760" cy="1234440"/>
          </a:xfrm>
          <a:prstGeom prst="rect">
            <a:avLst/>
          </a:prstGeom>
          <a:solidFill>
            <a:srgbClr val="132840"/>
          </a:solidFill>
          <a:ln w="12700">
            <a:solidFill>
              <a:srgbClr val="1E4060"/>
            </a:solidFill>
            <a:prstDash val="solid"/>
          </a:ln>
        </p:spPr>
      </p:sp>
      <p:sp>
        <p:nvSpPr>
          <p:cNvPr id="12" name="Text 10"/>
          <p:cNvSpPr/>
          <p:nvPr/>
        </p:nvSpPr>
        <p:spPr>
          <a:xfrm>
            <a:off x="6172200" y="1097280"/>
            <a:ext cx="2651760" cy="678942"/>
          </a:xfrm>
          <a:prstGeom prst="rect">
            <a:avLst/>
          </a:prstGeom>
          <a:noFill/>
          <a:ln/>
        </p:spPr>
        <p:txBody>
          <a:bodyPr wrap="square" lIns="0" tIns="0" rIns="0" bIns="0" rtlCol="0" anchor="ctr"/>
          <a:lstStyle/>
          <a:p>
            <a:pPr marL="0" indent="0" algn="ctr">
              <a:buNone/>
            </a:pPr>
            <a:r>
              <a:rPr lang="en-US" sz="3000" b="1" dirty="0">
                <a:solidFill>
                  <a:srgbClr val="22D3A0"/>
                </a:solidFill>
                <a:latin typeface="Calibri" pitchFamily="34" charset="0"/>
                <a:ea typeface="Calibri" pitchFamily="34" charset="-122"/>
                <a:cs typeface="Calibri" pitchFamily="34" charset="-120"/>
              </a:rPr>
              <a:t>0.80+</a:t>
            </a:r>
            <a:endParaRPr lang="en-US" sz="3000" dirty="0"/>
          </a:p>
        </p:txBody>
      </p:sp>
      <p:sp>
        <p:nvSpPr>
          <p:cNvPr id="13" name="Text 11"/>
          <p:cNvSpPr/>
          <p:nvPr/>
        </p:nvSpPr>
        <p:spPr>
          <a:xfrm>
            <a:off x="6172200" y="1764792"/>
            <a:ext cx="2651760" cy="432054"/>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U-Net Dice Score</a:t>
            </a:r>
            <a:endParaRPr lang="en-US" sz="1100" dirty="0"/>
          </a:p>
        </p:txBody>
      </p:sp>
      <p:sp>
        <p:nvSpPr>
          <p:cNvPr id="14" name="Shape 12"/>
          <p:cNvSpPr/>
          <p:nvPr/>
        </p:nvSpPr>
        <p:spPr>
          <a:xfrm>
            <a:off x="320040" y="2395728"/>
            <a:ext cx="4160520" cy="2514600"/>
          </a:xfrm>
          <a:prstGeom prst="rect">
            <a:avLst/>
          </a:prstGeom>
          <a:solidFill>
            <a:srgbClr val="132840"/>
          </a:solidFill>
          <a:ln w="12700">
            <a:solidFill>
              <a:srgbClr val="1E4060"/>
            </a:solidFill>
            <a:prstDash val="solid"/>
          </a:ln>
        </p:spPr>
      </p:sp>
      <p:sp>
        <p:nvSpPr>
          <p:cNvPr id="15" name="Text 13"/>
          <p:cNvSpPr/>
          <p:nvPr/>
        </p:nvSpPr>
        <p:spPr>
          <a:xfrm>
            <a:off x="457200" y="2468880"/>
            <a:ext cx="3886200" cy="274320"/>
          </a:xfrm>
          <a:prstGeom prst="rect">
            <a:avLst/>
          </a:prstGeom>
          <a:noFill/>
          <a:ln/>
        </p:spPr>
        <p:txBody>
          <a:bodyPr wrap="square" lIns="0" tIns="0" rIns="0" bIns="0" rtlCol="0" anchor="ctr"/>
          <a:lstStyle/>
          <a:p>
            <a:pPr marL="0" indent="0">
              <a:buNone/>
            </a:pPr>
            <a:r>
              <a:rPr lang="en-US" sz="1250" b="1" dirty="0">
                <a:solidFill>
                  <a:srgbClr val="00C2CB"/>
                </a:solidFill>
                <a:latin typeface="Calibri" pitchFamily="34" charset="0"/>
                <a:ea typeface="Calibri" pitchFamily="34" charset="-122"/>
                <a:cs typeface="Calibri" pitchFamily="34" charset="-120"/>
              </a:rPr>
              <a:t>CNN Binary Classifier — Full Metrics</a:t>
            </a:r>
            <a:endParaRPr lang="en-US" sz="1250" dirty="0"/>
          </a:p>
        </p:txBody>
      </p:sp>
      <p:sp>
        <p:nvSpPr>
          <p:cNvPr id="16" name="Text 14"/>
          <p:cNvSpPr/>
          <p:nvPr/>
        </p:nvSpPr>
        <p:spPr>
          <a:xfrm>
            <a:off x="457200" y="2816352"/>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Test Accuracy</a:t>
            </a:r>
            <a:endParaRPr lang="en-US" sz="1100" dirty="0"/>
          </a:p>
        </p:txBody>
      </p:sp>
      <p:sp>
        <p:nvSpPr>
          <p:cNvPr id="17" name="Text 15"/>
          <p:cNvSpPr/>
          <p:nvPr/>
        </p:nvSpPr>
        <p:spPr>
          <a:xfrm>
            <a:off x="2834640" y="2816352"/>
            <a:ext cx="1508760" cy="320040"/>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97.3%</a:t>
            </a:r>
            <a:endParaRPr lang="en-US" sz="1100" dirty="0"/>
          </a:p>
        </p:txBody>
      </p:sp>
      <p:sp>
        <p:nvSpPr>
          <p:cNvPr id="18" name="Text 16"/>
          <p:cNvSpPr/>
          <p:nvPr/>
        </p:nvSpPr>
        <p:spPr>
          <a:xfrm>
            <a:off x="457200" y="3200400"/>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Precision (Tumor)</a:t>
            </a:r>
            <a:endParaRPr lang="en-US" sz="1100" dirty="0"/>
          </a:p>
        </p:txBody>
      </p:sp>
      <p:sp>
        <p:nvSpPr>
          <p:cNvPr id="19" name="Text 17"/>
          <p:cNvSpPr/>
          <p:nvPr/>
        </p:nvSpPr>
        <p:spPr>
          <a:xfrm>
            <a:off x="2834640" y="3200400"/>
            <a:ext cx="1508760" cy="320040"/>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97%</a:t>
            </a:r>
            <a:endParaRPr lang="en-US" sz="1100" dirty="0"/>
          </a:p>
        </p:txBody>
      </p:sp>
      <p:sp>
        <p:nvSpPr>
          <p:cNvPr id="20" name="Text 18"/>
          <p:cNvSpPr/>
          <p:nvPr/>
        </p:nvSpPr>
        <p:spPr>
          <a:xfrm>
            <a:off x="457200" y="3584448"/>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Recall (Tumor)</a:t>
            </a:r>
            <a:endParaRPr lang="en-US" sz="1100" dirty="0"/>
          </a:p>
        </p:txBody>
      </p:sp>
      <p:sp>
        <p:nvSpPr>
          <p:cNvPr id="21" name="Text 19"/>
          <p:cNvSpPr/>
          <p:nvPr/>
        </p:nvSpPr>
        <p:spPr>
          <a:xfrm>
            <a:off x="2834640" y="3584448"/>
            <a:ext cx="1508760" cy="320040"/>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97%</a:t>
            </a:r>
            <a:endParaRPr lang="en-US" sz="1100" dirty="0"/>
          </a:p>
        </p:txBody>
      </p:sp>
      <p:sp>
        <p:nvSpPr>
          <p:cNvPr id="22" name="Text 20"/>
          <p:cNvSpPr/>
          <p:nvPr/>
        </p:nvSpPr>
        <p:spPr>
          <a:xfrm>
            <a:off x="457200" y="3968496"/>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F1-Score</a:t>
            </a:r>
            <a:endParaRPr lang="en-US" sz="1100" dirty="0"/>
          </a:p>
        </p:txBody>
      </p:sp>
      <p:sp>
        <p:nvSpPr>
          <p:cNvPr id="23" name="Text 21"/>
          <p:cNvSpPr/>
          <p:nvPr/>
        </p:nvSpPr>
        <p:spPr>
          <a:xfrm>
            <a:off x="2834640" y="3968496"/>
            <a:ext cx="1508760" cy="320040"/>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0.97</a:t>
            </a:r>
            <a:endParaRPr lang="en-US" sz="1100" dirty="0"/>
          </a:p>
        </p:txBody>
      </p:sp>
      <p:sp>
        <p:nvSpPr>
          <p:cNvPr id="24" name="Text 22"/>
          <p:cNvSpPr/>
          <p:nvPr/>
        </p:nvSpPr>
        <p:spPr>
          <a:xfrm>
            <a:off x="457200" y="4352544"/>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Train Accuracy (Ep.10)</a:t>
            </a:r>
            <a:endParaRPr lang="en-US" sz="1100" dirty="0"/>
          </a:p>
        </p:txBody>
      </p:sp>
      <p:sp>
        <p:nvSpPr>
          <p:cNvPr id="25" name="Text 23"/>
          <p:cNvSpPr/>
          <p:nvPr/>
        </p:nvSpPr>
        <p:spPr>
          <a:xfrm>
            <a:off x="2834640" y="4352544"/>
            <a:ext cx="1508760" cy="320040"/>
          </a:xfrm>
          <a:prstGeom prst="rect">
            <a:avLst/>
          </a:prstGeom>
          <a:noFill/>
          <a:ln/>
        </p:spPr>
        <p:txBody>
          <a:bodyPr wrap="square" lIns="0" tIns="0" rIns="0" bIns="0" rtlCol="0" anchor="ctr"/>
          <a:lstStyle/>
          <a:p>
            <a:pPr marL="0" indent="0">
              <a:buNone/>
            </a:pPr>
            <a:r>
              <a:rPr lang="en-US" sz="1100" b="1" dirty="0">
                <a:solidFill>
                  <a:srgbClr val="00C2CB"/>
                </a:solidFill>
                <a:latin typeface="Calibri" pitchFamily="34" charset="0"/>
                <a:ea typeface="Calibri" pitchFamily="34" charset="-122"/>
                <a:cs typeface="Calibri" pitchFamily="34" charset="-120"/>
              </a:rPr>
              <a:t>99.6%</a:t>
            </a:r>
            <a:endParaRPr lang="en-US" sz="1100" dirty="0"/>
          </a:p>
        </p:txBody>
      </p:sp>
      <p:sp>
        <p:nvSpPr>
          <p:cNvPr id="26" name="Shape 24"/>
          <p:cNvSpPr/>
          <p:nvPr/>
        </p:nvSpPr>
        <p:spPr>
          <a:xfrm>
            <a:off x="4663440" y="2395728"/>
            <a:ext cx="4160520" cy="2514600"/>
          </a:xfrm>
          <a:prstGeom prst="rect">
            <a:avLst/>
          </a:prstGeom>
          <a:solidFill>
            <a:srgbClr val="132840"/>
          </a:solidFill>
          <a:ln w="12700">
            <a:solidFill>
              <a:srgbClr val="1E4060"/>
            </a:solidFill>
            <a:prstDash val="solid"/>
          </a:ln>
        </p:spPr>
      </p:sp>
      <p:sp>
        <p:nvSpPr>
          <p:cNvPr id="27" name="Text 25"/>
          <p:cNvSpPr/>
          <p:nvPr/>
        </p:nvSpPr>
        <p:spPr>
          <a:xfrm>
            <a:off x="4800600" y="2468880"/>
            <a:ext cx="3886200" cy="274320"/>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MobileNetV2 — Per-Class F1</a:t>
            </a:r>
            <a:endParaRPr lang="en-US" sz="1250" dirty="0"/>
          </a:p>
        </p:txBody>
      </p:sp>
      <p:sp>
        <p:nvSpPr>
          <p:cNvPr id="28" name="Text 26"/>
          <p:cNvSpPr/>
          <p:nvPr/>
        </p:nvSpPr>
        <p:spPr>
          <a:xfrm>
            <a:off x="4800600" y="2816352"/>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Glioma</a:t>
            </a:r>
            <a:endParaRPr lang="en-US" sz="1100" dirty="0"/>
          </a:p>
        </p:txBody>
      </p:sp>
      <p:sp>
        <p:nvSpPr>
          <p:cNvPr id="29" name="Text 27"/>
          <p:cNvSpPr/>
          <p:nvPr/>
        </p:nvSpPr>
        <p:spPr>
          <a:xfrm>
            <a:off x="7132320" y="2816352"/>
            <a:ext cx="1508760" cy="320040"/>
          </a:xfrm>
          <a:prstGeom prst="rect">
            <a:avLst/>
          </a:prstGeom>
          <a:noFill/>
          <a:ln/>
        </p:spPr>
        <p:txBody>
          <a:bodyPr wrap="square" lIns="0" tIns="0" rIns="0" bIns="0" rtlCol="0" anchor="ctr"/>
          <a:lstStyle/>
          <a:p>
            <a:pPr marL="0" indent="0">
              <a:buNone/>
            </a:pPr>
            <a:r>
              <a:rPr lang="en-US" sz="1100" b="1" dirty="0">
                <a:solidFill>
                  <a:srgbClr val="FBBF24"/>
                </a:solidFill>
                <a:latin typeface="Calibri" pitchFamily="34" charset="0"/>
                <a:ea typeface="Calibri" pitchFamily="34" charset="-122"/>
                <a:cs typeface="Calibri" pitchFamily="34" charset="-120"/>
              </a:rPr>
              <a:t>0.84</a:t>
            </a:r>
            <a:endParaRPr lang="en-US" sz="1100" dirty="0"/>
          </a:p>
        </p:txBody>
      </p:sp>
      <p:sp>
        <p:nvSpPr>
          <p:cNvPr id="30" name="Text 28"/>
          <p:cNvSpPr/>
          <p:nvPr/>
        </p:nvSpPr>
        <p:spPr>
          <a:xfrm>
            <a:off x="4800600" y="3200400"/>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Meningioma</a:t>
            </a:r>
            <a:endParaRPr lang="en-US" sz="1100" dirty="0"/>
          </a:p>
        </p:txBody>
      </p:sp>
      <p:sp>
        <p:nvSpPr>
          <p:cNvPr id="31" name="Text 29"/>
          <p:cNvSpPr/>
          <p:nvPr/>
        </p:nvSpPr>
        <p:spPr>
          <a:xfrm>
            <a:off x="7132320" y="3200400"/>
            <a:ext cx="1508760" cy="32004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0.86</a:t>
            </a:r>
            <a:endParaRPr lang="en-US" sz="1100" dirty="0"/>
          </a:p>
        </p:txBody>
      </p:sp>
      <p:sp>
        <p:nvSpPr>
          <p:cNvPr id="32" name="Text 30"/>
          <p:cNvSpPr/>
          <p:nvPr/>
        </p:nvSpPr>
        <p:spPr>
          <a:xfrm>
            <a:off x="4800600" y="3584448"/>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Pituitary</a:t>
            </a:r>
            <a:endParaRPr lang="en-US" sz="1100" dirty="0"/>
          </a:p>
        </p:txBody>
      </p:sp>
      <p:sp>
        <p:nvSpPr>
          <p:cNvPr id="33" name="Text 31"/>
          <p:cNvSpPr/>
          <p:nvPr/>
        </p:nvSpPr>
        <p:spPr>
          <a:xfrm>
            <a:off x="7132320" y="3584448"/>
            <a:ext cx="1508760" cy="32004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0.94</a:t>
            </a:r>
            <a:endParaRPr lang="en-US" sz="1100" dirty="0"/>
          </a:p>
        </p:txBody>
      </p:sp>
      <p:sp>
        <p:nvSpPr>
          <p:cNvPr id="34" name="Text 32"/>
          <p:cNvSpPr/>
          <p:nvPr/>
        </p:nvSpPr>
        <p:spPr>
          <a:xfrm>
            <a:off x="4800600" y="3968496"/>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No Tumor</a:t>
            </a:r>
            <a:endParaRPr lang="en-US" sz="1100" dirty="0"/>
          </a:p>
        </p:txBody>
      </p:sp>
      <p:sp>
        <p:nvSpPr>
          <p:cNvPr id="35" name="Text 33"/>
          <p:cNvSpPr/>
          <p:nvPr/>
        </p:nvSpPr>
        <p:spPr>
          <a:xfrm>
            <a:off x="7132320" y="3968496"/>
            <a:ext cx="1508760" cy="32004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0.96</a:t>
            </a:r>
            <a:endParaRPr lang="en-US" sz="1100" dirty="0"/>
          </a:p>
        </p:txBody>
      </p:sp>
      <p:sp>
        <p:nvSpPr>
          <p:cNvPr id="36" name="Text 34"/>
          <p:cNvSpPr/>
          <p:nvPr/>
        </p:nvSpPr>
        <p:spPr>
          <a:xfrm>
            <a:off x="4800600" y="4352544"/>
            <a:ext cx="2286000" cy="320040"/>
          </a:xfrm>
          <a:prstGeom prst="rect">
            <a:avLst/>
          </a:prstGeom>
          <a:noFill/>
          <a:ln/>
        </p:spPr>
        <p:txBody>
          <a:bodyPr wrap="square" lIns="0" tIns="0" rIns="0" bIns="0" rtlCol="0" anchor="ctr"/>
          <a:lstStyle/>
          <a:p>
            <a:pPr marL="0" indent="0">
              <a:buNone/>
            </a:pPr>
            <a:r>
              <a:rPr lang="en-US" sz="1100" dirty="0">
                <a:solidFill>
                  <a:srgbClr val="7FA8BD"/>
                </a:solidFill>
                <a:latin typeface="Calibri" pitchFamily="34" charset="0"/>
                <a:ea typeface="Calibri" pitchFamily="34" charset="-122"/>
                <a:cs typeface="Calibri" pitchFamily="34" charset="-120"/>
              </a:rPr>
              <a:t>Macro Avg F1</a:t>
            </a:r>
            <a:endParaRPr lang="en-US" sz="1100" dirty="0"/>
          </a:p>
        </p:txBody>
      </p:sp>
      <p:sp>
        <p:nvSpPr>
          <p:cNvPr id="37" name="Text 35"/>
          <p:cNvSpPr/>
          <p:nvPr/>
        </p:nvSpPr>
        <p:spPr>
          <a:xfrm>
            <a:off x="7132320" y="4352544"/>
            <a:ext cx="1508760" cy="32004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0.90</a:t>
            </a:r>
            <a:endParaRPr lang="en-US" sz="1100" dirty="0"/>
          </a:p>
        </p:txBody>
      </p:sp>
      <p:sp>
        <p:nvSpPr>
          <p:cNvPr id="38" name="Shape 36"/>
          <p:cNvSpPr/>
          <p:nvPr/>
        </p:nvSpPr>
        <p:spPr>
          <a:xfrm>
            <a:off x="320040" y="5010912"/>
            <a:ext cx="8503920" cy="0"/>
          </a:xfrm>
          <a:prstGeom prst="rect">
            <a:avLst/>
          </a:prstGeom>
          <a:solidFill>
            <a:srgbClr val="132840"/>
          </a:solidFill>
          <a:ln w="12700">
            <a:solidFill>
              <a:srgbClr val="1E4060"/>
            </a:solidFill>
            <a:prstDash val="solid"/>
          </a:ln>
        </p:spPr>
      </p:sp>
      <p:sp>
        <p:nvSpPr>
          <p:cNvPr id="39" name="Shape 37"/>
          <p:cNvSpPr/>
          <p:nvPr/>
        </p:nvSpPr>
        <p:spPr>
          <a:xfrm>
            <a:off x="320040" y="4983480"/>
            <a:ext cx="8503920" cy="137160"/>
          </a:xfrm>
          <a:prstGeom prst="rect">
            <a:avLst/>
          </a:prstGeom>
          <a:solidFill>
            <a:srgbClr val="132840"/>
          </a:solidFill>
          <a:ln w="12700">
            <a:solidFill>
              <a:srgbClr val="1E4060"/>
            </a:solidFill>
            <a:prstDash val="solid"/>
          </a:ln>
        </p:spPr>
      </p:sp>
      <p:sp>
        <p:nvSpPr>
          <p:cNvPr id="40" name="Text 38"/>
          <p:cNvSpPr/>
          <p:nvPr/>
        </p:nvSpPr>
        <p:spPr>
          <a:xfrm>
            <a:off x="457200" y="4974336"/>
            <a:ext cx="8321040" cy="182880"/>
          </a:xfrm>
          <a:prstGeom prst="rect">
            <a:avLst/>
          </a:prstGeom>
          <a:noFill/>
          <a:ln/>
        </p:spPr>
        <p:txBody>
          <a:bodyPr wrap="square" lIns="0" tIns="0" rIns="0" bIns="0" rtlCol="0" anchor="ctr"/>
          <a:lstStyle/>
          <a:p>
            <a:pPr marL="0" indent="0" algn="ctr">
              <a:buNone/>
            </a:pPr>
            <a:r>
              <a:rPr lang="en-US" sz="1000" b="1" dirty="0">
                <a:solidFill>
                  <a:srgbClr val="22D3A0"/>
                </a:solidFill>
                <a:latin typeface="Calibri" pitchFamily="34" charset="0"/>
                <a:ea typeface="Calibri" pitchFamily="34" charset="-122"/>
                <a:cs typeface="Calibri" pitchFamily="34" charset="-120"/>
              </a:rPr>
              <a:t>U-Net  |  Train Dice: 0.9164   |   Validation Dice: 0.8041   |   Final Score: 0.80+   |   Epochs: 30   |   Callbacks: EarlyStopping + ReduceLROnPlateau</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a:t>
            </a:r>
            <a:endParaRPr lang="en-US" sz="2600" dirty="0"/>
          </a:p>
        </p:txBody>
      </p:sp>
      <p:sp>
        <p:nvSpPr>
          <p:cNvPr id="35" name="Text 4">
            <a:extLst>
              <a:ext uri="{FF2B5EF4-FFF2-40B4-BE49-F238E27FC236}">
                <a16:creationId xmlns:a16="http://schemas.microsoft.com/office/drawing/2014/main" id="{253F19F6-305C-53D7-A7A0-2E26E9A5D33E}"/>
              </a:ext>
            </a:extLst>
          </p:cNvPr>
          <p:cNvSpPr/>
          <p:nvPr/>
        </p:nvSpPr>
        <p:spPr>
          <a:xfrm>
            <a:off x="310896" y="1012170"/>
            <a:ext cx="4572000" cy="219456"/>
          </a:xfrm>
          <a:prstGeom prst="rect">
            <a:avLst/>
          </a:prstGeom>
          <a:noFill/>
          <a:ln/>
        </p:spPr>
        <p:txBody>
          <a:bodyPr wrap="square" lIns="0" tIns="0" rIns="0" bIns="0" rtlCol="0" anchor="ctr"/>
          <a:lstStyle/>
          <a:p>
            <a:pPr marL="0" indent="0">
              <a:buNone/>
            </a:pPr>
            <a:r>
              <a:rPr lang="en-US" sz="900" b="1" dirty="0">
                <a:solidFill>
                  <a:srgbClr val="00D4FF"/>
                </a:solidFill>
                <a:latin typeface="Calibri" pitchFamily="34" charset="0"/>
                <a:ea typeface="Calibri" pitchFamily="34" charset="-122"/>
                <a:cs typeface="Calibri" pitchFamily="34" charset="-120"/>
              </a:rPr>
              <a:t>CNN BINARY DETECTION</a:t>
            </a:r>
            <a:endParaRPr lang="en-US" sz="900" dirty="0"/>
          </a:p>
        </p:txBody>
      </p:sp>
      <p:sp>
        <p:nvSpPr>
          <p:cNvPr id="36" name="Shape 5">
            <a:extLst>
              <a:ext uri="{FF2B5EF4-FFF2-40B4-BE49-F238E27FC236}">
                <a16:creationId xmlns:a16="http://schemas.microsoft.com/office/drawing/2014/main" id="{F2216631-A9F7-E2AD-FD30-B4293CC2D5B2}"/>
              </a:ext>
            </a:extLst>
          </p:cNvPr>
          <p:cNvSpPr/>
          <p:nvPr/>
        </p:nvSpPr>
        <p:spPr>
          <a:xfrm>
            <a:off x="310896" y="1259058"/>
            <a:ext cx="4160520" cy="1554480"/>
          </a:xfrm>
          <a:prstGeom prst="rect">
            <a:avLst/>
          </a:prstGeom>
          <a:solidFill>
            <a:srgbClr val="061020"/>
          </a:solidFill>
          <a:ln w="13970">
            <a:solidFill>
              <a:srgbClr val="00D4FF"/>
            </a:solidFill>
            <a:prstDash val="solid"/>
          </a:ln>
          <a:effectLst>
            <a:outerShdw blurRad="127000" dist="38100" dir="16200000" algn="bl" rotWithShape="0">
              <a:srgbClr val="000000">
                <a:alpha val="28000"/>
              </a:srgbClr>
            </a:outerShdw>
          </a:effectLst>
        </p:spPr>
      </p:sp>
      <p:pic>
        <p:nvPicPr>
          <p:cNvPr id="37" name="Image 2" descr="preencoded.png">
            <a:extLst>
              <a:ext uri="{FF2B5EF4-FFF2-40B4-BE49-F238E27FC236}">
                <a16:creationId xmlns:a16="http://schemas.microsoft.com/office/drawing/2014/main" id="{1A01081B-D7E3-C493-6AE7-4CB5C4FB065D}"/>
              </a:ext>
            </a:extLst>
          </p:cNvPr>
          <p:cNvPicPr>
            <a:picLocks noChangeAspect="1"/>
          </p:cNvPicPr>
          <p:nvPr/>
        </p:nvPicPr>
        <p:blipFill>
          <a:blip r:embed="rId3"/>
          <a:stretch>
            <a:fillRect/>
          </a:stretch>
        </p:blipFill>
        <p:spPr>
          <a:xfrm>
            <a:off x="347472" y="1295634"/>
            <a:ext cx="4087368" cy="1481328"/>
          </a:xfrm>
          <a:prstGeom prst="rect">
            <a:avLst/>
          </a:prstGeom>
        </p:spPr>
      </p:pic>
      <p:sp>
        <p:nvSpPr>
          <p:cNvPr id="38" name="Shape 6">
            <a:extLst>
              <a:ext uri="{FF2B5EF4-FFF2-40B4-BE49-F238E27FC236}">
                <a16:creationId xmlns:a16="http://schemas.microsoft.com/office/drawing/2014/main" id="{7C3BFE67-B71B-22DE-DE57-DE801B36C884}"/>
              </a:ext>
            </a:extLst>
          </p:cNvPr>
          <p:cNvSpPr/>
          <p:nvPr/>
        </p:nvSpPr>
        <p:spPr>
          <a:xfrm>
            <a:off x="4617720" y="1259058"/>
            <a:ext cx="4160520" cy="1554480"/>
          </a:xfrm>
          <a:prstGeom prst="rect">
            <a:avLst/>
          </a:prstGeom>
          <a:solidFill>
            <a:srgbClr val="061020"/>
          </a:solidFill>
          <a:ln w="13970">
            <a:solidFill>
              <a:srgbClr val="00D4FF"/>
            </a:solidFill>
            <a:prstDash val="solid"/>
          </a:ln>
          <a:effectLst>
            <a:outerShdw blurRad="127000" dist="38100" dir="16200000" algn="bl" rotWithShape="0">
              <a:srgbClr val="000000">
                <a:alpha val="28000"/>
              </a:srgbClr>
            </a:outerShdw>
          </a:effectLst>
        </p:spPr>
      </p:sp>
      <p:pic>
        <p:nvPicPr>
          <p:cNvPr id="39" name="Image 3" descr="preencoded.png">
            <a:extLst>
              <a:ext uri="{FF2B5EF4-FFF2-40B4-BE49-F238E27FC236}">
                <a16:creationId xmlns:a16="http://schemas.microsoft.com/office/drawing/2014/main" id="{91A1E2AF-9774-E694-7C12-35493163A445}"/>
              </a:ext>
            </a:extLst>
          </p:cNvPr>
          <p:cNvPicPr>
            <a:picLocks noChangeAspect="1"/>
          </p:cNvPicPr>
          <p:nvPr/>
        </p:nvPicPr>
        <p:blipFill>
          <a:blip r:embed="rId4"/>
          <a:stretch>
            <a:fillRect/>
          </a:stretch>
        </p:blipFill>
        <p:spPr>
          <a:xfrm>
            <a:off x="4654296" y="1295634"/>
            <a:ext cx="4087368" cy="1481328"/>
          </a:xfrm>
          <a:prstGeom prst="rect">
            <a:avLst/>
          </a:prstGeom>
        </p:spPr>
      </p:pic>
      <p:sp>
        <p:nvSpPr>
          <p:cNvPr id="40" name="Text 7">
            <a:extLst>
              <a:ext uri="{FF2B5EF4-FFF2-40B4-BE49-F238E27FC236}">
                <a16:creationId xmlns:a16="http://schemas.microsoft.com/office/drawing/2014/main" id="{CB4269A2-6520-05C6-E131-8C01511F8103}"/>
              </a:ext>
            </a:extLst>
          </p:cNvPr>
          <p:cNvSpPr/>
          <p:nvPr/>
        </p:nvSpPr>
        <p:spPr>
          <a:xfrm>
            <a:off x="310896" y="2877546"/>
            <a:ext cx="4572000" cy="219456"/>
          </a:xfrm>
          <a:prstGeom prst="rect">
            <a:avLst/>
          </a:prstGeom>
          <a:noFill/>
          <a:ln/>
        </p:spPr>
        <p:txBody>
          <a:bodyPr wrap="square" lIns="0" tIns="0" rIns="0" bIns="0" rtlCol="0" anchor="ctr"/>
          <a:lstStyle/>
          <a:p>
            <a:pPr marL="0" indent="0">
              <a:buNone/>
            </a:pPr>
            <a:r>
              <a:rPr lang="en-US" sz="900" b="1" dirty="0">
                <a:solidFill>
                  <a:srgbClr val="9D5AF0"/>
                </a:solidFill>
                <a:latin typeface="Calibri" pitchFamily="34" charset="0"/>
                <a:ea typeface="Calibri" pitchFamily="34" charset="-122"/>
                <a:cs typeface="Calibri" pitchFamily="34" charset="-120"/>
              </a:rPr>
              <a:t>MOBILENETV2 CLASSIFICATION</a:t>
            </a:r>
            <a:endParaRPr lang="en-US" sz="900" dirty="0"/>
          </a:p>
        </p:txBody>
      </p:sp>
      <p:sp>
        <p:nvSpPr>
          <p:cNvPr id="41" name="Shape 8">
            <a:extLst>
              <a:ext uri="{FF2B5EF4-FFF2-40B4-BE49-F238E27FC236}">
                <a16:creationId xmlns:a16="http://schemas.microsoft.com/office/drawing/2014/main" id="{350F9912-B0F9-4523-BC0F-2DA1A75911CB}"/>
              </a:ext>
            </a:extLst>
          </p:cNvPr>
          <p:cNvSpPr/>
          <p:nvPr/>
        </p:nvSpPr>
        <p:spPr>
          <a:xfrm>
            <a:off x="310896" y="3124434"/>
            <a:ext cx="4160520" cy="1554480"/>
          </a:xfrm>
          <a:prstGeom prst="rect">
            <a:avLst/>
          </a:prstGeom>
          <a:solidFill>
            <a:srgbClr val="061020"/>
          </a:solidFill>
          <a:ln w="13970">
            <a:solidFill>
              <a:srgbClr val="9D5AF0"/>
            </a:solidFill>
            <a:prstDash val="solid"/>
          </a:ln>
          <a:effectLst>
            <a:outerShdw blurRad="127000" dist="38100" dir="16200000" algn="bl" rotWithShape="0">
              <a:srgbClr val="000000">
                <a:alpha val="28000"/>
              </a:srgbClr>
            </a:outerShdw>
          </a:effectLst>
        </p:spPr>
      </p:sp>
      <p:pic>
        <p:nvPicPr>
          <p:cNvPr id="42" name="Image 4" descr="preencoded.png">
            <a:extLst>
              <a:ext uri="{FF2B5EF4-FFF2-40B4-BE49-F238E27FC236}">
                <a16:creationId xmlns:a16="http://schemas.microsoft.com/office/drawing/2014/main" id="{67EFADFE-F873-91F0-6681-7D54FD20BF71}"/>
              </a:ext>
            </a:extLst>
          </p:cNvPr>
          <p:cNvPicPr>
            <a:picLocks noChangeAspect="1"/>
          </p:cNvPicPr>
          <p:nvPr/>
        </p:nvPicPr>
        <p:blipFill>
          <a:blip r:embed="rId5"/>
          <a:stretch>
            <a:fillRect/>
          </a:stretch>
        </p:blipFill>
        <p:spPr>
          <a:xfrm>
            <a:off x="347472" y="3161010"/>
            <a:ext cx="4087368" cy="1481328"/>
          </a:xfrm>
          <a:prstGeom prst="rect">
            <a:avLst/>
          </a:prstGeom>
        </p:spPr>
      </p:pic>
      <p:sp>
        <p:nvSpPr>
          <p:cNvPr id="43" name="Shape 9">
            <a:extLst>
              <a:ext uri="{FF2B5EF4-FFF2-40B4-BE49-F238E27FC236}">
                <a16:creationId xmlns:a16="http://schemas.microsoft.com/office/drawing/2014/main" id="{692994CB-E1F8-D2F7-1A03-8C8199CF6ABB}"/>
              </a:ext>
            </a:extLst>
          </p:cNvPr>
          <p:cNvSpPr/>
          <p:nvPr/>
        </p:nvSpPr>
        <p:spPr>
          <a:xfrm>
            <a:off x="4617720" y="3124434"/>
            <a:ext cx="4160520" cy="1554480"/>
          </a:xfrm>
          <a:prstGeom prst="rect">
            <a:avLst/>
          </a:prstGeom>
          <a:solidFill>
            <a:srgbClr val="061020"/>
          </a:solidFill>
          <a:ln w="13970">
            <a:solidFill>
              <a:srgbClr val="9D5AF0"/>
            </a:solidFill>
            <a:prstDash val="solid"/>
          </a:ln>
          <a:effectLst>
            <a:outerShdw blurRad="127000" dist="38100" dir="16200000" algn="bl" rotWithShape="0">
              <a:srgbClr val="000000">
                <a:alpha val="28000"/>
              </a:srgbClr>
            </a:outerShdw>
          </a:effectLst>
        </p:spPr>
      </p:sp>
      <p:pic>
        <p:nvPicPr>
          <p:cNvPr id="44" name="Image 5" descr="preencoded.png">
            <a:extLst>
              <a:ext uri="{FF2B5EF4-FFF2-40B4-BE49-F238E27FC236}">
                <a16:creationId xmlns:a16="http://schemas.microsoft.com/office/drawing/2014/main" id="{10EBB193-9444-7D0D-37FD-82C0ABB68334}"/>
              </a:ext>
            </a:extLst>
          </p:cNvPr>
          <p:cNvPicPr>
            <a:picLocks noChangeAspect="1"/>
          </p:cNvPicPr>
          <p:nvPr/>
        </p:nvPicPr>
        <p:blipFill>
          <a:blip r:embed="rId6"/>
          <a:stretch>
            <a:fillRect/>
          </a:stretch>
        </p:blipFill>
        <p:spPr>
          <a:xfrm>
            <a:off x="4654296" y="3161010"/>
            <a:ext cx="4087368" cy="14813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131C215E-96E7-4427-3857-51F834BF361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3BB772-6E61-76B1-2C11-E6CFA394A394}"/>
              </a:ext>
            </a:extLst>
          </p:cNvPr>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a:extLst>
              <a:ext uri="{FF2B5EF4-FFF2-40B4-BE49-F238E27FC236}">
                <a16:creationId xmlns:a16="http://schemas.microsoft.com/office/drawing/2014/main" id="{703DEA85-07CE-C6F6-7E30-D24AC69E686D}"/>
              </a:ext>
            </a:extLst>
          </p:cNvPr>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a:t>
            </a:r>
            <a:endParaRPr lang="en-US" sz="2600" dirty="0"/>
          </a:p>
        </p:txBody>
      </p:sp>
      <p:sp>
        <p:nvSpPr>
          <p:cNvPr id="4" name="Text 4">
            <a:extLst>
              <a:ext uri="{FF2B5EF4-FFF2-40B4-BE49-F238E27FC236}">
                <a16:creationId xmlns:a16="http://schemas.microsoft.com/office/drawing/2014/main" id="{FEB9E566-9A5C-0AC3-ADF6-CF62E136348D}"/>
              </a:ext>
            </a:extLst>
          </p:cNvPr>
          <p:cNvSpPr/>
          <p:nvPr/>
        </p:nvSpPr>
        <p:spPr>
          <a:xfrm>
            <a:off x="475488" y="880025"/>
            <a:ext cx="4572000" cy="219456"/>
          </a:xfrm>
          <a:prstGeom prst="rect">
            <a:avLst/>
          </a:prstGeom>
          <a:noFill/>
          <a:ln/>
        </p:spPr>
        <p:txBody>
          <a:bodyPr wrap="square" lIns="0" tIns="0" rIns="0" bIns="0" rtlCol="0" anchor="ctr"/>
          <a:lstStyle/>
          <a:p>
            <a:r>
              <a:rPr lang="en-US" sz="900" b="1" dirty="0">
                <a:solidFill>
                  <a:srgbClr val="10B981"/>
                </a:solidFill>
                <a:latin typeface="Calibri" pitchFamily="34" charset="0"/>
                <a:ea typeface="Calibri" pitchFamily="34" charset="-122"/>
                <a:cs typeface="Calibri" pitchFamily="34" charset="-120"/>
              </a:rPr>
              <a:t>U-Net Tumor Segmentation</a:t>
            </a:r>
            <a:endParaRPr lang="en-US" sz="900" dirty="0"/>
          </a:p>
        </p:txBody>
      </p:sp>
      <p:sp>
        <p:nvSpPr>
          <p:cNvPr id="5" name="Shape 4">
            <a:extLst>
              <a:ext uri="{FF2B5EF4-FFF2-40B4-BE49-F238E27FC236}">
                <a16:creationId xmlns:a16="http://schemas.microsoft.com/office/drawing/2014/main" id="{23723A8E-3C09-B046-BD9B-D2A54AA523C2}"/>
              </a:ext>
            </a:extLst>
          </p:cNvPr>
          <p:cNvSpPr/>
          <p:nvPr/>
        </p:nvSpPr>
        <p:spPr>
          <a:xfrm>
            <a:off x="416815" y="1099481"/>
            <a:ext cx="6595595" cy="1683098"/>
          </a:xfrm>
          <a:prstGeom prst="rect">
            <a:avLst/>
          </a:prstGeom>
          <a:solidFill>
            <a:srgbClr val="061020"/>
          </a:solidFill>
          <a:ln w="19050">
            <a:solidFill>
              <a:srgbClr val="10B981"/>
            </a:solidFill>
            <a:prstDash val="solid"/>
          </a:ln>
          <a:effectLst>
            <a:outerShdw blurRad="127000" dist="38100" dir="16200000" algn="bl" rotWithShape="0">
              <a:srgbClr val="000000">
                <a:alpha val="28000"/>
              </a:srgbClr>
            </a:outerShdw>
          </a:effectLst>
        </p:spPr>
      </p:sp>
      <p:pic>
        <p:nvPicPr>
          <p:cNvPr id="6" name="Image 3" descr="preencoded.png">
            <a:extLst>
              <a:ext uri="{FF2B5EF4-FFF2-40B4-BE49-F238E27FC236}">
                <a16:creationId xmlns:a16="http://schemas.microsoft.com/office/drawing/2014/main" id="{5FA54222-0F3A-9C9B-E320-A378A6CD4CEB}"/>
              </a:ext>
            </a:extLst>
          </p:cNvPr>
          <p:cNvPicPr>
            <a:picLocks noChangeAspect="1"/>
          </p:cNvPicPr>
          <p:nvPr/>
        </p:nvPicPr>
        <p:blipFill>
          <a:blip r:embed="rId3"/>
          <a:stretch>
            <a:fillRect/>
          </a:stretch>
        </p:blipFill>
        <p:spPr>
          <a:xfrm>
            <a:off x="453391" y="1128224"/>
            <a:ext cx="6510529" cy="1618147"/>
          </a:xfrm>
          <a:prstGeom prst="rect">
            <a:avLst/>
          </a:prstGeom>
        </p:spPr>
      </p:pic>
      <p:sp>
        <p:nvSpPr>
          <p:cNvPr id="7" name="Text 5">
            <a:extLst>
              <a:ext uri="{FF2B5EF4-FFF2-40B4-BE49-F238E27FC236}">
                <a16:creationId xmlns:a16="http://schemas.microsoft.com/office/drawing/2014/main" id="{1D7B5C56-74F2-E3B4-9426-F7A8F11E2BA7}"/>
              </a:ext>
            </a:extLst>
          </p:cNvPr>
          <p:cNvSpPr/>
          <p:nvPr/>
        </p:nvSpPr>
        <p:spPr>
          <a:xfrm>
            <a:off x="774405" y="2768734"/>
            <a:ext cx="2112264" cy="237744"/>
          </a:xfrm>
          <a:prstGeom prst="rect">
            <a:avLst/>
          </a:prstGeom>
          <a:noFill/>
          <a:ln/>
        </p:spPr>
        <p:txBody>
          <a:bodyPr wrap="square" lIns="0" tIns="0" rIns="0" bIns="0" rtlCol="0" anchor="ctr"/>
          <a:lstStyle/>
          <a:p>
            <a:pPr marL="0" indent="0" algn="ctr">
              <a:buNone/>
            </a:pPr>
            <a:r>
              <a:rPr lang="en-US" sz="1000" b="1" dirty="0">
                <a:solidFill>
                  <a:srgbClr val="94A3B8"/>
                </a:solidFill>
                <a:latin typeface="Calibri" pitchFamily="34" charset="0"/>
                <a:ea typeface="Calibri" pitchFamily="34" charset="-122"/>
                <a:cs typeface="Calibri" pitchFamily="34" charset="-120"/>
              </a:rPr>
              <a:t>Original MRI</a:t>
            </a:r>
            <a:endParaRPr lang="en-US" sz="1000" dirty="0"/>
          </a:p>
        </p:txBody>
      </p:sp>
      <p:sp>
        <p:nvSpPr>
          <p:cNvPr id="8" name="Text 6">
            <a:extLst>
              <a:ext uri="{FF2B5EF4-FFF2-40B4-BE49-F238E27FC236}">
                <a16:creationId xmlns:a16="http://schemas.microsoft.com/office/drawing/2014/main" id="{98C6411B-3F92-E42E-44F5-C2784097B568}"/>
              </a:ext>
            </a:extLst>
          </p:cNvPr>
          <p:cNvSpPr/>
          <p:nvPr/>
        </p:nvSpPr>
        <p:spPr>
          <a:xfrm>
            <a:off x="2096123" y="2761816"/>
            <a:ext cx="2112264" cy="237744"/>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Ground Truth Mask</a:t>
            </a:r>
            <a:endParaRPr lang="en-US" sz="1000" dirty="0"/>
          </a:p>
        </p:txBody>
      </p:sp>
      <p:sp>
        <p:nvSpPr>
          <p:cNvPr id="9" name="Text 7">
            <a:extLst>
              <a:ext uri="{FF2B5EF4-FFF2-40B4-BE49-F238E27FC236}">
                <a16:creationId xmlns:a16="http://schemas.microsoft.com/office/drawing/2014/main" id="{CDE0F606-A2D5-346F-419D-91C9A2A1FD1C}"/>
              </a:ext>
            </a:extLst>
          </p:cNvPr>
          <p:cNvSpPr/>
          <p:nvPr/>
        </p:nvSpPr>
        <p:spPr>
          <a:xfrm>
            <a:off x="3390006" y="2761816"/>
            <a:ext cx="2112264" cy="237744"/>
          </a:xfrm>
          <a:prstGeom prst="rect">
            <a:avLst/>
          </a:prstGeom>
          <a:noFill/>
          <a:ln/>
        </p:spPr>
        <p:txBody>
          <a:bodyPr wrap="square" lIns="0" tIns="0" rIns="0" bIns="0"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Predicted Mask</a:t>
            </a:r>
            <a:endParaRPr lang="en-US" sz="1000" dirty="0"/>
          </a:p>
        </p:txBody>
      </p:sp>
      <p:sp>
        <p:nvSpPr>
          <p:cNvPr id="10" name="Text 8">
            <a:extLst>
              <a:ext uri="{FF2B5EF4-FFF2-40B4-BE49-F238E27FC236}">
                <a16:creationId xmlns:a16="http://schemas.microsoft.com/office/drawing/2014/main" id="{4F250C98-EE09-2981-DB39-8A390CBF18F7}"/>
              </a:ext>
            </a:extLst>
          </p:cNvPr>
          <p:cNvSpPr/>
          <p:nvPr/>
        </p:nvSpPr>
        <p:spPr>
          <a:xfrm>
            <a:off x="4711724" y="2746371"/>
            <a:ext cx="2112264" cy="237744"/>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Tumor Overlay</a:t>
            </a:r>
            <a:endParaRPr lang="en-US" sz="1000" dirty="0"/>
          </a:p>
        </p:txBody>
      </p:sp>
      <p:sp>
        <p:nvSpPr>
          <p:cNvPr id="11" name="Shape 9">
            <a:extLst>
              <a:ext uri="{FF2B5EF4-FFF2-40B4-BE49-F238E27FC236}">
                <a16:creationId xmlns:a16="http://schemas.microsoft.com/office/drawing/2014/main" id="{3E2B19FC-624F-06DF-9C47-D03D822DEAC8}"/>
              </a:ext>
            </a:extLst>
          </p:cNvPr>
          <p:cNvSpPr/>
          <p:nvPr/>
        </p:nvSpPr>
        <p:spPr>
          <a:xfrm>
            <a:off x="416816" y="3128055"/>
            <a:ext cx="6968836" cy="1372559"/>
          </a:xfrm>
          <a:prstGeom prst="rect">
            <a:avLst/>
          </a:prstGeom>
          <a:solidFill>
            <a:srgbClr val="061020"/>
          </a:solidFill>
          <a:ln w="12700">
            <a:solidFill>
              <a:srgbClr val="7C3AED"/>
            </a:solidFill>
            <a:prstDash val="solid"/>
          </a:ln>
          <a:effectLst>
            <a:outerShdw blurRad="63500" dist="25400" dir="16200000" algn="bl" rotWithShape="0">
              <a:srgbClr val="000000">
                <a:alpha val="20000"/>
              </a:srgbClr>
            </a:outerShdw>
          </a:effectLst>
        </p:spPr>
      </p:sp>
      <p:pic>
        <p:nvPicPr>
          <p:cNvPr id="12" name="Image 4" descr="preencoded.png">
            <a:extLst>
              <a:ext uri="{FF2B5EF4-FFF2-40B4-BE49-F238E27FC236}">
                <a16:creationId xmlns:a16="http://schemas.microsoft.com/office/drawing/2014/main" id="{5776DD1F-C2E3-63D1-D6F0-1C7DCBA32261}"/>
              </a:ext>
            </a:extLst>
          </p:cNvPr>
          <p:cNvPicPr>
            <a:picLocks noChangeAspect="1"/>
          </p:cNvPicPr>
          <p:nvPr/>
        </p:nvPicPr>
        <p:blipFill>
          <a:blip r:embed="rId4"/>
          <a:srcRect l="-1992" t="-34687" r="1119" b="11802"/>
          <a:stretch>
            <a:fillRect/>
          </a:stretch>
        </p:blipFill>
        <p:spPr>
          <a:xfrm>
            <a:off x="291184" y="2694981"/>
            <a:ext cx="7033894" cy="1711627"/>
          </a:xfrm>
          <a:prstGeom prst="rect">
            <a:avLst/>
          </a:prstGeom>
        </p:spPr>
      </p:pic>
      <p:sp>
        <p:nvSpPr>
          <p:cNvPr id="13" name="Shape 10">
            <a:extLst>
              <a:ext uri="{FF2B5EF4-FFF2-40B4-BE49-F238E27FC236}">
                <a16:creationId xmlns:a16="http://schemas.microsoft.com/office/drawing/2014/main" id="{DEF0CE88-066A-F48F-BC73-9D1DD5E2D1F8}"/>
              </a:ext>
            </a:extLst>
          </p:cNvPr>
          <p:cNvSpPr/>
          <p:nvPr/>
        </p:nvSpPr>
        <p:spPr>
          <a:xfrm>
            <a:off x="416816" y="4590687"/>
            <a:ext cx="8449056" cy="256032"/>
          </a:xfrm>
          <a:prstGeom prst="rect">
            <a:avLst/>
          </a:prstGeom>
          <a:solidFill>
            <a:srgbClr val="071A0F"/>
          </a:solidFill>
          <a:ln w="12700">
            <a:solidFill>
              <a:srgbClr val="10B981"/>
            </a:solidFill>
            <a:prstDash val="solid"/>
          </a:ln>
        </p:spPr>
      </p:sp>
      <p:sp>
        <p:nvSpPr>
          <p:cNvPr id="14" name="Text 11">
            <a:extLst>
              <a:ext uri="{FF2B5EF4-FFF2-40B4-BE49-F238E27FC236}">
                <a16:creationId xmlns:a16="http://schemas.microsoft.com/office/drawing/2014/main" id="{AF40BC6D-F18D-B8F9-24C5-39717AD491D6}"/>
              </a:ext>
            </a:extLst>
          </p:cNvPr>
          <p:cNvSpPr/>
          <p:nvPr/>
        </p:nvSpPr>
        <p:spPr>
          <a:xfrm>
            <a:off x="526544" y="4627263"/>
            <a:ext cx="8229600" cy="219456"/>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Train Dice: </a:t>
            </a:r>
            <a:r>
              <a:rPr lang="en-US" sz="950" b="1" dirty="0">
                <a:solidFill>
                  <a:srgbClr val="10B981"/>
                </a:solidFill>
                <a:latin typeface="Calibri" pitchFamily="34" charset="0"/>
                <a:ea typeface="Calibri" pitchFamily="34" charset="-122"/>
                <a:cs typeface="Calibri" pitchFamily="34" charset="-120"/>
              </a:rPr>
              <a:t>0.9164  </a:t>
            </a:r>
            <a:r>
              <a:rPr lang="en-US" sz="950" dirty="0">
                <a:solidFill>
                  <a:srgbClr val="94A3B8"/>
                </a:solidFill>
                <a:latin typeface="Calibri" pitchFamily="34" charset="0"/>
                <a:ea typeface="Calibri" pitchFamily="34" charset="-122"/>
                <a:cs typeface="Calibri" pitchFamily="34" charset="-120"/>
              </a:rPr>
              <a:t>Val Dice: </a:t>
            </a:r>
            <a:r>
              <a:rPr lang="en-US" sz="950" b="1" dirty="0">
                <a:solidFill>
                  <a:srgbClr val="00D4FF"/>
                </a:solidFill>
                <a:latin typeface="Calibri" pitchFamily="34" charset="0"/>
                <a:ea typeface="Calibri" pitchFamily="34" charset="-122"/>
                <a:cs typeface="Calibri" pitchFamily="34" charset="-120"/>
              </a:rPr>
              <a:t>0.8041  </a:t>
            </a:r>
            <a:r>
              <a:rPr lang="en-US" sz="950" dirty="0">
                <a:solidFill>
                  <a:srgbClr val="94A3B8"/>
                </a:solidFill>
                <a:latin typeface="Calibri" pitchFamily="34" charset="0"/>
                <a:ea typeface="Calibri" pitchFamily="34" charset="-122"/>
                <a:cs typeface="Calibri" pitchFamily="34" charset="-120"/>
              </a:rPr>
              <a:t>Epochs: </a:t>
            </a:r>
            <a:r>
              <a:rPr lang="en-US" sz="950" dirty="0">
                <a:solidFill>
                  <a:srgbClr val="FFFFFF"/>
                </a:solidFill>
                <a:latin typeface="Calibri" pitchFamily="34" charset="0"/>
                <a:ea typeface="Calibri" pitchFamily="34" charset="-122"/>
                <a:cs typeface="Calibri" pitchFamily="34" charset="-120"/>
              </a:rPr>
              <a:t>30  (ReduceLROnPlateau + EarlyStopping)</a:t>
            </a:r>
            <a:endParaRPr lang="en-US" sz="950" dirty="0"/>
          </a:p>
        </p:txBody>
      </p:sp>
    </p:spTree>
    <p:extLst>
      <p:ext uri="{BB962C8B-B14F-4D97-AF65-F5344CB8AC3E}">
        <p14:creationId xmlns:p14="http://schemas.microsoft.com/office/powerpoint/2010/main" val="2948349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Comparative Analysis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Our models vs. baseline and literature methods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8503920" cy="207264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Architecture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Training Speed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Generalisation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12D4E"/>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7FA8BD"/>
                          </a:solidFill>
                          <a:latin typeface="Calibri" pitchFamily="34" charset="0"/>
                          <a:ea typeface="Calibri" pitchFamily="34" charset="-122"/>
                          <a:cs typeface="Calibri" pitchFamily="34" charset="-120"/>
                        </a:rPr>
                        <a:t>Basic CNN (Baseline)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7FA8BD"/>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7FA8BD"/>
                          </a:solidFill>
                          <a:latin typeface="Calibri" pitchFamily="34" charset="0"/>
                          <a:ea typeface="Calibri" pitchFamily="34" charset="-122"/>
                          <a:cs typeface="Calibri" pitchFamily="34" charset="-120"/>
                        </a:rPr>
                        <a:t>Simple Conv</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7FA8BD"/>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7FA8BD"/>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ResNet50 (Literature)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Deep ResNet</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Slow</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Good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VGG16 Transfer</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VGG16 TL</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Good</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 Our CNN Detection</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00C2CB"/>
                          </a:solidFill>
                          <a:latin typeface="Calibri" pitchFamily="34" charset="0"/>
                          <a:ea typeface="Calibri" pitchFamily="34" charset="-122"/>
                          <a:cs typeface="Calibri" pitchFamily="34" charset="-120"/>
                        </a:rPr>
                        <a:t>97.3%</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00C2CB"/>
                          </a:solidFill>
                          <a:latin typeface="Calibri" pitchFamily="34" charset="0"/>
                          <a:ea typeface="Calibri" pitchFamily="34" charset="-122"/>
                          <a:cs typeface="Calibri" pitchFamily="34" charset="-120"/>
                        </a:rPr>
                        <a:t>Binary Classifier</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00C2CB"/>
                          </a:solidFill>
                          <a:latin typeface="Calibri" pitchFamily="34" charset="0"/>
                          <a:ea typeface="Calibri" pitchFamily="34" charset="-122"/>
                          <a:cs typeface="Calibri" pitchFamily="34" charset="-120"/>
                        </a:rPr>
                        <a:t>Fast (10 ep)</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38BDF8"/>
                          </a:solidFill>
                          <a:latin typeface="Calibri" pitchFamily="34" charset="0"/>
                          <a:ea typeface="Calibri" pitchFamily="34" charset="-122"/>
                          <a:cs typeface="Calibri" pitchFamily="34" charset="-120"/>
                        </a:rPr>
                        <a:t>✓ Our MobileNetV2</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38BDF8"/>
                          </a:solidFill>
                          <a:latin typeface="Calibri" pitchFamily="34" charset="0"/>
                          <a:ea typeface="Calibri" pitchFamily="34" charset="-122"/>
                          <a:cs typeface="Calibri" pitchFamily="34" charset="-120"/>
                        </a:rPr>
                        <a:t>90.0%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MobileNetV2 TL</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38BDF8"/>
                          </a:solidFill>
                          <a:latin typeface="Calibri" pitchFamily="34" charset="0"/>
                          <a:ea typeface="Calibri" pitchFamily="34" charset="-122"/>
                          <a:cs typeface="Calibri" pitchFamily="34" charset="-120"/>
                        </a:rPr>
                        <a:t>Efficient (15 ep)</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Basic U-Net (Baseline)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Dice ~0.70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Vanilla U-Net</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Slow</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tc>
                  <a:txBody>
                    <a:bodyPr/>
                    <a:lstStyle/>
                    <a:p>
                      <a:pPr marL="0" indent="0">
                        <a:buNone/>
                      </a:pPr>
                      <a:r>
                        <a:rPr lang="en-US" sz="1100" dirty="0">
                          <a:solidFill>
                            <a:srgbClr val="E2F4F7"/>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132840"/>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 Our U-Net</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Dice 0.80+</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22D3A0"/>
                          </a:solidFill>
                          <a:latin typeface="Calibri" pitchFamily="34" charset="0"/>
                          <a:ea typeface="Calibri" pitchFamily="34" charset="-122"/>
                          <a:cs typeface="Calibri" pitchFamily="34" charset="-120"/>
                        </a:rPr>
                        <a:t>BN + Dropout</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dirty="0">
                          <a:solidFill>
                            <a:srgbClr val="22D3A0"/>
                          </a:solidFill>
                          <a:latin typeface="Calibri" pitchFamily="34" charset="0"/>
                          <a:ea typeface="Calibri" pitchFamily="34" charset="-122"/>
                          <a:cs typeface="Calibri" pitchFamily="34" charset="-120"/>
                        </a:rPr>
                        <a:t>Optimised (30 ep)</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tc>
                  <a:txBody>
                    <a:bodyPr/>
                    <a:lstStyle/>
                    <a:p>
                      <a:pPr marL="0" indent="0">
                        <a:buNone/>
                      </a:pPr>
                      <a:r>
                        <a:rPr lang="en-US" sz="1100" b="1" dirty="0">
                          <a:solidFill>
                            <a:srgbClr val="22D3A0"/>
                          </a:solidFill>
                          <a:latin typeface="Calibri" pitchFamily="34" charset="0"/>
                          <a:ea typeface="Calibri" pitchFamily="34" charset="-122"/>
                          <a:cs typeface="Calibri" pitchFamily="34" charset="-120"/>
                        </a:rPr>
                        <a:t>Strong</a:t>
                      </a:r>
                      <a:endParaRPr lang="en-US" sz="1100" dirty="0">
                        <a:latin typeface="Calibri" charset="0"/>
                        <a:ea typeface="Calibri" charset="0"/>
                        <a:cs typeface="Calibri" charset="0"/>
                      </a:endParaRPr>
                    </a:p>
                  </a:txBody>
                  <a:tcPr>
                    <a:lnL w="6350" cap="flat" cmpd="sng" algn="ctr">
                      <a:solidFill>
                        <a:srgbClr val="1E4060"/>
                      </a:solidFill>
                      <a:prstDash val="solid"/>
                      <a:round/>
                      <a:headEnd type="none" w="med" len="med"/>
                      <a:tailEnd type="none" w="med" len="med"/>
                    </a:lnL>
                    <a:lnR w="6350" cap="flat" cmpd="sng" algn="ctr">
                      <a:solidFill>
                        <a:srgbClr val="1E4060"/>
                      </a:solidFill>
                      <a:prstDash val="solid"/>
                      <a:round/>
                      <a:headEnd type="none" w="med" len="med"/>
                      <a:tailEnd type="none" w="med" len="med"/>
                    </a:lnR>
                    <a:lnT w="6350" cap="flat" cmpd="sng" algn="ctr">
                      <a:solidFill>
                        <a:srgbClr val="1E4060"/>
                      </a:solidFill>
                      <a:prstDash val="solid"/>
                      <a:round/>
                      <a:headEnd type="none" w="med" len="med"/>
                      <a:tailEnd type="none" w="med" len="med"/>
                    </a:lnT>
                    <a:lnB w="6350" cap="flat" cmpd="sng" algn="ctr">
                      <a:solidFill>
                        <a:srgbClr val="1E4060"/>
                      </a:solidFill>
                      <a:prstDash val="solid"/>
                      <a:round/>
                      <a:headEnd type="none" w="med" len="med"/>
                      <a:tailEnd type="none" w="med" len="med"/>
                    </a:lnB>
                    <a:solidFill>
                      <a:srgbClr val="0D3A5C"/>
                    </a:solidFill>
                  </a:tcPr>
                </a:tc>
                <a:extLst>
                  <a:ext uri="{0D108BD9-81ED-4DB2-BD59-A6C34878D82A}">
                    <a16:rowId xmlns:a16="http://schemas.microsoft.com/office/drawing/2014/main" val="10007"/>
                  </a:ext>
                </a:extLst>
              </a:tr>
            </a:tbl>
          </a:graphicData>
        </a:graphic>
      </p:graphicFrame>
      <p:sp>
        <p:nvSpPr>
          <p:cNvPr id="6" name="Shape 3"/>
          <p:cNvSpPr/>
          <p:nvPr/>
        </p:nvSpPr>
        <p:spPr>
          <a:xfrm>
            <a:off x="347472" y="3753612"/>
            <a:ext cx="2651760" cy="384048"/>
          </a:xfrm>
          <a:prstGeom prst="rect">
            <a:avLst/>
          </a:prstGeom>
          <a:solidFill>
            <a:srgbClr val="132840"/>
          </a:solidFill>
          <a:ln w="12700">
            <a:solidFill>
              <a:srgbClr val="1E4060"/>
            </a:solidFill>
            <a:prstDash val="solid"/>
          </a:ln>
        </p:spPr>
      </p:sp>
      <p:sp>
        <p:nvSpPr>
          <p:cNvPr id="7" name="Text 4"/>
          <p:cNvSpPr/>
          <p:nvPr/>
        </p:nvSpPr>
        <p:spPr>
          <a:xfrm>
            <a:off x="438912" y="3808476"/>
            <a:ext cx="2468880" cy="27432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+12.3pp vs Baseline CNN</a:t>
            </a:r>
            <a:endParaRPr lang="en-US" sz="1100" dirty="0"/>
          </a:p>
        </p:txBody>
      </p:sp>
      <p:sp>
        <p:nvSpPr>
          <p:cNvPr id="8" name="Shape 5"/>
          <p:cNvSpPr/>
          <p:nvPr/>
        </p:nvSpPr>
        <p:spPr>
          <a:xfrm>
            <a:off x="3200400" y="3753612"/>
            <a:ext cx="2651760" cy="384048"/>
          </a:xfrm>
          <a:prstGeom prst="rect">
            <a:avLst/>
          </a:prstGeom>
          <a:solidFill>
            <a:srgbClr val="132840"/>
          </a:solidFill>
          <a:ln w="12700">
            <a:solidFill>
              <a:srgbClr val="1E4060"/>
            </a:solidFill>
            <a:prstDash val="solid"/>
          </a:ln>
        </p:spPr>
      </p:sp>
      <p:sp>
        <p:nvSpPr>
          <p:cNvPr id="9" name="Text 6"/>
          <p:cNvSpPr/>
          <p:nvPr/>
        </p:nvSpPr>
        <p:spPr>
          <a:xfrm>
            <a:off x="3291840" y="3808476"/>
            <a:ext cx="2468880" cy="274320"/>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Efficient TL — 90% in 15 epochs</a:t>
            </a:r>
            <a:endParaRPr lang="en-US" sz="1100" dirty="0"/>
          </a:p>
        </p:txBody>
      </p:sp>
      <p:sp>
        <p:nvSpPr>
          <p:cNvPr id="10" name="Shape 7"/>
          <p:cNvSpPr/>
          <p:nvPr/>
        </p:nvSpPr>
        <p:spPr>
          <a:xfrm>
            <a:off x="6053328" y="3753612"/>
            <a:ext cx="2651760" cy="384048"/>
          </a:xfrm>
          <a:prstGeom prst="rect">
            <a:avLst/>
          </a:prstGeom>
          <a:solidFill>
            <a:srgbClr val="132840"/>
          </a:solidFill>
          <a:ln w="12700">
            <a:solidFill>
              <a:srgbClr val="1E4060"/>
            </a:solidFill>
            <a:prstDash val="solid"/>
          </a:ln>
        </p:spPr>
      </p:sp>
      <p:sp>
        <p:nvSpPr>
          <p:cNvPr id="11" name="Text 8"/>
          <p:cNvSpPr/>
          <p:nvPr/>
        </p:nvSpPr>
        <p:spPr>
          <a:xfrm>
            <a:off x="6144768" y="3808476"/>
            <a:ext cx="2468880" cy="274320"/>
          </a:xfrm>
          <a:prstGeom prst="rect">
            <a:avLst/>
          </a:prstGeom>
          <a:noFill/>
          <a:ln/>
        </p:spPr>
        <p:txBody>
          <a:bodyPr wrap="square" lIns="0" tIns="0" rIns="0" bIns="0" rtlCol="0" anchor="ctr"/>
          <a:lstStyle/>
          <a:p>
            <a:pPr marL="0" indent="0" algn="ctr">
              <a:buNone/>
            </a:pPr>
            <a:r>
              <a:rPr lang="en-US" sz="1100" b="1" dirty="0">
                <a:solidFill>
                  <a:srgbClr val="22D3A0"/>
                </a:solidFill>
                <a:latin typeface="Calibri" pitchFamily="34" charset="0"/>
                <a:ea typeface="Calibri" pitchFamily="34" charset="-122"/>
                <a:cs typeface="Calibri" pitchFamily="34" charset="-120"/>
              </a:rPr>
              <a:t>Dice +0.10 vs Vanilla U-Net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Challenges &amp; Solutions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Technical obstacles encountered and how each was resolved</a:t>
            </a:r>
            <a:endParaRPr lang="en-US" sz="1100" dirty="0"/>
          </a:p>
        </p:txBody>
      </p:sp>
      <p:sp>
        <p:nvSpPr>
          <p:cNvPr id="5" name="Shape 3"/>
          <p:cNvSpPr/>
          <p:nvPr/>
        </p:nvSpPr>
        <p:spPr>
          <a:xfrm>
            <a:off x="320040" y="1024128"/>
            <a:ext cx="4023360" cy="548640"/>
          </a:xfrm>
          <a:prstGeom prst="rect">
            <a:avLst/>
          </a:prstGeom>
          <a:solidFill>
            <a:srgbClr val="132840"/>
          </a:solidFill>
          <a:ln w="12700">
            <a:solidFill>
              <a:srgbClr val="1E4060"/>
            </a:solidFill>
            <a:prstDash val="solid"/>
          </a:ln>
        </p:spPr>
      </p:sp>
      <p:sp>
        <p:nvSpPr>
          <p:cNvPr id="6" name="Shape 4"/>
          <p:cNvSpPr/>
          <p:nvPr/>
        </p:nvSpPr>
        <p:spPr>
          <a:xfrm>
            <a:off x="320040" y="1024128"/>
            <a:ext cx="54864" cy="548640"/>
          </a:xfrm>
          <a:prstGeom prst="rect">
            <a:avLst/>
          </a:prstGeom>
          <a:solidFill>
            <a:srgbClr val="F87171"/>
          </a:solidFill>
          <a:ln w="12700">
            <a:solidFill>
              <a:srgbClr val="F87171"/>
            </a:solidFill>
            <a:prstDash val="solid"/>
          </a:ln>
        </p:spPr>
      </p:sp>
      <p:sp>
        <p:nvSpPr>
          <p:cNvPr id="7" name="Text 5"/>
          <p:cNvSpPr/>
          <p:nvPr/>
        </p:nvSpPr>
        <p:spPr>
          <a:xfrm>
            <a:off x="475488" y="1097280"/>
            <a:ext cx="3749040" cy="402336"/>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  Large BraTS Dataset (~13 GB)</a:t>
            </a:r>
            <a:endParaRPr lang="en-US" sz="1150" dirty="0"/>
          </a:p>
        </p:txBody>
      </p:sp>
      <p:sp>
        <p:nvSpPr>
          <p:cNvPr id="8" name="Shape 6"/>
          <p:cNvSpPr/>
          <p:nvPr/>
        </p:nvSpPr>
        <p:spPr>
          <a:xfrm>
            <a:off x="4526280" y="1024128"/>
            <a:ext cx="4297680" cy="548640"/>
          </a:xfrm>
          <a:prstGeom prst="rect">
            <a:avLst/>
          </a:prstGeom>
          <a:solidFill>
            <a:srgbClr val="132840"/>
          </a:solidFill>
          <a:ln w="12700">
            <a:solidFill>
              <a:srgbClr val="1E4060"/>
            </a:solidFill>
            <a:prstDash val="solid"/>
          </a:ln>
        </p:spPr>
      </p:sp>
      <p:sp>
        <p:nvSpPr>
          <p:cNvPr id="9" name="Shape 7"/>
          <p:cNvSpPr/>
          <p:nvPr/>
        </p:nvSpPr>
        <p:spPr>
          <a:xfrm>
            <a:off x="4526280" y="1024128"/>
            <a:ext cx="54864" cy="548640"/>
          </a:xfrm>
          <a:prstGeom prst="rect">
            <a:avLst/>
          </a:prstGeom>
          <a:solidFill>
            <a:srgbClr val="22D3A0"/>
          </a:solidFill>
          <a:ln w="12700">
            <a:solidFill>
              <a:srgbClr val="22D3A0"/>
            </a:solidFill>
            <a:prstDash val="solid"/>
          </a:ln>
        </p:spPr>
      </p:sp>
      <p:sp>
        <p:nvSpPr>
          <p:cNvPr id="10" name="Text 8"/>
          <p:cNvSpPr/>
          <p:nvPr/>
        </p:nvSpPr>
        <p:spPr>
          <a:xfrm>
            <a:off x="4681728" y="1078992"/>
            <a:ext cx="4069080" cy="43891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Used another dataset from </a:t>
            </a:r>
            <a:r>
              <a:rPr lang="en-US" sz="1100" dirty="0" err="1">
                <a:solidFill>
                  <a:srgbClr val="E2F4F7"/>
                </a:solidFill>
                <a:latin typeface="Calibri" pitchFamily="34" charset="0"/>
                <a:ea typeface="Calibri" pitchFamily="34" charset="-122"/>
                <a:cs typeface="Calibri" pitchFamily="34" charset="-120"/>
              </a:rPr>
              <a:t>kaggle</a:t>
            </a:r>
            <a:r>
              <a:rPr lang="en-US" sz="1100" dirty="0">
                <a:solidFill>
                  <a:srgbClr val="E2F4F7"/>
                </a:solidFill>
                <a:latin typeface="Calibri" pitchFamily="34" charset="0"/>
                <a:ea typeface="Calibri" pitchFamily="34" charset="-122"/>
                <a:cs typeface="Calibri" pitchFamily="34" charset="-120"/>
              </a:rPr>
              <a:t> — sufficient for meaningful segmentation training without any problem.</a:t>
            </a:r>
            <a:endParaRPr lang="en-US" sz="1100" dirty="0"/>
          </a:p>
        </p:txBody>
      </p:sp>
      <p:sp>
        <p:nvSpPr>
          <p:cNvPr id="17" name="Shape 15"/>
          <p:cNvSpPr/>
          <p:nvPr/>
        </p:nvSpPr>
        <p:spPr>
          <a:xfrm>
            <a:off x="320040" y="1676752"/>
            <a:ext cx="4023360" cy="548640"/>
          </a:xfrm>
          <a:prstGeom prst="rect">
            <a:avLst/>
          </a:prstGeom>
          <a:solidFill>
            <a:srgbClr val="132840"/>
          </a:solidFill>
          <a:ln w="12700">
            <a:solidFill>
              <a:srgbClr val="1E4060"/>
            </a:solidFill>
            <a:prstDash val="solid"/>
          </a:ln>
        </p:spPr>
      </p:sp>
      <p:sp>
        <p:nvSpPr>
          <p:cNvPr id="18" name="Shape 16"/>
          <p:cNvSpPr/>
          <p:nvPr/>
        </p:nvSpPr>
        <p:spPr>
          <a:xfrm>
            <a:off x="320040" y="1676752"/>
            <a:ext cx="54864" cy="548640"/>
          </a:xfrm>
          <a:prstGeom prst="rect">
            <a:avLst/>
          </a:prstGeom>
          <a:solidFill>
            <a:srgbClr val="F87171"/>
          </a:solidFill>
          <a:ln w="12700">
            <a:solidFill>
              <a:srgbClr val="F87171"/>
            </a:solidFill>
            <a:prstDash val="solid"/>
          </a:ln>
        </p:spPr>
      </p:sp>
      <p:sp>
        <p:nvSpPr>
          <p:cNvPr id="19" name="Text 17"/>
          <p:cNvSpPr/>
          <p:nvPr/>
        </p:nvSpPr>
        <p:spPr>
          <a:xfrm>
            <a:off x="475488" y="1749904"/>
            <a:ext cx="3749040" cy="402336"/>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  Class Imbalance (Meningioma)</a:t>
            </a:r>
            <a:endParaRPr lang="en-US" sz="1150" dirty="0"/>
          </a:p>
        </p:txBody>
      </p:sp>
      <p:sp>
        <p:nvSpPr>
          <p:cNvPr id="20" name="Shape 18"/>
          <p:cNvSpPr/>
          <p:nvPr/>
        </p:nvSpPr>
        <p:spPr>
          <a:xfrm>
            <a:off x="4526280" y="1676752"/>
            <a:ext cx="4297680" cy="548640"/>
          </a:xfrm>
          <a:prstGeom prst="rect">
            <a:avLst/>
          </a:prstGeom>
          <a:solidFill>
            <a:srgbClr val="132840"/>
          </a:solidFill>
          <a:ln w="12700">
            <a:solidFill>
              <a:srgbClr val="1E4060"/>
            </a:solidFill>
            <a:prstDash val="solid"/>
          </a:ln>
        </p:spPr>
      </p:sp>
      <p:sp>
        <p:nvSpPr>
          <p:cNvPr id="21" name="Shape 19"/>
          <p:cNvSpPr/>
          <p:nvPr/>
        </p:nvSpPr>
        <p:spPr>
          <a:xfrm>
            <a:off x="4526280" y="1676752"/>
            <a:ext cx="54864" cy="548640"/>
          </a:xfrm>
          <a:prstGeom prst="rect">
            <a:avLst/>
          </a:prstGeom>
          <a:solidFill>
            <a:srgbClr val="22D3A0"/>
          </a:solidFill>
          <a:ln w="12700">
            <a:solidFill>
              <a:srgbClr val="22D3A0"/>
            </a:solidFill>
            <a:prstDash val="solid"/>
          </a:ln>
        </p:spPr>
      </p:sp>
      <p:sp>
        <p:nvSpPr>
          <p:cNvPr id="22" name="Text 20"/>
          <p:cNvSpPr/>
          <p:nvPr/>
        </p:nvSpPr>
        <p:spPr>
          <a:xfrm>
            <a:off x="4681728" y="1731616"/>
            <a:ext cx="4069080" cy="43891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Applied class-weighted loss functions and heavy augmentation; MobileNetV2 handles imbalance better than vanilla CNN.</a:t>
            </a:r>
            <a:endParaRPr lang="en-US" sz="1100" dirty="0"/>
          </a:p>
        </p:txBody>
      </p:sp>
      <p:sp>
        <p:nvSpPr>
          <p:cNvPr id="23" name="Shape 21"/>
          <p:cNvSpPr/>
          <p:nvPr/>
        </p:nvSpPr>
        <p:spPr>
          <a:xfrm>
            <a:off x="320040" y="2335120"/>
            <a:ext cx="4023360" cy="548640"/>
          </a:xfrm>
          <a:prstGeom prst="rect">
            <a:avLst/>
          </a:prstGeom>
          <a:solidFill>
            <a:srgbClr val="132840"/>
          </a:solidFill>
          <a:ln w="12700">
            <a:solidFill>
              <a:srgbClr val="1E4060"/>
            </a:solidFill>
            <a:prstDash val="solid"/>
          </a:ln>
        </p:spPr>
      </p:sp>
      <p:sp>
        <p:nvSpPr>
          <p:cNvPr id="24" name="Shape 22"/>
          <p:cNvSpPr/>
          <p:nvPr/>
        </p:nvSpPr>
        <p:spPr>
          <a:xfrm>
            <a:off x="320040" y="2335120"/>
            <a:ext cx="54864" cy="548640"/>
          </a:xfrm>
          <a:prstGeom prst="rect">
            <a:avLst/>
          </a:prstGeom>
          <a:solidFill>
            <a:srgbClr val="F87171"/>
          </a:solidFill>
          <a:ln w="12700">
            <a:solidFill>
              <a:srgbClr val="F87171"/>
            </a:solidFill>
            <a:prstDash val="solid"/>
          </a:ln>
        </p:spPr>
      </p:sp>
      <p:sp>
        <p:nvSpPr>
          <p:cNvPr id="25" name="Text 23"/>
          <p:cNvSpPr/>
          <p:nvPr/>
        </p:nvSpPr>
        <p:spPr>
          <a:xfrm>
            <a:off x="475488" y="2408272"/>
            <a:ext cx="3749040" cy="402336"/>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  Overfitting on Small Datasets</a:t>
            </a:r>
            <a:endParaRPr lang="en-US" sz="1150" dirty="0"/>
          </a:p>
        </p:txBody>
      </p:sp>
      <p:sp>
        <p:nvSpPr>
          <p:cNvPr id="26" name="Shape 24"/>
          <p:cNvSpPr/>
          <p:nvPr/>
        </p:nvSpPr>
        <p:spPr>
          <a:xfrm>
            <a:off x="4526280" y="2335120"/>
            <a:ext cx="4297680" cy="548640"/>
          </a:xfrm>
          <a:prstGeom prst="rect">
            <a:avLst/>
          </a:prstGeom>
          <a:solidFill>
            <a:srgbClr val="132840"/>
          </a:solidFill>
          <a:ln w="12700">
            <a:solidFill>
              <a:srgbClr val="1E4060"/>
            </a:solidFill>
            <a:prstDash val="solid"/>
          </a:ln>
        </p:spPr>
      </p:sp>
      <p:sp>
        <p:nvSpPr>
          <p:cNvPr id="27" name="Shape 25"/>
          <p:cNvSpPr/>
          <p:nvPr/>
        </p:nvSpPr>
        <p:spPr>
          <a:xfrm>
            <a:off x="4526280" y="2335120"/>
            <a:ext cx="54864" cy="548640"/>
          </a:xfrm>
          <a:prstGeom prst="rect">
            <a:avLst/>
          </a:prstGeom>
          <a:solidFill>
            <a:srgbClr val="22D3A0"/>
          </a:solidFill>
          <a:ln w="12700">
            <a:solidFill>
              <a:srgbClr val="22D3A0"/>
            </a:solidFill>
            <a:prstDash val="solid"/>
          </a:ln>
        </p:spPr>
      </p:sp>
      <p:sp>
        <p:nvSpPr>
          <p:cNvPr id="28" name="Text 26"/>
          <p:cNvSpPr/>
          <p:nvPr/>
        </p:nvSpPr>
        <p:spPr>
          <a:xfrm>
            <a:off x="4681728" y="2389984"/>
            <a:ext cx="4069080" cy="43891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Dropout layers, Batch Normalization, EarlyStopping (patience=5) and ReduceLROnPlateau callbacks controlled overfitting.</a:t>
            </a:r>
            <a:endParaRPr lang="en-US" sz="1100" dirty="0"/>
          </a:p>
        </p:txBody>
      </p:sp>
      <p:sp>
        <p:nvSpPr>
          <p:cNvPr id="29" name="Shape 27"/>
          <p:cNvSpPr/>
          <p:nvPr/>
        </p:nvSpPr>
        <p:spPr>
          <a:xfrm>
            <a:off x="320040" y="2993488"/>
            <a:ext cx="4023360" cy="548640"/>
          </a:xfrm>
          <a:prstGeom prst="rect">
            <a:avLst/>
          </a:prstGeom>
          <a:solidFill>
            <a:srgbClr val="132840"/>
          </a:solidFill>
          <a:ln w="12700">
            <a:solidFill>
              <a:srgbClr val="1E4060"/>
            </a:solidFill>
            <a:prstDash val="solid"/>
          </a:ln>
        </p:spPr>
      </p:sp>
      <p:sp>
        <p:nvSpPr>
          <p:cNvPr id="30" name="Shape 28"/>
          <p:cNvSpPr/>
          <p:nvPr/>
        </p:nvSpPr>
        <p:spPr>
          <a:xfrm>
            <a:off x="320040" y="2993488"/>
            <a:ext cx="54864" cy="548640"/>
          </a:xfrm>
          <a:prstGeom prst="rect">
            <a:avLst/>
          </a:prstGeom>
          <a:solidFill>
            <a:srgbClr val="F87171"/>
          </a:solidFill>
          <a:ln w="12700">
            <a:solidFill>
              <a:srgbClr val="F87171"/>
            </a:solidFill>
            <a:prstDash val="solid"/>
          </a:ln>
        </p:spPr>
      </p:sp>
      <p:sp>
        <p:nvSpPr>
          <p:cNvPr id="31" name="Text 29"/>
          <p:cNvSpPr/>
          <p:nvPr/>
        </p:nvSpPr>
        <p:spPr>
          <a:xfrm>
            <a:off x="475488" y="3066640"/>
            <a:ext cx="3749040" cy="402336"/>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  Dependency Conflicts</a:t>
            </a:r>
            <a:endParaRPr lang="en-US" sz="1150" dirty="0"/>
          </a:p>
        </p:txBody>
      </p:sp>
      <p:sp>
        <p:nvSpPr>
          <p:cNvPr id="32" name="Shape 30"/>
          <p:cNvSpPr/>
          <p:nvPr/>
        </p:nvSpPr>
        <p:spPr>
          <a:xfrm>
            <a:off x="4526280" y="2993488"/>
            <a:ext cx="4297680" cy="548640"/>
          </a:xfrm>
          <a:prstGeom prst="rect">
            <a:avLst/>
          </a:prstGeom>
          <a:solidFill>
            <a:srgbClr val="132840"/>
          </a:solidFill>
          <a:ln w="12700">
            <a:solidFill>
              <a:srgbClr val="1E4060"/>
            </a:solidFill>
            <a:prstDash val="solid"/>
          </a:ln>
        </p:spPr>
      </p:sp>
      <p:sp>
        <p:nvSpPr>
          <p:cNvPr id="33" name="Shape 31"/>
          <p:cNvSpPr/>
          <p:nvPr/>
        </p:nvSpPr>
        <p:spPr>
          <a:xfrm>
            <a:off x="4526280" y="2993488"/>
            <a:ext cx="54864" cy="548640"/>
          </a:xfrm>
          <a:prstGeom prst="rect">
            <a:avLst/>
          </a:prstGeom>
          <a:solidFill>
            <a:srgbClr val="22D3A0"/>
          </a:solidFill>
          <a:ln w="12700">
            <a:solidFill>
              <a:srgbClr val="22D3A0"/>
            </a:solidFill>
            <a:prstDash val="solid"/>
          </a:ln>
        </p:spPr>
      </p:sp>
      <p:sp>
        <p:nvSpPr>
          <p:cNvPr id="34" name="Text 32"/>
          <p:cNvSpPr/>
          <p:nvPr/>
        </p:nvSpPr>
        <p:spPr>
          <a:xfrm>
            <a:off x="4681728" y="3048352"/>
            <a:ext cx="4069080" cy="43891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Created isolated Python virtual environments with pinned library versions for reproducible, conflict-free builds.</a:t>
            </a:r>
            <a:endParaRPr lang="en-US" sz="1100" dirty="0"/>
          </a:p>
        </p:txBody>
      </p:sp>
      <p:sp>
        <p:nvSpPr>
          <p:cNvPr id="35" name="Shape 33"/>
          <p:cNvSpPr/>
          <p:nvPr/>
        </p:nvSpPr>
        <p:spPr>
          <a:xfrm>
            <a:off x="320040" y="3651856"/>
            <a:ext cx="4023360" cy="548640"/>
          </a:xfrm>
          <a:prstGeom prst="rect">
            <a:avLst/>
          </a:prstGeom>
          <a:solidFill>
            <a:srgbClr val="132840"/>
          </a:solidFill>
          <a:ln w="12700">
            <a:solidFill>
              <a:srgbClr val="1E4060"/>
            </a:solidFill>
            <a:prstDash val="solid"/>
          </a:ln>
        </p:spPr>
      </p:sp>
      <p:sp>
        <p:nvSpPr>
          <p:cNvPr id="36" name="Shape 34"/>
          <p:cNvSpPr/>
          <p:nvPr/>
        </p:nvSpPr>
        <p:spPr>
          <a:xfrm>
            <a:off x="320040" y="3651856"/>
            <a:ext cx="54864" cy="548640"/>
          </a:xfrm>
          <a:prstGeom prst="rect">
            <a:avLst/>
          </a:prstGeom>
          <a:solidFill>
            <a:srgbClr val="F87171"/>
          </a:solidFill>
          <a:ln w="12700">
            <a:solidFill>
              <a:srgbClr val="F87171"/>
            </a:solidFill>
            <a:prstDash val="solid"/>
          </a:ln>
        </p:spPr>
      </p:sp>
      <p:sp>
        <p:nvSpPr>
          <p:cNvPr id="37" name="Text 35"/>
          <p:cNvSpPr/>
          <p:nvPr/>
        </p:nvSpPr>
        <p:spPr>
          <a:xfrm>
            <a:off x="475488" y="3725008"/>
            <a:ext cx="3749040" cy="402336"/>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  No GPU — CPU-Only Training</a:t>
            </a:r>
            <a:endParaRPr lang="en-US" sz="1150" dirty="0"/>
          </a:p>
        </p:txBody>
      </p:sp>
      <p:sp>
        <p:nvSpPr>
          <p:cNvPr id="38" name="Shape 36"/>
          <p:cNvSpPr/>
          <p:nvPr/>
        </p:nvSpPr>
        <p:spPr>
          <a:xfrm>
            <a:off x="4526280" y="3651856"/>
            <a:ext cx="4297680" cy="548640"/>
          </a:xfrm>
          <a:prstGeom prst="rect">
            <a:avLst/>
          </a:prstGeom>
          <a:solidFill>
            <a:srgbClr val="132840"/>
          </a:solidFill>
          <a:ln w="12700">
            <a:solidFill>
              <a:srgbClr val="1E4060"/>
            </a:solidFill>
            <a:prstDash val="solid"/>
          </a:ln>
        </p:spPr>
      </p:sp>
      <p:sp>
        <p:nvSpPr>
          <p:cNvPr id="39" name="Shape 37"/>
          <p:cNvSpPr/>
          <p:nvPr/>
        </p:nvSpPr>
        <p:spPr>
          <a:xfrm>
            <a:off x="4526280" y="3651856"/>
            <a:ext cx="54864" cy="548640"/>
          </a:xfrm>
          <a:prstGeom prst="rect">
            <a:avLst/>
          </a:prstGeom>
          <a:solidFill>
            <a:srgbClr val="22D3A0"/>
          </a:solidFill>
          <a:ln w="12700">
            <a:solidFill>
              <a:srgbClr val="22D3A0"/>
            </a:solidFill>
            <a:prstDash val="solid"/>
          </a:ln>
        </p:spPr>
      </p:sp>
      <p:sp>
        <p:nvSpPr>
          <p:cNvPr id="40" name="Text 38"/>
          <p:cNvSpPr/>
          <p:nvPr/>
        </p:nvSpPr>
        <p:spPr>
          <a:xfrm>
            <a:off x="4681728" y="3706720"/>
            <a:ext cx="4069080" cy="43891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  Optimized batch sizes and epochs per model; transfer learning (MobileNetV2) dramatically cut training time from scratch.</a:t>
            </a:r>
            <a:endParaRPr lang="en-US" sz="1100" dirty="0"/>
          </a:p>
        </p:txBody>
      </p:sp>
      <p:sp>
        <p:nvSpPr>
          <p:cNvPr id="41" name="Text 39"/>
          <p:cNvSpPr/>
          <p:nvPr/>
        </p:nvSpPr>
        <p:spPr>
          <a:xfrm>
            <a:off x="1371600" y="4273648"/>
            <a:ext cx="1371600" cy="182880"/>
          </a:xfrm>
          <a:prstGeom prst="rect">
            <a:avLst/>
          </a:prstGeom>
          <a:noFill/>
          <a:ln/>
        </p:spPr>
        <p:txBody>
          <a:bodyPr wrap="square" lIns="0" tIns="0" rIns="0" bIns="0" rtlCol="0" anchor="ctr"/>
          <a:lstStyle/>
          <a:p>
            <a:pPr marL="0" indent="0" algn="ctr">
              <a:buNone/>
            </a:pPr>
            <a:r>
              <a:rPr lang="en-US" sz="1000" i="1" dirty="0">
                <a:solidFill>
                  <a:srgbClr val="F87171"/>
                </a:solidFill>
                <a:latin typeface="Calibri" pitchFamily="34" charset="0"/>
                <a:ea typeface="Calibri" pitchFamily="34" charset="-122"/>
                <a:cs typeface="Calibri" pitchFamily="34" charset="-120"/>
              </a:rPr>
              <a:t>← Challenge</a:t>
            </a:r>
            <a:endParaRPr lang="en-US" sz="1000" dirty="0"/>
          </a:p>
        </p:txBody>
      </p:sp>
      <p:sp>
        <p:nvSpPr>
          <p:cNvPr id="42" name="Text 40"/>
          <p:cNvSpPr/>
          <p:nvPr/>
        </p:nvSpPr>
        <p:spPr>
          <a:xfrm>
            <a:off x="5943600" y="4273648"/>
            <a:ext cx="1371600" cy="182880"/>
          </a:xfrm>
          <a:prstGeom prst="rect">
            <a:avLst/>
          </a:prstGeom>
          <a:noFill/>
          <a:ln/>
        </p:spPr>
        <p:txBody>
          <a:bodyPr wrap="square" lIns="0" tIns="0" rIns="0" bIns="0" rtlCol="0" anchor="ctr"/>
          <a:lstStyle/>
          <a:p>
            <a:pPr marL="0" indent="0" algn="ctr">
              <a:buNone/>
            </a:pPr>
            <a:r>
              <a:rPr lang="en-US" sz="1000" i="1" dirty="0">
                <a:solidFill>
                  <a:srgbClr val="22D3A0"/>
                </a:solidFill>
                <a:latin typeface="Calibri" pitchFamily="34" charset="0"/>
                <a:ea typeface="Calibri" pitchFamily="34" charset="-122"/>
                <a:cs typeface="Calibri" pitchFamily="34" charset="-120"/>
              </a:rPr>
              <a:t>Solution →</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Web Application &amp; Deployment</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React + FastAPI full-stack application — operational and demo-ready</a:t>
            </a:r>
            <a:endParaRPr lang="en-US" sz="1100" dirty="0"/>
          </a:p>
        </p:txBody>
      </p:sp>
      <p:sp>
        <p:nvSpPr>
          <p:cNvPr id="5" name="Shape 3"/>
          <p:cNvSpPr/>
          <p:nvPr/>
        </p:nvSpPr>
        <p:spPr>
          <a:xfrm>
            <a:off x="320040" y="1005840"/>
            <a:ext cx="4114800" cy="3931920"/>
          </a:xfrm>
          <a:prstGeom prst="rect">
            <a:avLst/>
          </a:prstGeom>
          <a:solidFill>
            <a:srgbClr val="132840"/>
          </a:solidFill>
          <a:ln w="12700">
            <a:solidFill>
              <a:srgbClr val="1E4060"/>
            </a:solidFill>
            <a:prstDash val="solid"/>
          </a:ln>
        </p:spPr>
      </p:sp>
      <p:sp>
        <p:nvSpPr>
          <p:cNvPr id="6" name="Text 4"/>
          <p:cNvSpPr/>
          <p:nvPr/>
        </p:nvSpPr>
        <p:spPr>
          <a:xfrm>
            <a:off x="457200" y="1078992"/>
            <a:ext cx="3840480" cy="274320"/>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Frontend — React + Vite + Tailwind</a:t>
            </a:r>
            <a:endParaRPr lang="en-US" sz="1250" dirty="0"/>
          </a:p>
        </p:txBody>
      </p:sp>
      <p:sp>
        <p:nvSpPr>
          <p:cNvPr id="7" name="Text 5"/>
          <p:cNvSpPr/>
          <p:nvPr/>
        </p:nvSpPr>
        <p:spPr>
          <a:xfrm>
            <a:off x="502920" y="1444752"/>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DropZone Upload</a:t>
            </a:r>
            <a:endParaRPr lang="en-US" sz="1150" dirty="0"/>
          </a:p>
        </p:txBody>
      </p:sp>
      <p:sp>
        <p:nvSpPr>
          <p:cNvPr id="8" name="Text 6"/>
          <p:cNvSpPr/>
          <p:nvPr/>
        </p:nvSpPr>
        <p:spPr>
          <a:xfrm>
            <a:off x="502920" y="1691640"/>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Drag-and-drop MRI scan upload for single or batch analysis</a:t>
            </a:r>
            <a:endParaRPr lang="en-US" sz="1050" dirty="0"/>
          </a:p>
        </p:txBody>
      </p:sp>
      <p:sp>
        <p:nvSpPr>
          <p:cNvPr id="9" name="Text 7"/>
          <p:cNvSpPr/>
          <p:nvPr/>
        </p:nvSpPr>
        <p:spPr>
          <a:xfrm>
            <a:off x="502920" y="2011680"/>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ResultPanel</a:t>
            </a:r>
            <a:endParaRPr lang="en-US" sz="1150" dirty="0"/>
          </a:p>
        </p:txBody>
      </p:sp>
      <p:sp>
        <p:nvSpPr>
          <p:cNvPr id="10" name="Text 8"/>
          <p:cNvSpPr/>
          <p:nvPr/>
        </p:nvSpPr>
        <p:spPr>
          <a:xfrm>
            <a:off x="502920" y="2258568"/>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Displays prediction confidence, tumor type, and segmentation overlay</a:t>
            </a:r>
            <a:endParaRPr lang="en-US" sz="1050" dirty="0"/>
          </a:p>
        </p:txBody>
      </p:sp>
      <p:sp>
        <p:nvSpPr>
          <p:cNvPr id="11" name="Text 9"/>
          <p:cNvSpPr/>
          <p:nvPr/>
        </p:nvSpPr>
        <p:spPr>
          <a:xfrm>
            <a:off x="502920" y="2578608"/>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Batch Processing</a:t>
            </a:r>
            <a:endParaRPr lang="en-US" sz="1150" dirty="0"/>
          </a:p>
        </p:txBody>
      </p:sp>
      <p:sp>
        <p:nvSpPr>
          <p:cNvPr id="12" name="Text 10"/>
          <p:cNvSpPr/>
          <p:nvPr/>
        </p:nvSpPr>
        <p:spPr>
          <a:xfrm>
            <a:off x="502920" y="2825496"/>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Analyze multiple MRI scans in a single session</a:t>
            </a:r>
            <a:endParaRPr lang="en-US" sz="1050" dirty="0"/>
          </a:p>
        </p:txBody>
      </p:sp>
      <p:sp>
        <p:nvSpPr>
          <p:cNvPr id="13" name="Text 11"/>
          <p:cNvSpPr/>
          <p:nvPr/>
        </p:nvSpPr>
        <p:spPr>
          <a:xfrm>
            <a:off x="502920" y="3145536"/>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QR Code Sharing</a:t>
            </a:r>
            <a:endParaRPr lang="en-US" sz="1150" dirty="0"/>
          </a:p>
        </p:txBody>
      </p:sp>
      <p:sp>
        <p:nvSpPr>
          <p:cNvPr id="14" name="Text 12"/>
          <p:cNvSpPr/>
          <p:nvPr/>
        </p:nvSpPr>
        <p:spPr>
          <a:xfrm>
            <a:off x="502920" y="3392424"/>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Generate scannable QR code to share system on mobile</a:t>
            </a:r>
            <a:endParaRPr lang="en-US" sz="1050" dirty="0"/>
          </a:p>
        </p:txBody>
      </p:sp>
      <p:sp>
        <p:nvSpPr>
          <p:cNvPr id="15" name="Text 13"/>
          <p:cNvSpPr/>
          <p:nvPr/>
        </p:nvSpPr>
        <p:spPr>
          <a:xfrm>
            <a:off x="502920" y="3712464"/>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History Tracking</a:t>
            </a:r>
            <a:endParaRPr lang="en-US" sz="1150" dirty="0"/>
          </a:p>
        </p:txBody>
      </p:sp>
      <p:sp>
        <p:nvSpPr>
          <p:cNvPr id="16" name="Text 14"/>
          <p:cNvSpPr/>
          <p:nvPr/>
        </p:nvSpPr>
        <p:spPr>
          <a:xfrm>
            <a:off x="502920" y="3959352"/>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localStorage-based analysis log with previous results</a:t>
            </a:r>
            <a:endParaRPr lang="en-US" sz="1050" dirty="0"/>
          </a:p>
        </p:txBody>
      </p:sp>
      <p:sp>
        <p:nvSpPr>
          <p:cNvPr id="17" name="Text 15"/>
          <p:cNvSpPr/>
          <p:nvPr/>
        </p:nvSpPr>
        <p:spPr>
          <a:xfrm>
            <a:off x="502920" y="4279392"/>
            <a:ext cx="3749040" cy="228600"/>
          </a:xfrm>
          <a:prstGeom prst="rect">
            <a:avLst/>
          </a:prstGeom>
          <a:noFill/>
          <a:ln/>
        </p:spPr>
        <p:txBody>
          <a:bodyPr wrap="square" lIns="0" tIns="0" rIns="0" bIns="0" rtlCol="0" anchor="ctr"/>
          <a:lstStyle/>
          <a:p>
            <a:pPr marL="0" indent="0">
              <a:buNone/>
            </a:pPr>
            <a:r>
              <a:rPr lang="en-US" sz="1150" b="1" dirty="0">
                <a:solidFill>
                  <a:srgbClr val="38BDF8"/>
                </a:solidFill>
                <a:latin typeface="Calibri" pitchFamily="34" charset="0"/>
                <a:ea typeface="Calibri" pitchFamily="34" charset="-122"/>
                <a:cs typeface="Calibri" pitchFamily="34" charset="-120"/>
              </a:rPr>
              <a:t>▸  Dashboard</a:t>
            </a:r>
            <a:endParaRPr lang="en-US" sz="1150" dirty="0"/>
          </a:p>
        </p:txBody>
      </p:sp>
      <p:sp>
        <p:nvSpPr>
          <p:cNvPr id="18" name="Text 16"/>
          <p:cNvSpPr/>
          <p:nvPr/>
        </p:nvSpPr>
        <p:spPr>
          <a:xfrm>
            <a:off x="502920" y="4526280"/>
            <a:ext cx="3749040" cy="256032"/>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Visual analytics with Recharts — accuracy and prediction trends</a:t>
            </a:r>
            <a:endParaRPr lang="en-US" sz="1050" dirty="0"/>
          </a:p>
        </p:txBody>
      </p:sp>
      <p:sp>
        <p:nvSpPr>
          <p:cNvPr id="19" name="Shape 17"/>
          <p:cNvSpPr/>
          <p:nvPr/>
        </p:nvSpPr>
        <p:spPr>
          <a:xfrm>
            <a:off x="4663440" y="1005840"/>
            <a:ext cx="4160520" cy="2286000"/>
          </a:xfrm>
          <a:prstGeom prst="rect">
            <a:avLst/>
          </a:prstGeom>
          <a:solidFill>
            <a:srgbClr val="132840"/>
          </a:solidFill>
          <a:ln w="12700">
            <a:solidFill>
              <a:srgbClr val="1E4060"/>
            </a:solidFill>
            <a:prstDash val="solid"/>
          </a:ln>
        </p:spPr>
      </p:sp>
      <p:sp>
        <p:nvSpPr>
          <p:cNvPr id="20" name="Text 18"/>
          <p:cNvSpPr/>
          <p:nvPr/>
        </p:nvSpPr>
        <p:spPr>
          <a:xfrm>
            <a:off x="4800600" y="1078992"/>
            <a:ext cx="3886200" cy="274320"/>
          </a:xfrm>
          <a:prstGeom prst="rect">
            <a:avLst/>
          </a:prstGeom>
          <a:noFill/>
          <a:ln/>
        </p:spPr>
        <p:txBody>
          <a:bodyPr wrap="square" lIns="0" tIns="0" rIns="0" bIns="0" rtlCol="0" anchor="ctr"/>
          <a:lstStyle/>
          <a:p>
            <a:pPr marL="0" indent="0">
              <a:buNone/>
            </a:pPr>
            <a:r>
              <a:rPr lang="en-US" sz="1250" b="1" dirty="0">
                <a:solidFill>
                  <a:srgbClr val="00C2CB"/>
                </a:solidFill>
                <a:latin typeface="Calibri" pitchFamily="34" charset="0"/>
                <a:ea typeface="Calibri" pitchFamily="34" charset="-122"/>
                <a:cs typeface="Calibri" pitchFamily="34" charset="-120"/>
              </a:rPr>
              <a:t>Backend — FastAPI + TensorFlow</a:t>
            </a:r>
            <a:endParaRPr lang="en-US" sz="1250" dirty="0"/>
          </a:p>
        </p:txBody>
      </p:sp>
      <p:sp>
        <p:nvSpPr>
          <p:cNvPr id="21" name="Shape 19"/>
          <p:cNvSpPr/>
          <p:nvPr/>
        </p:nvSpPr>
        <p:spPr>
          <a:xfrm>
            <a:off x="4800600" y="1417320"/>
            <a:ext cx="1828800" cy="301752"/>
          </a:xfrm>
          <a:prstGeom prst="rect">
            <a:avLst/>
          </a:prstGeom>
          <a:solidFill>
            <a:srgbClr val="112D4E"/>
          </a:solidFill>
          <a:ln w="12700">
            <a:solidFill>
              <a:srgbClr val="00C2CB"/>
            </a:solidFill>
            <a:prstDash val="solid"/>
          </a:ln>
        </p:spPr>
      </p:sp>
      <p:sp>
        <p:nvSpPr>
          <p:cNvPr id="22" name="Text 20"/>
          <p:cNvSpPr/>
          <p:nvPr/>
        </p:nvSpPr>
        <p:spPr>
          <a:xfrm>
            <a:off x="4800600" y="1417320"/>
            <a:ext cx="1828800" cy="301752"/>
          </a:xfrm>
          <a:prstGeom prst="rect">
            <a:avLst/>
          </a:prstGeom>
          <a:noFill/>
          <a:ln/>
        </p:spPr>
        <p:txBody>
          <a:bodyPr wrap="square" lIns="0" tIns="0" rIns="0" bIns="0"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/predict/binary</a:t>
            </a:r>
            <a:endParaRPr lang="en-US" sz="1000" dirty="0"/>
          </a:p>
        </p:txBody>
      </p:sp>
      <p:sp>
        <p:nvSpPr>
          <p:cNvPr id="23" name="Text 21"/>
          <p:cNvSpPr/>
          <p:nvPr/>
        </p:nvSpPr>
        <p:spPr>
          <a:xfrm>
            <a:off x="6720840" y="1463040"/>
            <a:ext cx="2057400" cy="27432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CNN tumor detection</a:t>
            </a:r>
            <a:endParaRPr lang="en-US" sz="1050" dirty="0"/>
          </a:p>
        </p:txBody>
      </p:sp>
      <p:sp>
        <p:nvSpPr>
          <p:cNvPr id="24" name="Shape 22"/>
          <p:cNvSpPr/>
          <p:nvPr/>
        </p:nvSpPr>
        <p:spPr>
          <a:xfrm>
            <a:off x="4800600" y="1783080"/>
            <a:ext cx="1828800" cy="301752"/>
          </a:xfrm>
          <a:prstGeom prst="rect">
            <a:avLst/>
          </a:prstGeom>
          <a:solidFill>
            <a:srgbClr val="112D4E"/>
          </a:solidFill>
          <a:ln w="12700">
            <a:solidFill>
              <a:srgbClr val="00C2CB"/>
            </a:solidFill>
            <a:prstDash val="solid"/>
          </a:ln>
        </p:spPr>
      </p:sp>
      <p:sp>
        <p:nvSpPr>
          <p:cNvPr id="25" name="Text 23"/>
          <p:cNvSpPr/>
          <p:nvPr/>
        </p:nvSpPr>
        <p:spPr>
          <a:xfrm>
            <a:off x="4800600" y="1783080"/>
            <a:ext cx="1828800" cy="301752"/>
          </a:xfrm>
          <a:prstGeom prst="rect">
            <a:avLst/>
          </a:prstGeom>
          <a:noFill/>
          <a:ln/>
        </p:spPr>
        <p:txBody>
          <a:bodyPr wrap="square" lIns="0" tIns="0" rIns="0" bIns="0"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/predict/type</a:t>
            </a:r>
            <a:endParaRPr lang="en-US" sz="1000" dirty="0"/>
          </a:p>
        </p:txBody>
      </p:sp>
      <p:sp>
        <p:nvSpPr>
          <p:cNvPr id="26" name="Text 24"/>
          <p:cNvSpPr/>
          <p:nvPr/>
        </p:nvSpPr>
        <p:spPr>
          <a:xfrm>
            <a:off x="6720840" y="1828800"/>
            <a:ext cx="2057400" cy="27432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MobileNetV2 classification</a:t>
            </a:r>
            <a:endParaRPr lang="en-US" sz="1050" dirty="0"/>
          </a:p>
        </p:txBody>
      </p:sp>
      <p:sp>
        <p:nvSpPr>
          <p:cNvPr id="27" name="Shape 25"/>
          <p:cNvSpPr/>
          <p:nvPr/>
        </p:nvSpPr>
        <p:spPr>
          <a:xfrm>
            <a:off x="4800600" y="2148840"/>
            <a:ext cx="1828800" cy="301752"/>
          </a:xfrm>
          <a:prstGeom prst="rect">
            <a:avLst/>
          </a:prstGeom>
          <a:solidFill>
            <a:srgbClr val="112D4E"/>
          </a:solidFill>
          <a:ln w="12700">
            <a:solidFill>
              <a:srgbClr val="00C2CB"/>
            </a:solidFill>
            <a:prstDash val="solid"/>
          </a:ln>
        </p:spPr>
      </p:sp>
      <p:sp>
        <p:nvSpPr>
          <p:cNvPr id="28" name="Text 26"/>
          <p:cNvSpPr/>
          <p:nvPr/>
        </p:nvSpPr>
        <p:spPr>
          <a:xfrm>
            <a:off x="4800600" y="2148840"/>
            <a:ext cx="1828800" cy="301752"/>
          </a:xfrm>
          <a:prstGeom prst="rect">
            <a:avLst/>
          </a:prstGeom>
          <a:noFill/>
          <a:ln/>
        </p:spPr>
        <p:txBody>
          <a:bodyPr wrap="square" lIns="0" tIns="0" rIns="0" bIns="0"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/predict/segmentation</a:t>
            </a:r>
            <a:endParaRPr lang="en-US" sz="1000" dirty="0"/>
          </a:p>
        </p:txBody>
      </p:sp>
      <p:sp>
        <p:nvSpPr>
          <p:cNvPr id="29" name="Text 27"/>
          <p:cNvSpPr/>
          <p:nvPr/>
        </p:nvSpPr>
        <p:spPr>
          <a:xfrm>
            <a:off x="6720840" y="2194560"/>
            <a:ext cx="2057400" cy="27432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U-Net mask generation</a:t>
            </a:r>
            <a:endParaRPr lang="en-US" sz="1050" dirty="0"/>
          </a:p>
        </p:txBody>
      </p:sp>
      <p:sp>
        <p:nvSpPr>
          <p:cNvPr id="30" name="Shape 28"/>
          <p:cNvSpPr/>
          <p:nvPr/>
        </p:nvSpPr>
        <p:spPr>
          <a:xfrm>
            <a:off x="4800600" y="2514600"/>
            <a:ext cx="1828800" cy="301752"/>
          </a:xfrm>
          <a:prstGeom prst="rect">
            <a:avLst/>
          </a:prstGeom>
          <a:solidFill>
            <a:srgbClr val="112D4E"/>
          </a:solidFill>
          <a:ln w="12700">
            <a:solidFill>
              <a:srgbClr val="00C2CB"/>
            </a:solidFill>
            <a:prstDash val="solid"/>
          </a:ln>
        </p:spPr>
      </p:sp>
      <p:sp>
        <p:nvSpPr>
          <p:cNvPr id="31" name="Text 29"/>
          <p:cNvSpPr/>
          <p:nvPr/>
        </p:nvSpPr>
        <p:spPr>
          <a:xfrm>
            <a:off x="4800600" y="2514600"/>
            <a:ext cx="1828800" cy="301752"/>
          </a:xfrm>
          <a:prstGeom prst="rect">
            <a:avLst/>
          </a:prstGeom>
          <a:noFill/>
          <a:ln/>
        </p:spPr>
        <p:txBody>
          <a:bodyPr wrap="square" lIns="0" tIns="0" rIns="0" bIns="0"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/predict/full</a:t>
            </a:r>
            <a:endParaRPr lang="en-US" sz="1000" dirty="0"/>
          </a:p>
        </p:txBody>
      </p:sp>
      <p:sp>
        <p:nvSpPr>
          <p:cNvPr id="32" name="Text 30"/>
          <p:cNvSpPr/>
          <p:nvPr/>
        </p:nvSpPr>
        <p:spPr>
          <a:xfrm>
            <a:off x="6720840" y="2560320"/>
            <a:ext cx="2057400" cy="27432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Complete 3-stage pipeline</a:t>
            </a:r>
            <a:endParaRPr lang="en-US" sz="1050" dirty="0"/>
          </a:p>
        </p:txBody>
      </p:sp>
      <p:sp>
        <p:nvSpPr>
          <p:cNvPr id="33" name="Shape 31"/>
          <p:cNvSpPr/>
          <p:nvPr/>
        </p:nvSpPr>
        <p:spPr>
          <a:xfrm>
            <a:off x="4800600" y="2880360"/>
            <a:ext cx="1828800" cy="301752"/>
          </a:xfrm>
          <a:prstGeom prst="rect">
            <a:avLst/>
          </a:prstGeom>
          <a:solidFill>
            <a:srgbClr val="112D4E"/>
          </a:solidFill>
          <a:ln w="12700">
            <a:solidFill>
              <a:srgbClr val="00C2CB"/>
            </a:solidFill>
            <a:prstDash val="solid"/>
          </a:ln>
        </p:spPr>
      </p:sp>
      <p:sp>
        <p:nvSpPr>
          <p:cNvPr id="34" name="Text 32"/>
          <p:cNvSpPr/>
          <p:nvPr/>
        </p:nvSpPr>
        <p:spPr>
          <a:xfrm>
            <a:off x="4800600" y="2880360"/>
            <a:ext cx="1828800" cy="301752"/>
          </a:xfrm>
          <a:prstGeom prst="rect">
            <a:avLst/>
          </a:prstGeom>
          <a:noFill/>
          <a:ln/>
        </p:spPr>
        <p:txBody>
          <a:bodyPr wrap="square" lIns="0" tIns="0" rIns="0" bIns="0"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/generate-report</a:t>
            </a:r>
            <a:endParaRPr lang="en-US" sz="1000" dirty="0"/>
          </a:p>
        </p:txBody>
      </p:sp>
      <p:sp>
        <p:nvSpPr>
          <p:cNvPr id="35" name="Text 33"/>
          <p:cNvSpPr/>
          <p:nvPr/>
        </p:nvSpPr>
        <p:spPr>
          <a:xfrm>
            <a:off x="6720840" y="2926080"/>
            <a:ext cx="2057400" cy="27432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PDF via ReportLab</a:t>
            </a:r>
            <a:endParaRPr lang="en-US" sz="1050" dirty="0"/>
          </a:p>
        </p:txBody>
      </p:sp>
      <p:sp>
        <p:nvSpPr>
          <p:cNvPr id="36" name="Shape 34"/>
          <p:cNvSpPr/>
          <p:nvPr/>
        </p:nvSpPr>
        <p:spPr>
          <a:xfrm>
            <a:off x="4663440" y="3429000"/>
            <a:ext cx="4160520" cy="1508760"/>
          </a:xfrm>
          <a:prstGeom prst="rect">
            <a:avLst/>
          </a:prstGeom>
          <a:solidFill>
            <a:srgbClr val="132840"/>
          </a:solidFill>
          <a:ln w="12700">
            <a:solidFill>
              <a:srgbClr val="1E4060"/>
            </a:solidFill>
            <a:prstDash val="solid"/>
          </a:ln>
        </p:spPr>
      </p:sp>
      <p:sp>
        <p:nvSpPr>
          <p:cNvPr id="37" name="Text 35"/>
          <p:cNvSpPr/>
          <p:nvPr/>
        </p:nvSpPr>
        <p:spPr>
          <a:xfrm>
            <a:off x="4800600" y="3502152"/>
            <a:ext cx="3886200" cy="274320"/>
          </a:xfrm>
          <a:prstGeom prst="rect">
            <a:avLst/>
          </a:prstGeom>
          <a:noFill/>
          <a:ln/>
        </p:spPr>
        <p:txBody>
          <a:bodyPr wrap="square" lIns="0" tIns="0" rIns="0" bIns="0" rtlCol="0" anchor="ctr"/>
          <a:lstStyle/>
          <a:p>
            <a:pPr marL="0" indent="0">
              <a:buNone/>
            </a:pPr>
            <a:r>
              <a:rPr lang="en-US" sz="1250" b="1" dirty="0">
                <a:solidFill>
                  <a:srgbClr val="FBBF24"/>
                </a:solidFill>
                <a:latin typeface="Calibri" pitchFamily="34" charset="0"/>
                <a:ea typeface="Calibri" pitchFamily="34" charset="-122"/>
                <a:cs typeface="Calibri" pitchFamily="34" charset="-120"/>
              </a:rPr>
              <a:t>PDF Report Generation</a:t>
            </a:r>
            <a:endParaRPr lang="en-US" sz="1250" dirty="0"/>
          </a:p>
        </p:txBody>
      </p:sp>
      <p:sp>
        <p:nvSpPr>
          <p:cNvPr id="38" name="Text 36"/>
          <p:cNvSpPr/>
          <p:nvPr/>
        </p:nvSpPr>
        <p:spPr>
          <a:xfrm>
            <a:off x="4800600" y="3822192"/>
            <a:ext cx="3886200" cy="1051560"/>
          </a:xfrm>
          <a:prstGeom prst="rect">
            <a:avLst/>
          </a:prstGeom>
          <a:noFill/>
          <a:ln/>
        </p:spPr>
        <p:txBody>
          <a:bodyPr wrap="square" lIns="0" tIns="0" rIns="0" bIns="0" rtlCol="0" anchor="ctr"/>
          <a:lstStyle/>
          <a:p>
            <a:pPr marL="0" indent="0">
              <a:lnSpc>
                <a:spcPct val="120000"/>
              </a:lnSpc>
              <a:buNone/>
            </a:pPr>
            <a:r>
              <a:rPr lang="en-US" sz="1100" dirty="0">
                <a:solidFill>
                  <a:srgbClr val="E2F4F7"/>
                </a:solidFill>
                <a:latin typeface="Calibri" pitchFamily="34" charset="0"/>
                <a:ea typeface="Calibri" pitchFamily="34" charset="-122"/>
                <a:cs typeface="Calibri" pitchFamily="34" charset="-120"/>
              </a:rPr>
              <a:t>Auto-generated via ReportLab. Each report includes:</a:t>
            </a:r>
            <a:endParaRPr lang="en-US" sz="1100" dirty="0"/>
          </a:p>
          <a:p>
            <a:pPr marL="0" indent="0">
              <a:lnSpc>
                <a:spcPct val="120000"/>
              </a:lnSpc>
              <a:buNone/>
            </a:pPr>
            <a:r>
              <a:rPr lang="en-US" sz="1100" dirty="0">
                <a:solidFill>
                  <a:srgbClr val="E2F4F7"/>
                </a:solidFill>
                <a:latin typeface="Calibri" pitchFamily="34" charset="0"/>
                <a:ea typeface="Calibri" pitchFamily="34" charset="-122"/>
                <a:cs typeface="Calibri" pitchFamily="34" charset="-120"/>
              </a:rPr>
              <a:t>  •  Detection result + confidence score</a:t>
            </a:r>
            <a:endParaRPr lang="en-US" sz="1100" dirty="0"/>
          </a:p>
          <a:p>
            <a:pPr marL="0" indent="0">
              <a:lnSpc>
                <a:spcPct val="120000"/>
              </a:lnSpc>
              <a:buNone/>
            </a:pPr>
            <a:r>
              <a:rPr lang="en-US" sz="1100" dirty="0">
                <a:solidFill>
                  <a:srgbClr val="E2F4F7"/>
                </a:solidFill>
                <a:latin typeface="Calibri" pitchFamily="34" charset="0"/>
                <a:ea typeface="Calibri" pitchFamily="34" charset="-122"/>
                <a:cs typeface="Calibri" pitchFamily="34" charset="-120"/>
              </a:rPr>
              <a:t>  •  Tumor type + class probabilities</a:t>
            </a:r>
            <a:endParaRPr lang="en-US" sz="1100" dirty="0"/>
          </a:p>
          <a:p>
            <a:pPr marL="0" indent="0">
              <a:lnSpc>
                <a:spcPct val="120000"/>
              </a:lnSpc>
              <a:buNone/>
            </a:pPr>
            <a:r>
              <a:rPr lang="en-US" sz="1100" dirty="0">
                <a:solidFill>
                  <a:srgbClr val="E2F4F7"/>
                </a:solidFill>
                <a:latin typeface="Calibri" pitchFamily="34" charset="0"/>
                <a:ea typeface="Calibri" pitchFamily="34" charset="-122"/>
                <a:cs typeface="Calibri" pitchFamily="34" charset="-120"/>
              </a:rPr>
              <a:t>  •  Segmentation mask overlay + area %</a:t>
            </a:r>
            <a:endParaRPr lang="en-US" sz="1100" dirty="0"/>
          </a:p>
          <a:p>
            <a:pPr marL="0" indent="0">
              <a:lnSpc>
                <a:spcPct val="120000"/>
              </a:lnSpc>
              <a:buNone/>
            </a:pPr>
            <a:r>
              <a:rPr lang="en-US" sz="1100" dirty="0">
                <a:solidFill>
                  <a:srgbClr val="E2F4F7"/>
                </a:solidFill>
                <a:latin typeface="Calibri" pitchFamily="34" charset="0"/>
                <a:ea typeface="Calibri" pitchFamily="34" charset="-122"/>
                <a:cs typeface="Calibri" pitchFamily="34" charset="-120"/>
              </a:rPr>
              <a:t>  •  QR code for system sharing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Real-World Applications &amp; Impact</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Clinical, educational, and technological deployment possibilities</a:t>
            </a:r>
            <a:endParaRPr lang="en-US" sz="1100" dirty="0"/>
          </a:p>
        </p:txBody>
      </p:sp>
      <p:sp>
        <p:nvSpPr>
          <p:cNvPr id="5" name="Shape 3"/>
          <p:cNvSpPr/>
          <p:nvPr/>
        </p:nvSpPr>
        <p:spPr>
          <a:xfrm>
            <a:off x="320040" y="1024128"/>
            <a:ext cx="2743200" cy="1755648"/>
          </a:xfrm>
          <a:prstGeom prst="rect">
            <a:avLst/>
          </a:prstGeom>
          <a:solidFill>
            <a:srgbClr val="132840"/>
          </a:solidFill>
          <a:ln w="12700">
            <a:solidFill>
              <a:srgbClr val="1E4060"/>
            </a:solidFill>
            <a:prstDash val="solid"/>
          </a:ln>
        </p:spPr>
      </p:sp>
      <p:sp>
        <p:nvSpPr>
          <p:cNvPr id="6" name="Shape 4"/>
          <p:cNvSpPr/>
          <p:nvPr/>
        </p:nvSpPr>
        <p:spPr>
          <a:xfrm>
            <a:off x="320040" y="1024128"/>
            <a:ext cx="2743200" cy="54864"/>
          </a:xfrm>
          <a:prstGeom prst="rect">
            <a:avLst/>
          </a:prstGeom>
          <a:solidFill>
            <a:srgbClr val="00C2CB"/>
          </a:solidFill>
          <a:ln w="12700">
            <a:solidFill>
              <a:srgbClr val="00C2CB"/>
            </a:solidFill>
            <a:prstDash val="solid"/>
          </a:ln>
        </p:spPr>
      </p:sp>
      <p:pic>
        <p:nvPicPr>
          <p:cNvPr id="7" name="Image 0" descr="preencoded.png"/>
          <p:cNvPicPr>
            <a:picLocks noChangeAspect="1"/>
          </p:cNvPicPr>
          <p:nvPr/>
        </p:nvPicPr>
        <p:blipFill>
          <a:blip r:embed="rId3"/>
          <a:stretch>
            <a:fillRect/>
          </a:stretch>
        </p:blipFill>
        <p:spPr>
          <a:xfrm>
            <a:off x="457200" y="1188720"/>
            <a:ext cx="411480" cy="411480"/>
          </a:xfrm>
          <a:prstGeom prst="rect">
            <a:avLst/>
          </a:prstGeom>
        </p:spPr>
      </p:pic>
      <p:sp>
        <p:nvSpPr>
          <p:cNvPr id="8" name="Text 5"/>
          <p:cNvSpPr/>
          <p:nvPr/>
        </p:nvSpPr>
        <p:spPr>
          <a:xfrm>
            <a:off x="978408" y="118872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Hospital Diagnostic Support</a:t>
            </a:r>
            <a:endParaRPr lang="en-US" sz="1200" dirty="0"/>
          </a:p>
        </p:txBody>
      </p:sp>
      <p:sp>
        <p:nvSpPr>
          <p:cNvPr id="9" name="Text 6"/>
          <p:cNvSpPr/>
          <p:nvPr/>
        </p:nvSpPr>
        <p:spPr>
          <a:xfrm>
            <a:off x="457200" y="170992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AI-assisted MRI screening for faster, more accurate tumor detection in clinical radiology workflows.</a:t>
            </a:r>
            <a:endParaRPr lang="en-US" sz="1050" dirty="0"/>
          </a:p>
        </p:txBody>
      </p:sp>
      <p:sp>
        <p:nvSpPr>
          <p:cNvPr id="10" name="Shape 7"/>
          <p:cNvSpPr/>
          <p:nvPr/>
        </p:nvSpPr>
        <p:spPr>
          <a:xfrm>
            <a:off x="3264408" y="1024128"/>
            <a:ext cx="2743200" cy="1755648"/>
          </a:xfrm>
          <a:prstGeom prst="rect">
            <a:avLst/>
          </a:prstGeom>
          <a:solidFill>
            <a:srgbClr val="132840"/>
          </a:solidFill>
          <a:ln w="12700">
            <a:solidFill>
              <a:srgbClr val="1E4060"/>
            </a:solidFill>
            <a:prstDash val="solid"/>
          </a:ln>
        </p:spPr>
      </p:sp>
      <p:sp>
        <p:nvSpPr>
          <p:cNvPr id="11" name="Shape 8"/>
          <p:cNvSpPr/>
          <p:nvPr/>
        </p:nvSpPr>
        <p:spPr>
          <a:xfrm>
            <a:off x="3264408" y="1024128"/>
            <a:ext cx="2743200" cy="54864"/>
          </a:xfrm>
          <a:prstGeom prst="rect">
            <a:avLst/>
          </a:prstGeom>
          <a:solidFill>
            <a:srgbClr val="38BDF8"/>
          </a:solidFill>
          <a:ln w="12700">
            <a:solidFill>
              <a:srgbClr val="38BDF8"/>
            </a:solidFill>
            <a:prstDash val="solid"/>
          </a:ln>
        </p:spPr>
      </p:sp>
      <p:pic>
        <p:nvPicPr>
          <p:cNvPr id="12" name="Image 1" descr="preencoded.png"/>
          <p:cNvPicPr>
            <a:picLocks noChangeAspect="1"/>
          </p:cNvPicPr>
          <p:nvPr/>
        </p:nvPicPr>
        <p:blipFill>
          <a:blip r:embed="rId4"/>
          <a:stretch>
            <a:fillRect/>
          </a:stretch>
        </p:blipFill>
        <p:spPr>
          <a:xfrm>
            <a:off x="3401568" y="1188720"/>
            <a:ext cx="411480" cy="411480"/>
          </a:xfrm>
          <a:prstGeom prst="rect">
            <a:avLst/>
          </a:prstGeom>
        </p:spPr>
      </p:pic>
      <p:sp>
        <p:nvSpPr>
          <p:cNvPr id="13" name="Text 9"/>
          <p:cNvSpPr/>
          <p:nvPr/>
        </p:nvSpPr>
        <p:spPr>
          <a:xfrm>
            <a:off x="3922776" y="118872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MRI Analysis Automation</a:t>
            </a:r>
            <a:endParaRPr lang="en-US" sz="1200" dirty="0"/>
          </a:p>
        </p:txBody>
      </p:sp>
      <p:sp>
        <p:nvSpPr>
          <p:cNvPr id="14" name="Text 10"/>
          <p:cNvSpPr/>
          <p:nvPr/>
        </p:nvSpPr>
        <p:spPr>
          <a:xfrm>
            <a:off x="3401568" y="170992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Automates manual radiologist review — significantly reducing analysis time per patient.</a:t>
            </a:r>
            <a:endParaRPr lang="en-US" sz="1050" dirty="0"/>
          </a:p>
        </p:txBody>
      </p:sp>
      <p:sp>
        <p:nvSpPr>
          <p:cNvPr id="15" name="Shape 11"/>
          <p:cNvSpPr/>
          <p:nvPr/>
        </p:nvSpPr>
        <p:spPr>
          <a:xfrm>
            <a:off x="6208776" y="1024128"/>
            <a:ext cx="2743200" cy="1755648"/>
          </a:xfrm>
          <a:prstGeom prst="rect">
            <a:avLst/>
          </a:prstGeom>
          <a:solidFill>
            <a:srgbClr val="132840"/>
          </a:solidFill>
          <a:ln w="12700">
            <a:solidFill>
              <a:srgbClr val="1E4060"/>
            </a:solidFill>
            <a:prstDash val="solid"/>
          </a:ln>
        </p:spPr>
      </p:sp>
      <p:sp>
        <p:nvSpPr>
          <p:cNvPr id="16" name="Shape 12"/>
          <p:cNvSpPr/>
          <p:nvPr/>
        </p:nvSpPr>
        <p:spPr>
          <a:xfrm>
            <a:off x="6208776" y="1024128"/>
            <a:ext cx="2743200" cy="54864"/>
          </a:xfrm>
          <a:prstGeom prst="rect">
            <a:avLst/>
          </a:prstGeom>
          <a:solidFill>
            <a:srgbClr val="22D3A0"/>
          </a:solidFill>
          <a:ln w="12700">
            <a:solidFill>
              <a:srgbClr val="22D3A0"/>
            </a:solidFill>
            <a:prstDash val="solid"/>
          </a:ln>
        </p:spPr>
      </p:sp>
      <p:pic>
        <p:nvPicPr>
          <p:cNvPr id="17" name="Image 2" descr="preencoded.png"/>
          <p:cNvPicPr>
            <a:picLocks noChangeAspect="1"/>
          </p:cNvPicPr>
          <p:nvPr/>
        </p:nvPicPr>
        <p:blipFill>
          <a:blip r:embed="rId5"/>
          <a:stretch>
            <a:fillRect/>
          </a:stretch>
        </p:blipFill>
        <p:spPr>
          <a:xfrm>
            <a:off x="6345936" y="1188720"/>
            <a:ext cx="411480" cy="411480"/>
          </a:xfrm>
          <a:prstGeom prst="rect">
            <a:avLst/>
          </a:prstGeom>
        </p:spPr>
      </p:pic>
      <p:sp>
        <p:nvSpPr>
          <p:cNvPr id="18" name="Text 13"/>
          <p:cNvSpPr/>
          <p:nvPr/>
        </p:nvSpPr>
        <p:spPr>
          <a:xfrm>
            <a:off x="6867144" y="118872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Clinical Decision Assistance</a:t>
            </a:r>
            <a:endParaRPr lang="en-US" sz="1200" dirty="0"/>
          </a:p>
        </p:txBody>
      </p:sp>
      <p:sp>
        <p:nvSpPr>
          <p:cNvPr id="19" name="Text 14"/>
          <p:cNvSpPr/>
          <p:nvPr/>
        </p:nvSpPr>
        <p:spPr>
          <a:xfrm>
            <a:off x="6345936" y="170992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Confidence scores and multi-class outputs support oncologists in treatment planning decisions.</a:t>
            </a:r>
            <a:endParaRPr lang="en-US" sz="1050" dirty="0"/>
          </a:p>
        </p:txBody>
      </p:sp>
      <p:sp>
        <p:nvSpPr>
          <p:cNvPr id="20" name="Shape 15"/>
          <p:cNvSpPr/>
          <p:nvPr/>
        </p:nvSpPr>
        <p:spPr>
          <a:xfrm>
            <a:off x="320040" y="2944368"/>
            <a:ext cx="2743200" cy="1755648"/>
          </a:xfrm>
          <a:prstGeom prst="rect">
            <a:avLst/>
          </a:prstGeom>
          <a:solidFill>
            <a:srgbClr val="132840"/>
          </a:solidFill>
          <a:ln w="12700">
            <a:solidFill>
              <a:srgbClr val="1E4060"/>
            </a:solidFill>
            <a:prstDash val="solid"/>
          </a:ln>
        </p:spPr>
      </p:sp>
      <p:sp>
        <p:nvSpPr>
          <p:cNvPr id="21" name="Shape 16"/>
          <p:cNvSpPr/>
          <p:nvPr/>
        </p:nvSpPr>
        <p:spPr>
          <a:xfrm>
            <a:off x="320040" y="2944368"/>
            <a:ext cx="2743200" cy="54864"/>
          </a:xfrm>
          <a:prstGeom prst="rect">
            <a:avLst/>
          </a:prstGeom>
          <a:solidFill>
            <a:srgbClr val="FBBF24"/>
          </a:solidFill>
          <a:ln w="12700">
            <a:solidFill>
              <a:srgbClr val="FBBF24"/>
            </a:solidFill>
            <a:prstDash val="solid"/>
          </a:ln>
        </p:spPr>
      </p:sp>
      <p:pic>
        <p:nvPicPr>
          <p:cNvPr id="22" name="Image 3" descr="preencoded.png"/>
          <p:cNvPicPr>
            <a:picLocks noChangeAspect="1"/>
          </p:cNvPicPr>
          <p:nvPr/>
        </p:nvPicPr>
        <p:blipFill>
          <a:blip r:embed="rId6"/>
          <a:stretch>
            <a:fillRect/>
          </a:stretch>
        </p:blipFill>
        <p:spPr>
          <a:xfrm>
            <a:off x="457200" y="3108960"/>
            <a:ext cx="411480" cy="411480"/>
          </a:xfrm>
          <a:prstGeom prst="rect">
            <a:avLst/>
          </a:prstGeom>
        </p:spPr>
      </p:pic>
      <p:sp>
        <p:nvSpPr>
          <p:cNvPr id="23" name="Text 17"/>
          <p:cNvSpPr/>
          <p:nvPr/>
        </p:nvSpPr>
        <p:spPr>
          <a:xfrm>
            <a:off x="978408" y="310896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Remote Healthcare Access</a:t>
            </a:r>
            <a:endParaRPr lang="en-US" sz="1200" dirty="0"/>
          </a:p>
        </p:txBody>
      </p:sp>
      <p:sp>
        <p:nvSpPr>
          <p:cNvPr id="24" name="Text 18"/>
          <p:cNvSpPr/>
          <p:nvPr/>
        </p:nvSpPr>
        <p:spPr>
          <a:xfrm>
            <a:off x="457200" y="363016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Cloud deployment enables AI diagnostics in rural and underserved regions with limited specialist access.</a:t>
            </a:r>
            <a:endParaRPr lang="en-US" sz="1050" dirty="0"/>
          </a:p>
        </p:txBody>
      </p:sp>
      <p:sp>
        <p:nvSpPr>
          <p:cNvPr id="25" name="Shape 19"/>
          <p:cNvSpPr/>
          <p:nvPr/>
        </p:nvSpPr>
        <p:spPr>
          <a:xfrm>
            <a:off x="3264408" y="2944368"/>
            <a:ext cx="2743200" cy="1755648"/>
          </a:xfrm>
          <a:prstGeom prst="rect">
            <a:avLst/>
          </a:prstGeom>
          <a:solidFill>
            <a:srgbClr val="132840"/>
          </a:solidFill>
          <a:ln w="12700">
            <a:solidFill>
              <a:srgbClr val="1E4060"/>
            </a:solidFill>
            <a:prstDash val="solid"/>
          </a:ln>
        </p:spPr>
      </p:sp>
      <p:sp>
        <p:nvSpPr>
          <p:cNvPr id="26" name="Shape 20"/>
          <p:cNvSpPr/>
          <p:nvPr/>
        </p:nvSpPr>
        <p:spPr>
          <a:xfrm>
            <a:off x="3264408" y="2944368"/>
            <a:ext cx="2743200" cy="54864"/>
          </a:xfrm>
          <a:prstGeom prst="rect">
            <a:avLst/>
          </a:prstGeom>
          <a:solidFill>
            <a:srgbClr val="00C2CB"/>
          </a:solidFill>
          <a:ln w="12700">
            <a:solidFill>
              <a:srgbClr val="00C2CB"/>
            </a:solidFill>
            <a:prstDash val="solid"/>
          </a:ln>
        </p:spPr>
      </p:sp>
      <p:pic>
        <p:nvPicPr>
          <p:cNvPr id="27" name="Image 4" descr="preencoded.png"/>
          <p:cNvPicPr>
            <a:picLocks noChangeAspect="1"/>
          </p:cNvPicPr>
          <p:nvPr/>
        </p:nvPicPr>
        <p:blipFill>
          <a:blip r:embed="rId7"/>
          <a:stretch>
            <a:fillRect/>
          </a:stretch>
        </p:blipFill>
        <p:spPr>
          <a:xfrm>
            <a:off x="3401568" y="3108960"/>
            <a:ext cx="411480" cy="411480"/>
          </a:xfrm>
          <a:prstGeom prst="rect">
            <a:avLst/>
          </a:prstGeom>
        </p:spPr>
      </p:pic>
      <p:sp>
        <p:nvSpPr>
          <p:cNvPr id="28" name="Text 21"/>
          <p:cNvSpPr/>
          <p:nvPr/>
        </p:nvSpPr>
        <p:spPr>
          <a:xfrm>
            <a:off x="3922776" y="310896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Medical Education</a:t>
            </a:r>
            <a:endParaRPr lang="en-US" sz="1200" dirty="0"/>
          </a:p>
        </p:txBody>
      </p:sp>
      <p:sp>
        <p:nvSpPr>
          <p:cNvPr id="29" name="Text 22"/>
          <p:cNvSpPr/>
          <p:nvPr/>
        </p:nvSpPr>
        <p:spPr>
          <a:xfrm>
            <a:off x="3401568" y="363016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Annotated MRI examples with predictions serve as training material for radiology students.</a:t>
            </a:r>
            <a:endParaRPr lang="en-US" sz="1050" dirty="0"/>
          </a:p>
        </p:txBody>
      </p:sp>
      <p:sp>
        <p:nvSpPr>
          <p:cNvPr id="30" name="Shape 23"/>
          <p:cNvSpPr/>
          <p:nvPr/>
        </p:nvSpPr>
        <p:spPr>
          <a:xfrm>
            <a:off x="6208776" y="2944368"/>
            <a:ext cx="2743200" cy="1755648"/>
          </a:xfrm>
          <a:prstGeom prst="rect">
            <a:avLst/>
          </a:prstGeom>
          <a:solidFill>
            <a:srgbClr val="132840"/>
          </a:solidFill>
          <a:ln w="12700">
            <a:solidFill>
              <a:srgbClr val="1E4060"/>
            </a:solidFill>
            <a:prstDash val="solid"/>
          </a:ln>
        </p:spPr>
      </p:sp>
      <p:sp>
        <p:nvSpPr>
          <p:cNvPr id="31" name="Shape 24"/>
          <p:cNvSpPr/>
          <p:nvPr/>
        </p:nvSpPr>
        <p:spPr>
          <a:xfrm>
            <a:off x="6208776" y="2944368"/>
            <a:ext cx="2743200" cy="54864"/>
          </a:xfrm>
          <a:prstGeom prst="rect">
            <a:avLst/>
          </a:prstGeom>
          <a:solidFill>
            <a:srgbClr val="38BDF8"/>
          </a:solidFill>
          <a:ln w="12700">
            <a:solidFill>
              <a:srgbClr val="38BDF8"/>
            </a:solidFill>
            <a:prstDash val="solid"/>
          </a:ln>
        </p:spPr>
      </p:sp>
      <p:pic>
        <p:nvPicPr>
          <p:cNvPr id="32" name="Image 5" descr="preencoded.png"/>
          <p:cNvPicPr>
            <a:picLocks noChangeAspect="1"/>
          </p:cNvPicPr>
          <p:nvPr/>
        </p:nvPicPr>
        <p:blipFill>
          <a:blip r:embed="rId8"/>
          <a:stretch>
            <a:fillRect/>
          </a:stretch>
        </p:blipFill>
        <p:spPr>
          <a:xfrm>
            <a:off x="6345936" y="3108960"/>
            <a:ext cx="411480" cy="411480"/>
          </a:xfrm>
          <a:prstGeom prst="rect">
            <a:avLst/>
          </a:prstGeom>
        </p:spPr>
      </p:pic>
      <p:sp>
        <p:nvSpPr>
          <p:cNvPr id="33" name="Text 25"/>
          <p:cNvSpPr/>
          <p:nvPr/>
        </p:nvSpPr>
        <p:spPr>
          <a:xfrm>
            <a:off x="6867144" y="3108960"/>
            <a:ext cx="1965960" cy="411480"/>
          </a:xfrm>
          <a:prstGeom prst="rect">
            <a:avLst/>
          </a:prstGeom>
          <a:noFill/>
          <a:ln/>
        </p:spPr>
        <p:txBody>
          <a:bodyPr wrap="square" lIns="0" tIns="0" rIns="0" bIns="0" rtlCol="0" anchor="ctr"/>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Mobile-First Reporting</a:t>
            </a:r>
            <a:endParaRPr lang="en-US" sz="1200" dirty="0"/>
          </a:p>
        </p:txBody>
      </p:sp>
      <p:sp>
        <p:nvSpPr>
          <p:cNvPr id="34" name="Text 26"/>
          <p:cNvSpPr/>
          <p:nvPr/>
        </p:nvSpPr>
        <p:spPr>
          <a:xfrm>
            <a:off x="6345936" y="3630168"/>
            <a:ext cx="2468880" cy="960120"/>
          </a:xfrm>
          <a:prstGeom prst="rect">
            <a:avLst/>
          </a:prstGeom>
          <a:noFill/>
          <a:ln/>
        </p:spPr>
        <p:txBody>
          <a:bodyPr wrap="square" lIns="0" tIns="0" rIns="0" bIns="0" rtlCol="0" anchor="ctr"/>
          <a:lstStyle/>
          <a:p>
            <a:pPr marL="0" indent="0">
              <a:lnSpc>
                <a:spcPct val="115000"/>
              </a:lnSpc>
              <a:buNone/>
            </a:pPr>
            <a:r>
              <a:rPr lang="en-US" sz="1050" dirty="0">
                <a:solidFill>
                  <a:srgbClr val="E2F4F7"/>
                </a:solidFill>
                <a:latin typeface="Calibri" pitchFamily="34" charset="0"/>
                <a:ea typeface="Calibri" pitchFamily="34" charset="-122"/>
                <a:cs typeface="Calibri" pitchFamily="34" charset="-120"/>
              </a:rPr>
              <a:t>QR-code-enable system accessible on smartphones — no desktop required for result review.</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Future Scope</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Planned enhancements for the next development cycle</a:t>
            </a:r>
            <a:endParaRPr lang="en-US" sz="1100" dirty="0"/>
          </a:p>
        </p:txBody>
      </p:sp>
      <p:sp>
        <p:nvSpPr>
          <p:cNvPr id="5" name="Shape 3"/>
          <p:cNvSpPr/>
          <p:nvPr/>
        </p:nvSpPr>
        <p:spPr>
          <a:xfrm>
            <a:off x="320040" y="1005840"/>
            <a:ext cx="4251960" cy="731520"/>
          </a:xfrm>
          <a:prstGeom prst="rect">
            <a:avLst/>
          </a:prstGeom>
          <a:solidFill>
            <a:srgbClr val="132840"/>
          </a:solidFill>
          <a:ln w="12700">
            <a:solidFill>
              <a:srgbClr val="1E4060"/>
            </a:solidFill>
            <a:prstDash val="solid"/>
          </a:ln>
        </p:spPr>
      </p:sp>
      <p:sp>
        <p:nvSpPr>
          <p:cNvPr id="6" name="Text 4"/>
          <p:cNvSpPr/>
          <p:nvPr/>
        </p:nvSpPr>
        <p:spPr>
          <a:xfrm>
            <a:off x="411480" y="1078992"/>
            <a:ext cx="347472" cy="548640"/>
          </a:xfrm>
          <a:prstGeom prst="rect">
            <a:avLst/>
          </a:prstGeom>
          <a:noFill/>
          <a:ln/>
        </p:spPr>
        <p:txBody>
          <a:bodyPr wrap="square" lIns="0" tIns="0" rIns="0" bIns="0" rtlCol="0" anchor="ctr"/>
          <a:lstStyle/>
          <a:p>
            <a:pPr marL="0" indent="0" algn="ctr">
              <a:buNone/>
            </a:pPr>
            <a:r>
              <a:rPr lang="en-US" sz="1800" b="1" dirty="0">
                <a:solidFill>
                  <a:srgbClr val="00C2CB"/>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822960" y="1097280"/>
            <a:ext cx="36576" cy="548640"/>
          </a:xfrm>
          <a:prstGeom prst="rect">
            <a:avLst/>
          </a:prstGeom>
          <a:solidFill>
            <a:srgbClr val="00C2CB"/>
          </a:solidFill>
          <a:ln w="12700">
            <a:solidFill>
              <a:srgbClr val="00C2CB"/>
            </a:solidFill>
            <a:prstDash val="solid"/>
          </a:ln>
        </p:spPr>
      </p:sp>
      <p:sp>
        <p:nvSpPr>
          <p:cNvPr id="8" name="Text 6"/>
          <p:cNvSpPr/>
          <p:nvPr/>
        </p:nvSpPr>
        <p:spPr>
          <a:xfrm>
            <a:off x="960120" y="107899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Cloud Deployment</a:t>
            </a:r>
            <a:endParaRPr lang="en-US" sz="1200" dirty="0"/>
          </a:p>
        </p:txBody>
      </p:sp>
      <p:sp>
        <p:nvSpPr>
          <p:cNvPr id="9" name="Text 7"/>
          <p:cNvSpPr/>
          <p:nvPr/>
        </p:nvSpPr>
        <p:spPr>
          <a:xfrm>
            <a:off x="960120" y="135331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AWS / GCP hosting with auto-scaling, HTTPS, and global CDN for production-grade availability.</a:t>
            </a:r>
            <a:endParaRPr lang="en-US" sz="1050" dirty="0"/>
          </a:p>
        </p:txBody>
      </p:sp>
      <p:sp>
        <p:nvSpPr>
          <p:cNvPr id="10" name="Shape 8"/>
          <p:cNvSpPr/>
          <p:nvPr/>
        </p:nvSpPr>
        <p:spPr>
          <a:xfrm>
            <a:off x="4727448" y="1005840"/>
            <a:ext cx="4251960" cy="731520"/>
          </a:xfrm>
          <a:prstGeom prst="rect">
            <a:avLst/>
          </a:prstGeom>
          <a:solidFill>
            <a:srgbClr val="132840"/>
          </a:solidFill>
          <a:ln w="12700">
            <a:solidFill>
              <a:srgbClr val="1E4060"/>
            </a:solidFill>
            <a:prstDash val="solid"/>
          </a:ln>
        </p:spPr>
      </p:sp>
      <p:sp>
        <p:nvSpPr>
          <p:cNvPr id="11" name="Text 9"/>
          <p:cNvSpPr/>
          <p:nvPr/>
        </p:nvSpPr>
        <p:spPr>
          <a:xfrm>
            <a:off x="4818888" y="1078992"/>
            <a:ext cx="347472" cy="548640"/>
          </a:xfrm>
          <a:prstGeom prst="rect">
            <a:avLst/>
          </a:prstGeom>
          <a:noFill/>
          <a:ln/>
        </p:spPr>
        <p:txBody>
          <a:bodyPr wrap="square" lIns="0" tIns="0" rIns="0" bIns="0" rtlCol="0" anchor="ctr"/>
          <a:lstStyle/>
          <a:p>
            <a:pPr marL="0" indent="0" algn="ctr">
              <a:buNone/>
            </a:pPr>
            <a:r>
              <a:rPr lang="en-US" sz="1800" b="1" dirty="0">
                <a:solidFill>
                  <a:srgbClr val="38BDF8"/>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5230368" y="1097280"/>
            <a:ext cx="36576" cy="548640"/>
          </a:xfrm>
          <a:prstGeom prst="rect">
            <a:avLst/>
          </a:prstGeom>
          <a:solidFill>
            <a:srgbClr val="38BDF8"/>
          </a:solidFill>
          <a:ln w="12700">
            <a:solidFill>
              <a:srgbClr val="38BDF8"/>
            </a:solidFill>
            <a:prstDash val="solid"/>
          </a:ln>
        </p:spPr>
      </p:sp>
      <p:sp>
        <p:nvSpPr>
          <p:cNvPr id="13" name="Text 11"/>
          <p:cNvSpPr/>
          <p:nvPr/>
        </p:nvSpPr>
        <p:spPr>
          <a:xfrm>
            <a:off x="5367528" y="107899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GPU-Accelerated Inference</a:t>
            </a:r>
            <a:endParaRPr lang="en-US" sz="1200" dirty="0"/>
          </a:p>
        </p:txBody>
      </p:sp>
      <p:sp>
        <p:nvSpPr>
          <p:cNvPr id="14" name="Text 12"/>
          <p:cNvSpPr/>
          <p:nvPr/>
        </p:nvSpPr>
        <p:spPr>
          <a:xfrm>
            <a:off x="5367528" y="135331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CUDA-accelerated prediction targeting &lt;1 second latency. Real-time MRI stream processing.</a:t>
            </a:r>
            <a:endParaRPr lang="en-US" sz="1050" dirty="0"/>
          </a:p>
        </p:txBody>
      </p:sp>
      <p:sp>
        <p:nvSpPr>
          <p:cNvPr id="15" name="Shape 13"/>
          <p:cNvSpPr/>
          <p:nvPr/>
        </p:nvSpPr>
        <p:spPr>
          <a:xfrm>
            <a:off x="320040" y="1828800"/>
            <a:ext cx="4251960" cy="731520"/>
          </a:xfrm>
          <a:prstGeom prst="rect">
            <a:avLst/>
          </a:prstGeom>
          <a:solidFill>
            <a:srgbClr val="132840"/>
          </a:solidFill>
          <a:ln w="12700">
            <a:solidFill>
              <a:srgbClr val="1E4060"/>
            </a:solidFill>
            <a:prstDash val="solid"/>
          </a:ln>
        </p:spPr>
      </p:sp>
      <p:sp>
        <p:nvSpPr>
          <p:cNvPr id="16" name="Text 14"/>
          <p:cNvSpPr/>
          <p:nvPr/>
        </p:nvSpPr>
        <p:spPr>
          <a:xfrm>
            <a:off x="411480" y="1901952"/>
            <a:ext cx="347472" cy="548640"/>
          </a:xfrm>
          <a:prstGeom prst="rect">
            <a:avLst/>
          </a:prstGeom>
          <a:noFill/>
          <a:ln/>
        </p:spPr>
        <p:txBody>
          <a:bodyPr wrap="square" lIns="0" tIns="0" rIns="0" bIns="0" rtlCol="0" anchor="ctr"/>
          <a:lstStyle/>
          <a:p>
            <a:pPr marL="0" indent="0" algn="ctr">
              <a:buNone/>
            </a:pPr>
            <a:r>
              <a:rPr lang="en-US" sz="1800" b="1" dirty="0">
                <a:solidFill>
                  <a:srgbClr val="22D3A0"/>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822960" y="1920240"/>
            <a:ext cx="36576" cy="548640"/>
          </a:xfrm>
          <a:prstGeom prst="rect">
            <a:avLst/>
          </a:prstGeom>
          <a:solidFill>
            <a:srgbClr val="22D3A0"/>
          </a:solidFill>
          <a:ln w="12700">
            <a:solidFill>
              <a:srgbClr val="22D3A0"/>
            </a:solidFill>
            <a:prstDash val="solid"/>
          </a:ln>
        </p:spPr>
      </p:sp>
      <p:sp>
        <p:nvSpPr>
          <p:cNvPr id="18" name="Text 16"/>
          <p:cNvSpPr/>
          <p:nvPr/>
        </p:nvSpPr>
        <p:spPr>
          <a:xfrm>
            <a:off x="960120" y="190195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Grad-CAM Explainability</a:t>
            </a:r>
            <a:endParaRPr lang="en-US" sz="1200" dirty="0"/>
          </a:p>
        </p:txBody>
      </p:sp>
      <p:sp>
        <p:nvSpPr>
          <p:cNvPr id="19" name="Text 17"/>
          <p:cNvSpPr/>
          <p:nvPr/>
        </p:nvSpPr>
        <p:spPr>
          <a:xfrm>
            <a:off x="960120" y="217627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Class activation maps to visually explain which MRI regions drove the model's decision — critical for clinical trust.</a:t>
            </a:r>
            <a:endParaRPr lang="en-US" sz="1050" dirty="0"/>
          </a:p>
        </p:txBody>
      </p:sp>
      <p:sp>
        <p:nvSpPr>
          <p:cNvPr id="20" name="Shape 18"/>
          <p:cNvSpPr/>
          <p:nvPr/>
        </p:nvSpPr>
        <p:spPr>
          <a:xfrm>
            <a:off x="4727448" y="1828800"/>
            <a:ext cx="4251960" cy="731520"/>
          </a:xfrm>
          <a:prstGeom prst="rect">
            <a:avLst/>
          </a:prstGeom>
          <a:solidFill>
            <a:srgbClr val="132840"/>
          </a:solidFill>
          <a:ln w="12700">
            <a:solidFill>
              <a:srgbClr val="1E4060"/>
            </a:solidFill>
            <a:prstDash val="solid"/>
          </a:ln>
        </p:spPr>
      </p:sp>
      <p:sp>
        <p:nvSpPr>
          <p:cNvPr id="21" name="Text 19"/>
          <p:cNvSpPr/>
          <p:nvPr/>
        </p:nvSpPr>
        <p:spPr>
          <a:xfrm>
            <a:off x="4818888" y="1901952"/>
            <a:ext cx="347472" cy="548640"/>
          </a:xfrm>
          <a:prstGeom prst="rect">
            <a:avLst/>
          </a:prstGeom>
          <a:noFill/>
          <a:ln/>
        </p:spPr>
        <p:txBody>
          <a:bodyPr wrap="square" lIns="0" tIns="0" rIns="0" bIns="0" rtlCol="0" anchor="ctr"/>
          <a:lstStyle/>
          <a:p>
            <a:pPr marL="0" indent="0" algn="ctr">
              <a:buNone/>
            </a:pPr>
            <a:r>
              <a:rPr lang="en-US" sz="1800" b="1" dirty="0">
                <a:solidFill>
                  <a:srgbClr val="FBBF24"/>
                </a:solidFill>
                <a:latin typeface="Calibri" pitchFamily="34" charset="0"/>
                <a:ea typeface="Calibri" pitchFamily="34" charset="-122"/>
                <a:cs typeface="Calibri" pitchFamily="34" charset="-120"/>
              </a:rPr>
              <a:t>4</a:t>
            </a:r>
            <a:endParaRPr lang="en-US" sz="1800" dirty="0"/>
          </a:p>
        </p:txBody>
      </p:sp>
      <p:sp>
        <p:nvSpPr>
          <p:cNvPr id="22" name="Shape 20"/>
          <p:cNvSpPr/>
          <p:nvPr/>
        </p:nvSpPr>
        <p:spPr>
          <a:xfrm>
            <a:off x="5230368" y="1920240"/>
            <a:ext cx="36576" cy="548640"/>
          </a:xfrm>
          <a:prstGeom prst="rect">
            <a:avLst/>
          </a:prstGeom>
          <a:solidFill>
            <a:srgbClr val="FBBF24"/>
          </a:solidFill>
          <a:ln w="12700">
            <a:solidFill>
              <a:srgbClr val="FBBF24"/>
            </a:solidFill>
            <a:prstDash val="solid"/>
          </a:ln>
        </p:spPr>
      </p:sp>
      <p:sp>
        <p:nvSpPr>
          <p:cNvPr id="23" name="Text 21"/>
          <p:cNvSpPr/>
          <p:nvPr/>
        </p:nvSpPr>
        <p:spPr>
          <a:xfrm>
            <a:off x="5367528" y="190195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DICOM Image Support</a:t>
            </a:r>
            <a:endParaRPr lang="en-US" sz="1200" dirty="0"/>
          </a:p>
        </p:txBody>
      </p:sp>
      <p:sp>
        <p:nvSpPr>
          <p:cNvPr id="24" name="Text 22"/>
          <p:cNvSpPr/>
          <p:nvPr/>
        </p:nvSpPr>
        <p:spPr>
          <a:xfrm>
            <a:off x="5367528" y="217627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Native support for DICOM (.dcm) format — the standard used by hospitals and PACS systems worldwide.</a:t>
            </a:r>
            <a:endParaRPr lang="en-US" sz="1050" dirty="0"/>
          </a:p>
        </p:txBody>
      </p:sp>
      <p:sp>
        <p:nvSpPr>
          <p:cNvPr id="25" name="Shape 23"/>
          <p:cNvSpPr/>
          <p:nvPr/>
        </p:nvSpPr>
        <p:spPr>
          <a:xfrm>
            <a:off x="320040" y="2651760"/>
            <a:ext cx="4251960" cy="731520"/>
          </a:xfrm>
          <a:prstGeom prst="rect">
            <a:avLst/>
          </a:prstGeom>
          <a:solidFill>
            <a:srgbClr val="132840"/>
          </a:solidFill>
          <a:ln w="12700">
            <a:solidFill>
              <a:srgbClr val="1E4060"/>
            </a:solidFill>
            <a:prstDash val="solid"/>
          </a:ln>
        </p:spPr>
      </p:sp>
      <p:sp>
        <p:nvSpPr>
          <p:cNvPr id="26" name="Text 24"/>
          <p:cNvSpPr/>
          <p:nvPr/>
        </p:nvSpPr>
        <p:spPr>
          <a:xfrm>
            <a:off x="411480" y="2724912"/>
            <a:ext cx="347472" cy="548640"/>
          </a:xfrm>
          <a:prstGeom prst="rect">
            <a:avLst/>
          </a:prstGeom>
          <a:noFill/>
          <a:ln/>
        </p:spPr>
        <p:txBody>
          <a:bodyPr wrap="square" lIns="0" tIns="0" rIns="0" bIns="0" rtlCol="0" anchor="ctr"/>
          <a:lstStyle/>
          <a:p>
            <a:pPr marL="0" indent="0" algn="ctr">
              <a:buNone/>
            </a:pPr>
            <a:r>
              <a:rPr lang="en-US" sz="1800" b="1" dirty="0">
                <a:solidFill>
                  <a:srgbClr val="00C2CB"/>
                </a:solidFill>
                <a:latin typeface="Calibri" pitchFamily="34" charset="0"/>
                <a:ea typeface="Calibri" pitchFamily="34" charset="-122"/>
                <a:cs typeface="Calibri" pitchFamily="34" charset="-120"/>
              </a:rPr>
              <a:t>5</a:t>
            </a:r>
            <a:endParaRPr lang="en-US" sz="1800" dirty="0"/>
          </a:p>
        </p:txBody>
      </p:sp>
      <p:sp>
        <p:nvSpPr>
          <p:cNvPr id="27" name="Shape 25"/>
          <p:cNvSpPr/>
          <p:nvPr/>
        </p:nvSpPr>
        <p:spPr>
          <a:xfrm>
            <a:off x="822960" y="2743200"/>
            <a:ext cx="36576" cy="548640"/>
          </a:xfrm>
          <a:prstGeom prst="rect">
            <a:avLst/>
          </a:prstGeom>
          <a:solidFill>
            <a:srgbClr val="00C2CB"/>
          </a:solidFill>
          <a:ln w="12700">
            <a:solidFill>
              <a:srgbClr val="00C2CB"/>
            </a:solidFill>
            <a:prstDash val="solid"/>
          </a:ln>
        </p:spPr>
      </p:sp>
      <p:sp>
        <p:nvSpPr>
          <p:cNvPr id="28" name="Text 26"/>
          <p:cNvSpPr/>
          <p:nvPr/>
        </p:nvSpPr>
        <p:spPr>
          <a:xfrm>
            <a:off x="960120" y="272491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Transformer-Based Models</a:t>
            </a:r>
            <a:endParaRPr lang="en-US" sz="1200" dirty="0"/>
          </a:p>
        </p:txBody>
      </p:sp>
      <p:sp>
        <p:nvSpPr>
          <p:cNvPr id="29" name="Text 27"/>
          <p:cNvSpPr/>
          <p:nvPr/>
        </p:nvSpPr>
        <p:spPr>
          <a:xfrm>
            <a:off x="960120" y="299923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Vision Transformers (ViT) and Swin Transformers for improved accuracy beyond CNN baselines.</a:t>
            </a:r>
            <a:endParaRPr lang="en-US" sz="1050" dirty="0"/>
          </a:p>
        </p:txBody>
      </p:sp>
      <p:sp>
        <p:nvSpPr>
          <p:cNvPr id="30" name="Shape 28"/>
          <p:cNvSpPr/>
          <p:nvPr/>
        </p:nvSpPr>
        <p:spPr>
          <a:xfrm>
            <a:off x="4727448" y="2651760"/>
            <a:ext cx="4251960" cy="731520"/>
          </a:xfrm>
          <a:prstGeom prst="rect">
            <a:avLst/>
          </a:prstGeom>
          <a:solidFill>
            <a:srgbClr val="132840"/>
          </a:solidFill>
          <a:ln w="12700">
            <a:solidFill>
              <a:srgbClr val="1E4060"/>
            </a:solidFill>
            <a:prstDash val="solid"/>
          </a:ln>
        </p:spPr>
      </p:sp>
      <p:sp>
        <p:nvSpPr>
          <p:cNvPr id="31" name="Text 29"/>
          <p:cNvSpPr/>
          <p:nvPr/>
        </p:nvSpPr>
        <p:spPr>
          <a:xfrm>
            <a:off x="4818888" y="2724912"/>
            <a:ext cx="347472" cy="548640"/>
          </a:xfrm>
          <a:prstGeom prst="rect">
            <a:avLst/>
          </a:prstGeom>
          <a:noFill/>
          <a:ln/>
        </p:spPr>
        <p:txBody>
          <a:bodyPr wrap="square" lIns="0" tIns="0" rIns="0" bIns="0" rtlCol="0" anchor="ctr"/>
          <a:lstStyle/>
          <a:p>
            <a:pPr marL="0" indent="0" algn="ctr">
              <a:buNone/>
            </a:pPr>
            <a:r>
              <a:rPr lang="en-US" sz="1800" b="1" dirty="0">
                <a:solidFill>
                  <a:srgbClr val="38BDF8"/>
                </a:solidFill>
                <a:latin typeface="Calibri" pitchFamily="34" charset="0"/>
                <a:ea typeface="Calibri" pitchFamily="34" charset="-122"/>
                <a:cs typeface="Calibri" pitchFamily="34" charset="-120"/>
              </a:rPr>
              <a:t>6</a:t>
            </a:r>
            <a:endParaRPr lang="en-US" sz="1800" dirty="0"/>
          </a:p>
        </p:txBody>
      </p:sp>
      <p:sp>
        <p:nvSpPr>
          <p:cNvPr id="32" name="Shape 30"/>
          <p:cNvSpPr/>
          <p:nvPr/>
        </p:nvSpPr>
        <p:spPr>
          <a:xfrm>
            <a:off x="5230368" y="2743200"/>
            <a:ext cx="36576" cy="548640"/>
          </a:xfrm>
          <a:prstGeom prst="rect">
            <a:avLst/>
          </a:prstGeom>
          <a:solidFill>
            <a:srgbClr val="38BDF8"/>
          </a:solidFill>
          <a:ln w="12700">
            <a:solidFill>
              <a:srgbClr val="38BDF8"/>
            </a:solidFill>
            <a:prstDash val="solid"/>
          </a:ln>
        </p:spPr>
      </p:sp>
      <p:sp>
        <p:nvSpPr>
          <p:cNvPr id="33" name="Text 31"/>
          <p:cNvSpPr/>
          <p:nvPr/>
        </p:nvSpPr>
        <p:spPr>
          <a:xfrm>
            <a:off x="5367528" y="272491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Mobile Application</a:t>
            </a:r>
            <a:endParaRPr lang="en-US" sz="1200" dirty="0"/>
          </a:p>
        </p:txBody>
      </p:sp>
      <p:sp>
        <p:nvSpPr>
          <p:cNvPr id="34" name="Text 32"/>
          <p:cNvSpPr/>
          <p:nvPr/>
        </p:nvSpPr>
        <p:spPr>
          <a:xfrm>
            <a:off x="5367528" y="299923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Android and iOS apps for on-the-go MRI analysis with localised multi-language interface.</a:t>
            </a:r>
            <a:endParaRPr lang="en-US" sz="1050" dirty="0"/>
          </a:p>
        </p:txBody>
      </p:sp>
      <p:sp>
        <p:nvSpPr>
          <p:cNvPr id="35" name="Shape 33"/>
          <p:cNvSpPr/>
          <p:nvPr/>
        </p:nvSpPr>
        <p:spPr>
          <a:xfrm>
            <a:off x="320040" y="3474720"/>
            <a:ext cx="4251960" cy="731520"/>
          </a:xfrm>
          <a:prstGeom prst="rect">
            <a:avLst/>
          </a:prstGeom>
          <a:solidFill>
            <a:srgbClr val="132840"/>
          </a:solidFill>
          <a:ln w="12700">
            <a:solidFill>
              <a:srgbClr val="1E4060"/>
            </a:solidFill>
            <a:prstDash val="solid"/>
          </a:ln>
        </p:spPr>
      </p:sp>
      <p:sp>
        <p:nvSpPr>
          <p:cNvPr id="36" name="Text 34"/>
          <p:cNvSpPr/>
          <p:nvPr/>
        </p:nvSpPr>
        <p:spPr>
          <a:xfrm>
            <a:off x="411480" y="3547872"/>
            <a:ext cx="347472" cy="548640"/>
          </a:xfrm>
          <a:prstGeom prst="rect">
            <a:avLst/>
          </a:prstGeom>
          <a:noFill/>
          <a:ln/>
        </p:spPr>
        <p:txBody>
          <a:bodyPr wrap="square" lIns="0" tIns="0" rIns="0" bIns="0" rtlCol="0" anchor="ctr"/>
          <a:lstStyle/>
          <a:p>
            <a:pPr marL="0" indent="0" algn="ctr">
              <a:buNone/>
            </a:pPr>
            <a:r>
              <a:rPr lang="en-US" sz="1800" b="1" dirty="0">
                <a:solidFill>
                  <a:srgbClr val="22D3A0"/>
                </a:solidFill>
                <a:latin typeface="Calibri" pitchFamily="34" charset="0"/>
                <a:ea typeface="Calibri" pitchFamily="34" charset="-122"/>
                <a:cs typeface="Calibri" pitchFamily="34" charset="-120"/>
              </a:rPr>
              <a:t>7</a:t>
            </a:r>
            <a:endParaRPr lang="en-US" sz="1800" dirty="0"/>
          </a:p>
        </p:txBody>
      </p:sp>
      <p:sp>
        <p:nvSpPr>
          <p:cNvPr id="37" name="Shape 35"/>
          <p:cNvSpPr/>
          <p:nvPr/>
        </p:nvSpPr>
        <p:spPr>
          <a:xfrm>
            <a:off x="822960" y="3566160"/>
            <a:ext cx="36576" cy="548640"/>
          </a:xfrm>
          <a:prstGeom prst="rect">
            <a:avLst/>
          </a:prstGeom>
          <a:solidFill>
            <a:srgbClr val="22D3A0"/>
          </a:solidFill>
          <a:ln w="12700">
            <a:solidFill>
              <a:srgbClr val="22D3A0"/>
            </a:solidFill>
            <a:prstDash val="solid"/>
          </a:ln>
        </p:spPr>
      </p:sp>
      <p:sp>
        <p:nvSpPr>
          <p:cNvPr id="38" name="Text 36"/>
          <p:cNvSpPr/>
          <p:nvPr/>
        </p:nvSpPr>
        <p:spPr>
          <a:xfrm>
            <a:off x="960120" y="354787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 Authentication</a:t>
            </a:r>
            <a:endParaRPr lang="en-US" sz="1200" dirty="0"/>
          </a:p>
        </p:txBody>
      </p:sp>
      <p:sp>
        <p:nvSpPr>
          <p:cNvPr id="39" name="Text 37"/>
          <p:cNvSpPr/>
          <p:nvPr/>
        </p:nvSpPr>
        <p:spPr>
          <a:xfrm>
            <a:off x="960120" y="382219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Secure login, patient record management, and role-based access control for clinical deployment.</a:t>
            </a:r>
            <a:endParaRPr lang="en-US" sz="1050" dirty="0"/>
          </a:p>
        </p:txBody>
      </p:sp>
      <p:sp>
        <p:nvSpPr>
          <p:cNvPr id="40" name="Shape 38"/>
          <p:cNvSpPr/>
          <p:nvPr/>
        </p:nvSpPr>
        <p:spPr>
          <a:xfrm>
            <a:off x="4727448" y="3474720"/>
            <a:ext cx="4251960" cy="731520"/>
          </a:xfrm>
          <a:prstGeom prst="rect">
            <a:avLst/>
          </a:prstGeom>
          <a:solidFill>
            <a:srgbClr val="132840"/>
          </a:solidFill>
          <a:ln w="12700">
            <a:solidFill>
              <a:srgbClr val="1E4060"/>
            </a:solidFill>
            <a:prstDash val="solid"/>
          </a:ln>
        </p:spPr>
      </p:sp>
      <p:sp>
        <p:nvSpPr>
          <p:cNvPr id="41" name="Text 39"/>
          <p:cNvSpPr/>
          <p:nvPr/>
        </p:nvSpPr>
        <p:spPr>
          <a:xfrm>
            <a:off x="4818888" y="3547872"/>
            <a:ext cx="347472" cy="548640"/>
          </a:xfrm>
          <a:prstGeom prst="rect">
            <a:avLst/>
          </a:prstGeom>
          <a:noFill/>
          <a:ln/>
        </p:spPr>
        <p:txBody>
          <a:bodyPr wrap="square" lIns="0" tIns="0" rIns="0" bIns="0" rtlCol="0" anchor="ctr"/>
          <a:lstStyle/>
          <a:p>
            <a:pPr marL="0" indent="0" algn="ctr">
              <a:buNone/>
            </a:pPr>
            <a:r>
              <a:rPr lang="en-US" sz="1800" b="1" dirty="0">
                <a:solidFill>
                  <a:srgbClr val="FBBF24"/>
                </a:solidFill>
                <a:latin typeface="Calibri" pitchFamily="34" charset="0"/>
                <a:ea typeface="Calibri" pitchFamily="34" charset="-122"/>
                <a:cs typeface="Calibri" pitchFamily="34" charset="-120"/>
              </a:rPr>
              <a:t>8</a:t>
            </a:r>
            <a:endParaRPr lang="en-US" sz="1800" dirty="0"/>
          </a:p>
        </p:txBody>
      </p:sp>
      <p:sp>
        <p:nvSpPr>
          <p:cNvPr id="42" name="Shape 40"/>
          <p:cNvSpPr/>
          <p:nvPr/>
        </p:nvSpPr>
        <p:spPr>
          <a:xfrm>
            <a:off x="5230368" y="3566160"/>
            <a:ext cx="36576" cy="548640"/>
          </a:xfrm>
          <a:prstGeom prst="rect">
            <a:avLst/>
          </a:prstGeom>
          <a:solidFill>
            <a:srgbClr val="FBBF24"/>
          </a:solidFill>
          <a:ln w="12700">
            <a:solidFill>
              <a:srgbClr val="FBBF24"/>
            </a:solidFill>
            <a:prstDash val="solid"/>
          </a:ln>
        </p:spPr>
      </p:sp>
      <p:sp>
        <p:nvSpPr>
          <p:cNvPr id="43" name="Text 41"/>
          <p:cNvSpPr/>
          <p:nvPr/>
        </p:nvSpPr>
        <p:spPr>
          <a:xfrm>
            <a:off x="5367528" y="354787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 Optimisation</a:t>
            </a:r>
            <a:endParaRPr lang="en-US" sz="1200" dirty="0"/>
          </a:p>
        </p:txBody>
      </p:sp>
      <p:sp>
        <p:nvSpPr>
          <p:cNvPr id="44" name="Text 42"/>
          <p:cNvSpPr/>
          <p:nvPr/>
        </p:nvSpPr>
        <p:spPr>
          <a:xfrm>
            <a:off x="5367528" y="382219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Pruning, quantisation, and knowledge distillation for lightweight edge deployment on low-resource devices.</a:t>
            </a:r>
            <a:endParaRPr lang="en-US" sz="1050" dirty="0"/>
          </a:p>
        </p:txBody>
      </p:sp>
      <p:sp>
        <p:nvSpPr>
          <p:cNvPr id="45" name="Shape 43"/>
          <p:cNvSpPr/>
          <p:nvPr/>
        </p:nvSpPr>
        <p:spPr>
          <a:xfrm>
            <a:off x="320040" y="4297680"/>
            <a:ext cx="4251960" cy="731520"/>
          </a:xfrm>
          <a:prstGeom prst="rect">
            <a:avLst/>
          </a:prstGeom>
          <a:solidFill>
            <a:srgbClr val="132840"/>
          </a:solidFill>
          <a:ln w="12700">
            <a:solidFill>
              <a:srgbClr val="1E4060"/>
            </a:solidFill>
            <a:prstDash val="solid"/>
          </a:ln>
        </p:spPr>
      </p:sp>
      <p:sp>
        <p:nvSpPr>
          <p:cNvPr id="46" name="Text 44"/>
          <p:cNvSpPr/>
          <p:nvPr/>
        </p:nvSpPr>
        <p:spPr>
          <a:xfrm>
            <a:off x="411480" y="4370832"/>
            <a:ext cx="347472" cy="548640"/>
          </a:xfrm>
          <a:prstGeom prst="rect">
            <a:avLst/>
          </a:prstGeom>
          <a:noFill/>
          <a:ln/>
        </p:spPr>
        <p:txBody>
          <a:bodyPr wrap="square" lIns="0" tIns="0" rIns="0" bIns="0" rtlCol="0" anchor="ctr"/>
          <a:lstStyle/>
          <a:p>
            <a:pPr marL="0" indent="0" algn="ctr">
              <a:buNone/>
            </a:pPr>
            <a:r>
              <a:rPr lang="en-US" sz="1800" b="1" dirty="0">
                <a:solidFill>
                  <a:srgbClr val="00C2CB"/>
                </a:solidFill>
                <a:latin typeface="Calibri" pitchFamily="34" charset="0"/>
                <a:ea typeface="Calibri" pitchFamily="34" charset="-122"/>
                <a:cs typeface="Calibri" pitchFamily="34" charset="-120"/>
              </a:rPr>
              <a:t>9</a:t>
            </a:r>
            <a:endParaRPr lang="en-US" sz="1800" dirty="0"/>
          </a:p>
        </p:txBody>
      </p:sp>
      <p:sp>
        <p:nvSpPr>
          <p:cNvPr id="47" name="Shape 45"/>
          <p:cNvSpPr/>
          <p:nvPr/>
        </p:nvSpPr>
        <p:spPr>
          <a:xfrm>
            <a:off x="822960" y="4389120"/>
            <a:ext cx="36576" cy="548640"/>
          </a:xfrm>
          <a:prstGeom prst="rect">
            <a:avLst/>
          </a:prstGeom>
          <a:solidFill>
            <a:srgbClr val="00C2CB"/>
          </a:solidFill>
          <a:ln w="12700">
            <a:solidFill>
              <a:srgbClr val="00C2CB"/>
            </a:solidFill>
            <a:prstDash val="solid"/>
          </a:ln>
        </p:spPr>
      </p:sp>
      <p:sp>
        <p:nvSpPr>
          <p:cNvPr id="48" name="Text 46"/>
          <p:cNvSpPr/>
          <p:nvPr/>
        </p:nvSpPr>
        <p:spPr>
          <a:xfrm>
            <a:off x="960120" y="437083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Larger Training Datasets</a:t>
            </a:r>
            <a:endParaRPr lang="en-US" sz="1200" dirty="0"/>
          </a:p>
        </p:txBody>
      </p:sp>
      <p:sp>
        <p:nvSpPr>
          <p:cNvPr id="49" name="Text 47"/>
          <p:cNvSpPr/>
          <p:nvPr/>
        </p:nvSpPr>
        <p:spPr>
          <a:xfrm>
            <a:off x="960120" y="464515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More diverse, multi-institutional datasets for improved generalisation across different MRI scanner types.</a:t>
            </a:r>
            <a:endParaRPr lang="en-US" sz="1050" dirty="0"/>
          </a:p>
        </p:txBody>
      </p:sp>
      <p:sp>
        <p:nvSpPr>
          <p:cNvPr id="50" name="Shape 48"/>
          <p:cNvSpPr/>
          <p:nvPr/>
        </p:nvSpPr>
        <p:spPr>
          <a:xfrm>
            <a:off x="4727448" y="4297680"/>
            <a:ext cx="4251960" cy="731520"/>
          </a:xfrm>
          <a:prstGeom prst="rect">
            <a:avLst/>
          </a:prstGeom>
          <a:solidFill>
            <a:srgbClr val="132840"/>
          </a:solidFill>
          <a:ln w="12700">
            <a:solidFill>
              <a:srgbClr val="1E4060"/>
            </a:solidFill>
            <a:prstDash val="solid"/>
          </a:ln>
        </p:spPr>
      </p:sp>
      <p:sp>
        <p:nvSpPr>
          <p:cNvPr id="51" name="Text 49"/>
          <p:cNvSpPr/>
          <p:nvPr/>
        </p:nvSpPr>
        <p:spPr>
          <a:xfrm>
            <a:off x="4818888" y="4370832"/>
            <a:ext cx="347472" cy="548640"/>
          </a:xfrm>
          <a:prstGeom prst="rect">
            <a:avLst/>
          </a:prstGeom>
          <a:noFill/>
          <a:ln/>
        </p:spPr>
        <p:txBody>
          <a:bodyPr wrap="square" lIns="0" tIns="0" rIns="0" bIns="0" rtlCol="0" anchor="ctr"/>
          <a:lstStyle/>
          <a:p>
            <a:pPr marL="0" indent="0" algn="ctr">
              <a:buNone/>
            </a:pPr>
            <a:r>
              <a:rPr lang="en-US" sz="1800" b="1" dirty="0">
                <a:solidFill>
                  <a:srgbClr val="38BDF8"/>
                </a:solidFill>
                <a:latin typeface="Calibri" pitchFamily="34" charset="0"/>
                <a:ea typeface="Calibri" pitchFamily="34" charset="-122"/>
                <a:cs typeface="Calibri" pitchFamily="34" charset="-120"/>
              </a:rPr>
              <a:t>10</a:t>
            </a:r>
            <a:endParaRPr lang="en-US" sz="1800" dirty="0"/>
          </a:p>
        </p:txBody>
      </p:sp>
      <p:sp>
        <p:nvSpPr>
          <p:cNvPr id="52" name="Shape 50"/>
          <p:cNvSpPr/>
          <p:nvPr/>
        </p:nvSpPr>
        <p:spPr>
          <a:xfrm>
            <a:off x="5230368" y="4389120"/>
            <a:ext cx="36576" cy="548640"/>
          </a:xfrm>
          <a:prstGeom prst="rect">
            <a:avLst/>
          </a:prstGeom>
          <a:solidFill>
            <a:srgbClr val="38BDF8"/>
          </a:solidFill>
          <a:ln w="12700">
            <a:solidFill>
              <a:srgbClr val="38BDF8"/>
            </a:solidFill>
            <a:prstDash val="solid"/>
          </a:ln>
        </p:spPr>
      </p:sp>
      <p:sp>
        <p:nvSpPr>
          <p:cNvPr id="53" name="Text 51"/>
          <p:cNvSpPr/>
          <p:nvPr/>
        </p:nvSpPr>
        <p:spPr>
          <a:xfrm>
            <a:off x="5367528" y="4370832"/>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Enhanced Clinical Reports</a:t>
            </a:r>
            <a:endParaRPr lang="en-US" sz="1200" dirty="0"/>
          </a:p>
        </p:txBody>
      </p:sp>
      <p:sp>
        <p:nvSpPr>
          <p:cNvPr id="54" name="Text 52"/>
          <p:cNvSpPr/>
          <p:nvPr/>
        </p:nvSpPr>
        <p:spPr>
          <a:xfrm>
            <a:off x="5367528" y="4645152"/>
            <a:ext cx="3474720" cy="320040"/>
          </a:xfrm>
          <a:prstGeom prst="rect">
            <a:avLst/>
          </a:prstGeom>
          <a:noFill/>
          <a:ln/>
        </p:spPr>
        <p:txBody>
          <a:bodyPr wrap="square" lIns="0" tIns="0" rIns="0" bIns="0" rtlCol="0" anchor="ctr"/>
          <a:lstStyle/>
          <a:p>
            <a:pPr marL="0" indent="0">
              <a:buNone/>
            </a:pPr>
            <a:r>
              <a:rPr lang="en-US" sz="1050" dirty="0">
                <a:solidFill>
                  <a:srgbClr val="E2F4F7"/>
                </a:solidFill>
                <a:latin typeface="Calibri" pitchFamily="34" charset="0"/>
                <a:ea typeface="Calibri" pitchFamily="34" charset="-122"/>
                <a:cs typeface="Calibri" pitchFamily="34" charset="-120"/>
              </a:rPr>
              <a:t>Reports with precise tumor size, location coordinates, growth rate estimation, and treatment recommendations.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CB"/>
          </a:solidFill>
          <a:ln w="12700">
            <a:solidFill>
              <a:srgbClr val="00C2CB"/>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4" name="Text 2"/>
          <p:cNvSpPr/>
          <p:nvPr/>
        </p:nvSpPr>
        <p:spPr>
          <a:xfrm>
            <a:off x="457200" y="731520"/>
            <a:ext cx="8229600" cy="274320"/>
          </a:xfrm>
          <a:prstGeom prst="rect">
            <a:avLst/>
          </a:prstGeom>
          <a:noFill/>
          <a:ln/>
        </p:spPr>
        <p:txBody>
          <a:bodyPr wrap="square" lIns="0" tIns="0" rIns="0" bIns="0" rtlCol="0" anchor="ctr"/>
          <a:lstStyle/>
          <a:p>
            <a:pPr marL="0" indent="0">
              <a:buNone/>
            </a:pPr>
            <a:r>
              <a:rPr lang="en-US" sz="1300" i="1" dirty="0">
                <a:solidFill>
                  <a:srgbClr val="00C2CB"/>
                </a:solidFill>
                <a:latin typeface="Calibri" pitchFamily="34" charset="0"/>
                <a:ea typeface="Calibri" pitchFamily="34" charset="-122"/>
                <a:cs typeface="Calibri" pitchFamily="34" charset="-120"/>
              </a:rPr>
              <a:t>All objectives achieved — end-to-end pipeline fully operational and validated</a:t>
            </a:r>
            <a:endParaRPr lang="en-US" sz="1300" dirty="0"/>
          </a:p>
        </p:txBody>
      </p:sp>
      <p:sp>
        <p:nvSpPr>
          <p:cNvPr id="5" name="Shape 3"/>
          <p:cNvSpPr/>
          <p:nvPr/>
        </p:nvSpPr>
        <p:spPr>
          <a:xfrm>
            <a:off x="320040" y="1097280"/>
            <a:ext cx="8503920" cy="749808"/>
          </a:xfrm>
          <a:prstGeom prst="rect">
            <a:avLst/>
          </a:prstGeom>
          <a:solidFill>
            <a:srgbClr val="132840"/>
          </a:solidFill>
          <a:ln w="12700">
            <a:solidFill>
              <a:srgbClr val="1E4060"/>
            </a:solidFill>
            <a:prstDash val="solid"/>
          </a:ln>
        </p:spPr>
      </p:sp>
      <p:sp>
        <p:nvSpPr>
          <p:cNvPr id="6" name="Shape 4"/>
          <p:cNvSpPr/>
          <p:nvPr/>
        </p:nvSpPr>
        <p:spPr>
          <a:xfrm>
            <a:off x="320040" y="1097280"/>
            <a:ext cx="54864" cy="749808"/>
          </a:xfrm>
          <a:prstGeom prst="rect">
            <a:avLst/>
          </a:prstGeom>
          <a:solidFill>
            <a:srgbClr val="00C2CB"/>
          </a:solidFill>
          <a:ln w="12700">
            <a:solidFill>
              <a:srgbClr val="00C2CB"/>
            </a:solidFill>
            <a:prstDash val="solid"/>
          </a:ln>
        </p:spPr>
      </p:sp>
      <p:sp>
        <p:nvSpPr>
          <p:cNvPr id="7" name="Text 5"/>
          <p:cNvSpPr/>
          <p:nvPr/>
        </p:nvSpPr>
        <p:spPr>
          <a:xfrm>
            <a:off x="475488" y="1188720"/>
            <a:ext cx="411480" cy="548640"/>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60120" y="1170432"/>
            <a:ext cx="5029200" cy="292608"/>
          </a:xfrm>
          <a:prstGeom prst="rect">
            <a:avLst/>
          </a:prstGeom>
          <a:noFill/>
          <a:ln/>
        </p:spPr>
        <p:txBody>
          <a:bodyPr wrap="square" lIns="0" tIns="0" rIns="0" bIns="0" rtlCol="0" anchor="ctr"/>
          <a:lstStyle/>
          <a:p>
            <a:pPr marL="0" indent="0">
              <a:buNone/>
            </a:pPr>
            <a:r>
              <a:rPr lang="en-US" sz="1350" b="1" dirty="0">
                <a:solidFill>
                  <a:srgbClr val="00C2CB"/>
                </a:solidFill>
                <a:latin typeface="Calibri" pitchFamily="34" charset="0"/>
                <a:ea typeface="Calibri" pitchFamily="34" charset="-122"/>
                <a:cs typeface="Calibri" pitchFamily="34" charset="-120"/>
              </a:rPr>
              <a:t>97.3%  —  Detection Accuracy</a:t>
            </a:r>
            <a:endParaRPr lang="en-US" sz="1350" dirty="0"/>
          </a:p>
        </p:txBody>
      </p:sp>
      <p:sp>
        <p:nvSpPr>
          <p:cNvPr id="9" name="Text 7"/>
          <p:cNvSpPr/>
          <p:nvPr/>
        </p:nvSpPr>
        <p:spPr>
          <a:xfrm>
            <a:off x="960120" y="1499616"/>
            <a:ext cx="740664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CNN Binary Classifier — 1,924 test samples from Kaggle MRI dataset</a:t>
            </a:r>
            <a:endParaRPr lang="en-US" sz="1100" dirty="0"/>
          </a:p>
        </p:txBody>
      </p:sp>
      <p:sp>
        <p:nvSpPr>
          <p:cNvPr id="10" name="Shape 8"/>
          <p:cNvSpPr/>
          <p:nvPr/>
        </p:nvSpPr>
        <p:spPr>
          <a:xfrm>
            <a:off x="320040" y="1965960"/>
            <a:ext cx="8503920" cy="749808"/>
          </a:xfrm>
          <a:prstGeom prst="rect">
            <a:avLst/>
          </a:prstGeom>
          <a:solidFill>
            <a:srgbClr val="132840"/>
          </a:solidFill>
          <a:ln w="12700">
            <a:solidFill>
              <a:srgbClr val="1E4060"/>
            </a:solidFill>
            <a:prstDash val="solid"/>
          </a:ln>
        </p:spPr>
      </p:sp>
      <p:sp>
        <p:nvSpPr>
          <p:cNvPr id="11" name="Shape 9"/>
          <p:cNvSpPr/>
          <p:nvPr/>
        </p:nvSpPr>
        <p:spPr>
          <a:xfrm>
            <a:off x="320040" y="1965960"/>
            <a:ext cx="54864" cy="749808"/>
          </a:xfrm>
          <a:prstGeom prst="rect">
            <a:avLst/>
          </a:prstGeom>
          <a:solidFill>
            <a:srgbClr val="38BDF8"/>
          </a:solidFill>
          <a:ln w="12700">
            <a:solidFill>
              <a:srgbClr val="38BDF8"/>
            </a:solidFill>
            <a:prstDash val="solid"/>
          </a:ln>
        </p:spPr>
      </p:sp>
      <p:sp>
        <p:nvSpPr>
          <p:cNvPr id="12" name="Text 10"/>
          <p:cNvSpPr/>
          <p:nvPr/>
        </p:nvSpPr>
        <p:spPr>
          <a:xfrm>
            <a:off x="475488" y="2057400"/>
            <a:ext cx="411480" cy="548640"/>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60120" y="2039112"/>
            <a:ext cx="5029200" cy="292608"/>
          </a:xfrm>
          <a:prstGeom prst="rect">
            <a:avLst/>
          </a:prstGeom>
          <a:noFill/>
          <a:ln/>
        </p:spPr>
        <p:txBody>
          <a:bodyPr wrap="square" lIns="0" tIns="0" rIns="0" bIns="0" rtlCol="0" anchor="ctr"/>
          <a:lstStyle/>
          <a:p>
            <a:pPr marL="0" indent="0">
              <a:buNone/>
            </a:pPr>
            <a:r>
              <a:rPr lang="en-US" sz="1350" b="1" dirty="0">
                <a:solidFill>
                  <a:srgbClr val="38BDF8"/>
                </a:solidFill>
                <a:latin typeface="Calibri" pitchFamily="34" charset="0"/>
                <a:ea typeface="Calibri" pitchFamily="34" charset="-122"/>
                <a:cs typeface="Calibri" pitchFamily="34" charset="-120"/>
              </a:rPr>
              <a:t>90.0%  —  Classification Accuracy</a:t>
            </a:r>
            <a:endParaRPr lang="en-US" sz="1350" dirty="0"/>
          </a:p>
        </p:txBody>
      </p:sp>
      <p:sp>
        <p:nvSpPr>
          <p:cNvPr id="14" name="Text 12"/>
          <p:cNvSpPr/>
          <p:nvPr/>
        </p:nvSpPr>
        <p:spPr>
          <a:xfrm>
            <a:off x="960120" y="2368296"/>
            <a:ext cx="740664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MobileNetV2 — 4 classes: Glioma, Meningioma, Pituitary, No Tumor</a:t>
            </a:r>
            <a:endParaRPr lang="en-US" sz="1100" dirty="0"/>
          </a:p>
        </p:txBody>
      </p:sp>
      <p:sp>
        <p:nvSpPr>
          <p:cNvPr id="15" name="Shape 13"/>
          <p:cNvSpPr/>
          <p:nvPr/>
        </p:nvSpPr>
        <p:spPr>
          <a:xfrm>
            <a:off x="320040" y="2834640"/>
            <a:ext cx="8503920" cy="749808"/>
          </a:xfrm>
          <a:prstGeom prst="rect">
            <a:avLst/>
          </a:prstGeom>
          <a:solidFill>
            <a:srgbClr val="132840"/>
          </a:solidFill>
          <a:ln w="12700">
            <a:solidFill>
              <a:srgbClr val="1E4060"/>
            </a:solidFill>
            <a:prstDash val="solid"/>
          </a:ln>
        </p:spPr>
      </p:sp>
      <p:sp>
        <p:nvSpPr>
          <p:cNvPr id="16" name="Shape 14"/>
          <p:cNvSpPr/>
          <p:nvPr/>
        </p:nvSpPr>
        <p:spPr>
          <a:xfrm>
            <a:off x="320040" y="2834640"/>
            <a:ext cx="54864" cy="749808"/>
          </a:xfrm>
          <a:prstGeom prst="rect">
            <a:avLst/>
          </a:prstGeom>
          <a:solidFill>
            <a:srgbClr val="22D3A0"/>
          </a:solidFill>
          <a:ln w="12700">
            <a:solidFill>
              <a:srgbClr val="22D3A0"/>
            </a:solidFill>
            <a:prstDash val="solid"/>
          </a:ln>
        </p:spPr>
      </p:sp>
      <p:sp>
        <p:nvSpPr>
          <p:cNvPr id="17" name="Text 15"/>
          <p:cNvSpPr/>
          <p:nvPr/>
        </p:nvSpPr>
        <p:spPr>
          <a:xfrm>
            <a:off x="475488" y="2926080"/>
            <a:ext cx="411480" cy="548640"/>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2907792"/>
            <a:ext cx="5029200" cy="292608"/>
          </a:xfrm>
          <a:prstGeom prst="rect">
            <a:avLst/>
          </a:prstGeom>
          <a:noFill/>
          <a:ln/>
        </p:spPr>
        <p:txBody>
          <a:bodyPr wrap="square" lIns="0" tIns="0" rIns="0" bIns="0" rtlCol="0" anchor="ctr"/>
          <a:lstStyle/>
          <a:p>
            <a:pPr marL="0" indent="0">
              <a:buNone/>
            </a:pPr>
            <a:r>
              <a:rPr lang="en-US" sz="1350" b="1" dirty="0">
                <a:solidFill>
                  <a:srgbClr val="22D3A0"/>
                </a:solidFill>
                <a:latin typeface="Calibri" pitchFamily="34" charset="0"/>
                <a:ea typeface="Calibri" pitchFamily="34" charset="-122"/>
                <a:cs typeface="Calibri" pitchFamily="34" charset="-120"/>
              </a:rPr>
              <a:t>0.80+  —  Segmentation Dice Score</a:t>
            </a:r>
            <a:endParaRPr lang="en-US" sz="1350" dirty="0"/>
          </a:p>
        </p:txBody>
      </p:sp>
      <p:sp>
        <p:nvSpPr>
          <p:cNvPr id="19" name="Text 17"/>
          <p:cNvSpPr/>
          <p:nvPr/>
        </p:nvSpPr>
        <p:spPr>
          <a:xfrm>
            <a:off x="960120" y="3236976"/>
            <a:ext cx="740664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U-Net — Batch Norm + Dropout + combined Dice+BCE loss</a:t>
            </a:r>
            <a:endParaRPr lang="en-US" sz="1100" dirty="0"/>
          </a:p>
        </p:txBody>
      </p:sp>
      <p:sp>
        <p:nvSpPr>
          <p:cNvPr id="20" name="Shape 18"/>
          <p:cNvSpPr/>
          <p:nvPr/>
        </p:nvSpPr>
        <p:spPr>
          <a:xfrm>
            <a:off x="320040" y="3703320"/>
            <a:ext cx="8503920" cy="749808"/>
          </a:xfrm>
          <a:prstGeom prst="rect">
            <a:avLst/>
          </a:prstGeom>
          <a:solidFill>
            <a:srgbClr val="132840"/>
          </a:solidFill>
          <a:ln w="12700">
            <a:solidFill>
              <a:srgbClr val="1E4060"/>
            </a:solidFill>
            <a:prstDash val="solid"/>
          </a:ln>
        </p:spPr>
      </p:sp>
      <p:sp>
        <p:nvSpPr>
          <p:cNvPr id="21" name="Shape 19"/>
          <p:cNvSpPr/>
          <p:nvPr/>
        </p:nvSpPr>
        <p:spPr>
          <a:xfrm>
            <a:off x="320040" y="3703320"/>
            <a:ext cx="54864" cy="749808"/>
          </a:xfrm>
          <a:prstGeom prst="rect">
            <a:avLst/>
          </a:prstGeom>
          <a:solidFill>
            <a:srgbClr val="FBBF24"/>
          </a:solidFill>
          <a:ln w="12700">
            <a:solidFill>
              <a:srgbClr val="FBBF24"/>
            </a:solidFill>
            <a:prstDash val="solid"/>
          </a:ln>
        </p:spPr>
      </p:sp>
      <p:sp>
        <p:nvSpPr>
          <p:cNvPr id="22" name="Text 20"/>
          <p:cNvSpPr/>
          <p:nvPr/>
        </p:nvSpPr>
        <p:spPr>
          <a:xfrm>
            <a:off x="475488" y="3794760"/>
            <a:ext cx="411480" cy="548640"/>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960120" y="3776472"/>
            <a:ext cx="5029200" cy="292608"/>
          </a:xfrm>
          <a:prstGeom prst="rect">
            <a:avLst/>
          </a:prstGeom>
          <a:noFill/>
          <a:ln/>
        </p:spPr>
        <p:txBody>
          <a:bodyPr wrap="square" lIns="0" tIns="0" rIns="0" bIns="0" rtlCol="0" anchor="ctr"/>
          <a:lstStyle/>
          <a:p>
            <a:pPr marL="0" indent="0">
              <a:buNone/>
            </a:pPr>
            <a:r>
              <a:rPr lang="en-US" sz="1350" b="1" dirty="0">
                <a:solidFill>
                  <a:srgbClr val="FBBF24"/>
                </a:solidFill>
                <a:latin typeface="Calibri" pitchFamily="34" charset="0"/>
                <a:ea typeface="Calibri" pitchFamily="34" charset="-122"/>
                <a:cs typeface="Calibri" pitchFamily="34" charset="-120"/>
              </a:rPr>
              <a:t>3-Stage  —  End-to-End Pipeline</a:t>
            </a:r>
            <a:endParaRPr lang="en-US" sz="1350" dirty="0"/>
          </a:p>
        </p:txBody>
      </p:sp>
      <p:sp>
        <p:nvSpPr>
          <p:cNvPr id="24" name="Text 22"/>
          <p:cNvSpPr/>
          <p:nvPr/>
        </p:nvSpPr>
        <p:spPr>
          <a:xfrm>
            <a:off x="960120" y="4105656"/>
            <a:ext cx="7406640" cy="256032"/>
          </a:xfrm>
          <a:prstGeom prst="rect">
            <a:avLst/>
          </a:prstGeom>
          <a:noFill/>
          <a:ln/>
        </p:spPr>
        <p:txBody>
          <a:bodyPr wrap="square" lIns="0" tIns="0" rIns="0" bIns="0" rtlCol="0" anchor="ctr"/>
          <a:lstStyle/>
          <a:p>
            <a:pPr marL="0" indent="0">
              <a:buNone/>
            </a:pPr>
            <a:r>
              <a:rPr lang="en-US" sz="1100" dirty="0">
                <a:solidFill>
                  <a:srgbClr val="E2F4F7"/>
                </a:solidFill>
                <a:latin typeface="Calibri" pitchFamily="34" charset="0"/>
                <a:ea typeface="Calibri" pitchFamily="34" charset="-122"/>
                <a:cs typeface="Calibri" pitchFamily="34" charset="-120"/>
              </a:rPr>
              <a:t>Input MRI → Detect → Classify → Segment → Annotated Report</a:t>
            </a:r>
            <a:endParaRPr lang="en-US" sz="1100" dirty="0"/>
          </a:p>
        </p:txBody>
      </p:sp>
      <p:sp>
        <p:nvSpPr>
          <p:cNvPr id="25" name="Text 23"/>
          <p:cNvSpPr/>
          <p:nvPr/>
        </p:nvSpPr>
        <p:spPr>
          <a:xfrm>
            <a:off x="457200" y="4709160"/>
            <a:ext cx="8229600" cy="320040"/>
          </a:xfrm>
          <a:prstGeom prst="rect">
            <a:avLst/>
          </a:prstGeom>
          <a:noFill/>
          <a:ln/>
        </p:spPr>
        <p:txBody>
          <a:bodyPr wrap="square" lIns="0" tIns="0" rIns="0" bIns="0" rtlCol="0" anchor="ctr"/>
          <a:lstStyle/>
          <a:p>
            <a:pPr marL="0" indent="0" algn="ctr">
              <a:buNone/>
            </a:pPr>
            <a:r>
              <a:rPr lang="en-US" sz="1200" i="1" dirty="0">
                <a:solidFill>
                  <a:srgbClr val="7FA8BD"/>
                </a:solidFill>
                <a:latin typeface="Calibri" pitchFamily="34" charset="0"/>
                <a:ea typeface="Calibri" pitchFamily="34" charset="-122"/>
                <a:cs typeface="Calibri" pitchFamily="34" charset="-120"/>
              </a:rPr>
              <a:t>This project demonstrates deep learning pipelines are clinically feasible, accurate, and ready for real-world deployment.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64592"/>
            <a:ext cx="54864" cy="502920"/>
          </a:xfrm>
          <a:prstGeom prst="rect">
            <a:avLst/>
          </a:prstGeom>
          <a:solidFill>
            <a:srgbClr val="00C2CB"/>
          </a:solidFill>
          <a:ln w="12700">
            <a:solidFill>
              <a:srgbClr val="00C2CB"/>
            </a:solidFill>
            <a:prstDash val="solid"/>
          </a:ln>
        </p:spPr>
      </p:sp>
      <p:sp>
        <p:nvSpPr>
          <p:cNvPr id="3" name="Text 1"/>
          <p:cNvSpPr/>
          <p:nvPr/>
        </p:nvSpPr>
        <p:spPr>
          <a:xfrm>
            <a:off x="475488" y="10972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References</a:t>
            </a:r>
            <a:endParaRPr lang="en-US" sz="2600" dirty="0"/>
          </a:p>
        </p:txBody>
      </p:sp>
      <p:sp>
        <p:nvSpPr>
          <p:cNvPr id="4" name="Text 2"/>
          <p:cNvSpPr/>
          <p:nvPr/>
        </p:nvSpPr>
        <p:spPr>
          <a:xfrm>
            <a:off x="475488" y="694944"/>
            <a:ext cx="8229600" cy="256032"/>
          </a:xfrm>
          <a:prstGeom prst="rect">
            <a:avLst/>
          </a:prstGeom>
          <a:noFill/>
          <a:ln/>
        </p:spPr>
        <p:txBody>
          <a:bodyPr wrap="square" lIns="0" tIns="0" rIns="0" bIns="0" rtlCol="0" anchor="ctr"/>
          <a:lstStyle/>
          <a:p>
            <a:pPr marL="0" indent="0">
              <a:buNone/>
            </a:pPr>
            <a:r>
              <a:rPr lang="en-US" sz="1100" i="1" dirty="0">
                <a:solidFill>
                  <a:srgbClr val="00C2CB"/>
                </a:solidFill>
                <a:latin typeface="Calibri" pitchFamily="34" charset="0"/>
                <a:ea typeface="Calibri" pitchFamily="34" charset="-122"/>
                <a:cs typeface="Calibri" pitchFamily="34" charset="-120"/>
              </a:rPr>
              <a:t>Sources and datasets used in this project</a:t>
            </a:r>
            <a:endParaRPr lang="en-US" sz="1100" dirty="0"/>
          </a:p>
        </p:txBody>
      </p:sp>
      <p:sp>
        <p:nvSpPr>
          <p:cNvPr id="5" name="Shape 3"/>
          <p:cNvSpPr/>
          <p:nvPr/>
        </p:nvSpPr>
        <p:spPr>
          <a:xfrm>
            <a:off x="320040" y="1051560"/>
            <a:ext cx="8503920" cy="411480"/>
          </a:xfrm>
          <a:prstGeom prst="rect">
            <a:avLst/>
          </a:prstGeom>
          <a:solidFill>
            <a:srgbClr val="132840"/>
          </a:solidFill>
          <a:ln w="12700">
            <a:solidFill>
              <a:srgbClr val="1E4060"/>
            </a:solidFill>
            <a:prstDash val="solid"/>
          </a:ln>
        </p:spPr>
      </p:sp>
      <p:sp>
        <p:nvSpPr>
          <p:cNvPr id="6" name="Text 4"/>
          <p:cNvSpPr/>
          <p:nvPr/>
        </p:nvSpPr>
        <p:spPr>
          <a:xfrm>
            <a:off x="411480" y="1097280"/>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914400" y="1097280"/>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Mayo Clinic — Brain Tumor Symptoms &amp; Causes</a:t>
            </a:r>
            <a:endParaRPr lang="en-US" sz="1150" dirty="0"/>
          </a:p>
        </p:txBody>
      </p:sp>
      <p:sp>
        <p:nvSpPr>
          <p:cNvPr id="8" name="Text 6"/>
          <p:cNvSpPr/>
          <p:nvPr/>
        </p:nvSpPr>
        <p:spPr>
          <a:xfrm>
            <a:off x="914400" y="1357884"/>
            <a:ext cx="7772400" cy="164592"/>
          </a:xfrm>
          <a:prstGeom prst="rect">
            <a:avLst/>
          </a:prstGeom>
          <a:noFill/>
          <a:ln/>
        </p:spPr>
        <p:txBody>
          <a:bodyPr wrap="square" lIns="0" tIns="0" rIns="0" bIns="0" rtlCol="0" anchor="ctr"/>
          <a:lstStyle/>
          <a:p>
            <a:r>
              <a:rPr lang="en-US" sz="900" dirty="0">
                <a:solidFill>
                  <a:schemeClr val="bg1"/>
                </a:solidFill>
              </a:rPr>
              <a:t>https://www.mayoclinic.org/diseases-conditions/brain-tumor/symptoms-causes/syc-20350084</a:t>
            </a:r>
          </a:p>
          <a:p>
            <a:pPr marL="0" indent="0">
              <a:buNone/>
            </a:pPr>
            <a:endParaRPr lang="en-US" sz="900" dirty="0"/>
          </a:p>
        </p:txBody>
      </p:sp>
      <p:sp>
        <p:nvSpPr>
          <p:cNvPr id="9" name="Shape 7"/>
          <p:cNvSpPr/>
          <p:nvPr/>
        </p:nvSpPr>
        <p:spPr>
          <a:xfrm>
            <a:off x="320040" y="1545336"/>
            <a:ext cx="8503920" cy="411480"/>
          </a:xfrm>
          <a:prstGeom prst="rect">
            <a:avLst/>
          </a:prstGeom>
          <a:solidFill>
            <a:srgbClr val="132840"/>
          </a:solidFill>
          <a:ln w="12700">
            <a:solidFill>
              <a:srgbClr val="1E4060"/>
            </a:solidFill>
            <a:prstDash val="solid"/>
          </a:ln>
        </p:spPr>
      </p:sp>
      <p:sp>
        <p:nvSpPr>
          <p:cNvPr id="10" name="Text 8"/>
          <p:cNvSpPr/>
          <p:nvPr/>
        </p:nvSpPr>
        <p:spPr>
          <a:xfrm>
            <a:off x="411480" y="1591056"/>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914400" y="1591056"/>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Wikipedia — Brain Tumor (Overview &amp; Types)</a:t>
            </a:r>
            <a:endParaRPr lang="en-US" sz="1150" dirty="0"/>
          </a:p>
        </p:txBody>
      </p:sp>
      <p:sp>
        <p:nvSpPr>
          <p:cNvPr id="12" name="Text 10"/>
          <p:cNvSpPr/>
          <p:nvPr/>
        </p:nvSpPr>
        <p:spPr>
          <a:xfrm>
            <a:off x="914400" y="1773936"/>
            <a:ext cx="7772400" cy="164592"/>
          </a:xfrm>
          <a:prstGeom prst="rect">
            <a:avLst/>
          </a:prstGeom>
          <a:noFill/>
          <a:ln/>
        </p:spPr>
        <p:txBody>
          <a:bodyPr wrap="square" lIns="0" tIns="0" rIns="0" bIns="0" rtlCol="0" anchor="ctr"/>
          <a:lstStyle/>
          <a:p>
            <a:r>
              <a:rPr lang="en-US" sz="900" dirty="0">
                <a:solidFill>
                  <a:schemeClr val="bg1"/>
                </a:solidFill>
              </a:rPr>
              <a:t>https://en.wikipedia.org/wiki/Brain_tumor</a:t>
            </a:r>
          </a:p>
        </p:txBody>
      </p:sp>
      <p:sp>
        <p:nvSpPr>
          <p:cNvPr id="13" name="Shape 11"/>
          <p:cNvSpPr/>
          <p:nvPr/>
        </p:nvSpPr>
        <p:spPr>
          <a:xfrm>
            <a:off x="320040" y="2039112"/>
            <a:ext cx="8503920" cy="411480"/>
          </a:xfrm>
          <a:prstGeom prst="rect">
            <a:avLst/>
          </a:prstGeom>
          <a:solidFill>
            <a:srgbClr val="132840"/>
          </a:solidFill>
          <a:ln w="12700">
            <a:solidFill>
              <a:srgbClr val="1E4060"/>
            </a:solidFill>
            <a:prstDash val="solid"/>
          </a:ln>
        </p:spPr>
      </p:sp>
      <p:sp>
        <p:nvSpPr>
          <p:cNvPr id="14" name="Text 12"/>
          <p:cNvSpPr/>
          <p:nvPr/>
        </p:nvSpPr>
        <p:spPr>
          <a:xfrm>
            <a:off x="411480" y="2084832"/>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914400" y="2084832"/>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Cleveland Clinic — Brain Cancer / Brain Tumor</a:t>
            </a:r>
            <a:endParaRPr lang="en-US" sz="1150" dirty="0"/>
          </a:p>
        </p:txBody>
      </p:sp>
      <p:sp>
        <p:nvSpPr>
          <p:cNvPr id="16" name="Text 14"/>
          <p:cNvSpPr/>
          <p:nvPr/>
        </p:nvSpPr>
        <p:spPr>
          <a:xfrm>
            <a:off x="914400" y="2267712"/>
            <a:ext cx="7772400" cy="164592"/>
          </a:xfrm>
          <a:prstGeom prst="rect">
            <a:avLst/>
          </a:prstGeom>
          <a:noFill/>
          <a:ln/>
        </p:spPr>
        <p:txBody>
          <a:bodyPr wrap="square" lIns="0" tIns="0" rIns="0" bIns="0" rtlCol="0" anchor="ctr"/>
          <a:lstStyle/>
          <a:p>
            <a:r>
              <a:rPr lang="en-US" sz="900" dirty="0">
                <a:solidFill>
                  <a:schemeClr val="bg1"/>
                </a:solidFill>
                <a:latin typeface="Calibri" pitchFamily="34" charset="0"/>
                <a:ea typeface="Calibri" pitchFamily="34" charset="-122"/>
                <a:cs typeface="Calibri" pitchFamily="34" charset="-120"/>
              </a:rPr>
              <a:t>https://my.clevelandclinic.org/health/diseases/6149-brain-cancer-brain-tumor</a:t>
            </a:r>
            <a:endParaRPr lang="en-US" sz="900" dirty="0">
              <a:solidFill>
                <a:schemeClr val="bg1"/>
              </a:solidFill>
            </a:endParaRPr>
          </a:p>
        </p:txBody>
      </p:sp>
      <p:sp>
        <p:nvSpPr>
          <p:cNvPr id="17" name="Shape 15"/>
          <p:cNvSpPr/>
          <p:nvPr/>
        </p:nvSpPr>
        <p:spPr>
          <a:xfrm>
            <a:off x="320040" y="2532888"/>
            <a:ext cx="8503920" cy="411480"/>
          </a:xfrm>
          <a:prstGeom prst="rect">
            <a:avLst/>
          </a:prstGeom>
          <a:solidFill>
            <a:srgbClr val="132840"/>
          </a:solidFill>
          <a:ln w="12700">
            <a:solidFill>
              <a:srgbClr val="1E4060"/>
            </a:solidFill>
            <a:prstDash val="solid"/>
          </a:ln>
        </p:spPr>
      </p:sp>
      <p:sp>
        <p:nvSpPr>
          <p:cNvPr id="18" name="Text 16"/>
          <p:cNvSpPr/>
          <p:nvPr/>
        </p:nvSpPr>
        <p:spPr>
          <a:xfrm>
            <a:off x="411480" y="2578608"/>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914400" y="2578608"/>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Kaggle — Brain Tumor Type Dataset</a:t>
            </a:r>
            <a:endParaRPr lang="en-US" sz="1150" dirty="0"/>
          </a:p>
        </p:txBody>
      </p:sp>
      <p:sp>
        <p:nvSpPr>
          <p:cNvPr id="20" name="Text 18"/>
          <p:cNvSpPr/>
          <p:nvPr/>
        </p:nvSpPr>
        <p:spPr>
          <a:xfrm>
            <a:off x="914400" y="2761488"/>
            <a:ext cx="7772400" cy="164592"/>
          </a:xfrm>
          <a:prstGeom prst="rect">
            <a:avLst/>
          </a:prstGeom>
          <a:noFill/>
          <a:ln/>
        </p:spPr>
        <p:txBody>
          <a:bodyPr wrap="square" lIns="0" tIns="0" rIns="0" bIns="0" rtlCol="0" anchor="ctr"/>
          <a:lstStyle/>
          <a:p>
            <a:r>
              <a:rPr lang="en-US" sz="900" u="sng" dirty="0">
                <a:solidFill>
                  <a:schemeClr val="bg1"/>
                </a:solidFill>
                <a:hlinkClick r:id="rId3">
                  <a:extLst>
                    <a:ext uri="{A12FA001-AC4F-418D-AE19-62706E023703}">
                      <ahyp:hlinkClr xmlns:ahyp="http://schemas.microsoft.com/office/drawing/2018/hyperlinkcolor" val="tx"/>
                    </a:ext>
                  </a:extLst>
                </a:hlinkClick>
              </a:rPr>
              <a:t>https://www.kaggle.com/datasets/masoudnickparvar/brain-tumor-mri-dataset</a:t>
            </a:r>
            <a:endParaRPr lang="en-IN" sz="900" u="sng" dirty="0">
              <a:solidFill>
                <a:schemeClr val="bg1"/>
              </a:solidFill>
            </a:endParaRPr>
          </a:p>
        </p:txBody>
      </p:sp>
      <p:sp>
        <p:nvSpPr>
          <p:cNvPr id="21" name="Shape 19"/>
          <p:cNvSpPr/>
          <p:nvPr/>
        </p:nvSpPr>
        <p:spPr>
          <a:xfrm>
            <a:off x="320040" y="3026664"/>
            <a:ext cx="8503920" cy="411480"/>
          </a:xfrm>
          <a:prstGeom prst="rect">
            <a:avLst/>
          </a:prstGeom>
          <a:solidFill>
            <a:srgbClr val="132840"/>
          </a:solidFill>
          <a:ln w="12700">
            <a:solidFill>
              <a:srgbClr val="1E4060"/>
            </a:solidFill>
            <a:prstDash val="solid"/>
          </a:ln>
        </p:spPr>
      </p:sp>
      <p:sp>
        <p:nvSpPr>
          <p:cNvPr id="22" name="Text 20"/>
          <p:cNvSpPr/>
          <p:nvPr/>
        </p:nvSpPr>
        <p:spPr>
          <a:xfrm>
            <a:off x="411480" y="3072384"/>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914400" y="3072384"/>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Kaggle — Brain Tumor Segmentation Dataset (Nikhil Roxtomar)</a:t>
            </a:r>
            <a:endParaRPr lang="en-US" sz="1150" dirty="0"/>
          </a:p>
        </p:txBody>
      </p:sp>
      <p:sp>
        <p:nvSpPr>
          <p:cNvPr id="24" name="Text 22"/>
          <p:cNvSpPr/>
          <p:nvPr/>
        </p:nvSpPr>
        <p:spPr>
          <a:xfrm>
            <a:off x="914400" y="3255264"/>
            <a:ext cx="7772400" cy="164592"/>
          </a:xfrm>
          <a:prstGeom prst="rect">
            <a:avLst/>
          </a:prstGeom>
          <a:noFill/>
          <a:ln/>
        </p:spPr>
        <p:txBody>
          <a:bodyPr wrap="square" lIns="0" tIns="0" rIns="0" bIns="0" rtlCol="0" anchor="ctr"/>
          <a:lstStyle/>
          <a:p>
            <a:r>
              <a:rPr lang="en-IN" sz="900" u="sng" dirty="0">
                <a:solidFill>
                  <a:schemeClr val="bg1"/>
                </a:solidFill>
              </a:rPr>
              <a:t>https://www.kaggle.com/datasets/nikhilroxtomar/brain-tumor-segmentation?utm_source=chatgpt.com</a:t>
            </a:r>
            <a:endParaRPr lang="en-US" sz="900" u="sng" dirty="0">
              <a:solidFill>
                <a:schemeClr val="bg1"/>
              </a:solidFill>
            </a:endParaRPr>
          </a:p>
        </p:txBody>
      </p:sp>
      <p:sp>
        <p:nvSpPr>
          <p:cNvPr id="25" name="Shape 23"/>
          <p:cNvSpPr/>
          <p:nvPr/>
        </p:nvSpPr>
        <p:spPr>
          <a:xfrm>
            <a:off x="320040" y="3520440"/>
            <a:ext cx="8503920" cy="411480"/>
          </a:xfrm>
          <a:prstGeom prst="rect">
            <a:avLst/>
          </a:prstGeom>
          <a:solidFill>
            <a:srgbClr val="132840"/>
          </a:solidFill>
          <a:ln w="12700">
            <a:solidFill>
              <a:srgbClr val="1E4060"/>
            </a:solidFill>
            <a:prstDash val="solid"/>
          </a:ln>
        </p:spPr>
      </p:sp>
      <p:sp>
        <p:nvSpPr>
          <p:cNvPr id="26" name="Text 24"/>
          <p:cNvSpPr/>
          <p:nvPr/>
        </p:nvSpPr>
        <p:spPr>
          <a:xfrm>
            <a:off x="411480" y="3566160"/>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914400" y="3566160"/>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National Cancer Institute — Brain &amp; Spinal Cord Tumors</a:t>
            </a:r>
            <a:endParaRPr lang="en-US" sz="1150" dirty="0"/>
          </a:p>
        </p:txBody>
      </p:sp>
      <p:sp>
        <p:nvSpPr>
          <p:cNvPr id="28" name="Text 26"/>
          <p:cNvSpPr/>
          <p:nvPr/>
        </p:nvSpPr>
        <p:spPr>
          <a:xfrm>
            <a:off x="914400" y="3749040"/>
            <a:ext cx="7772400" cy="164592"/>
          </a:xfrm>
          <a:prstGeom prst="rect">
            <a:avLst/>
          </a:prstGeom>
          <a:noFill/>
          <a:ln/>
        </p:spPr>
        <p:txBody>
          <a:bodyPr wrap="square" lIns="0" tIns="0" rIns="0" bIns="0" rtlCol="0" anchor="ctr"/>
          <a:lstStyle/>
          <a:p>
            <a:r>
              <a:rPr lang="en-US" sz="900" dirty="0">
                <a:solidFill>
                  <a:schemeClr val="bg1"/>
                </a:solidFill>
                <a:latin typeface="Calibri" pitchFamily="34" charset="0"/>
                <a:ea typeface="Calibri" pitchFamily="34" charset="-122"/>
                <a:cs typeface="Calibri" pitchFamily="34" charset="-120"/>
              </a:rPr>
              <a:t>https://www.cancer.gov/types/brain/hp</a:t>
            </a:r>
            <a:endParaRPr lang="en-US" sz="900" dirty="0">
              <a:solidFill>
                <a:schemeClr val="bg1"/>
              </a:solidFill>
            </a:endParaRPr>
          </a:p>
        </p:txBody>
      </p:sp>
      <p:sp>
        <p:nvSpPr>
          <p:cNvPr id="29" name="Shape 27"/>
          <p:cNvSpPr/>
          <p:nvPr/>
        </p:nvSpPr>
        <p:spPr>
          <a:xfrm>
            <a:off x="320040" y="4014216"/>
            <a:ext cx="8503920" cy="411480"/>
          </a:xfrm>
          <a:prstGeom prst="rect">
            <a:avLst/>
          </a:prstGeom>
          <a:solidFill>
            <a:srgbClr val="132840"/>
          </a:solidFill>
          <a:ln w="12700">
            <a:solidFill>
              <a:srgbClr val="1E4060"/>
            </a:solidFill>
            <a:prstDash val="solid"/>
          </a:ln>
        </p:spPr>
      </p:sp>
      <p:sp>
        <p:nvSpPr>
          <p:cNvPr id="30" name="Text 28"/>
          <p:cNvSpPr/>
          <p:nvPr/>
        </p:nvSpPr>
        <p:spPr>
          <a:xfrm>
            <a:off x="411480" y="4059936"/>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[7]</a:t>
            </a:r>
            <a:endParaRPr lang="en-US" sz="1100" dirty="0"/>
          </a:p>
        </p:txBody>
      </p:sp>
      <p:sp>
        <p:nvSpPr>
          <p:cNvPr id="31" name="Text 29"/>
          <p:cNvSpPr/>
          <p:nvPr/>
        </p:nvSpPr>
        <p:spPr>
          <a:xfrm>
            <a:off x="914400" y="4059936"/>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Johns Hopkins Medicine — Brain Tumor Surgery</a:t>
            </a:r>
            <a:endParaRPr lang="en-US" sz="1150" dirty="0"/>
          </a:p>
        </p:txBody>
      </p:sp>
      <p:sp>
        <p:nvSpPr>
          <p:cNvPr id="32" name="Text 30"/>
          <p:cNvSpPr/>
          <p:nvPr/>
        </p:nvSpPr>
        <p:spPr>
          <a:xfrm>
            <a:off x="914400" y="4242816"/>
            <a:ext cx="7772400" cy="164592"/>
          </a:xfrm>
          <a:prstGeom prst="rect">
            <a:avLst/>
          </a:prstGeom>
          <a:noFill/>
          <a:ln/>
        </p:spPr>
        <p:txBody>
          <a:bodyPr wrap="square" lIns="0" tIns="0" rIns="0" bIns="0" rtlCol="0" anchor="ctr"/>
          <a:lstStyle/>
          <a:p>
            <a:r>
              <a:rPr lang="en-US" sz="900" dirty="0">
                <a:solidFill>
                  <a:schemeClr val="bg1"/>
                </a:solidFill>
                <a:latin typeface="Calibri" pitchFamily="34" charset="0"/>
                <a:ea typeface="Calibri" pitchFamily="34" charset="-122"/>
                <a:cs typeface="Calibri" pitchFamily="34" charset="-120"/>
              </a:rPr>
              <a:t>https://www.hopkinsmedicine.org/health/conditions-and-diseases/brain-tumor/brain-tumor-surgery</a:t>
            </a:r>
            <a:endParaRPr lang="en-US" sz="900" dirty="0">
              <a:solidFill>
                <a:schemeClr val="bg1"/>
              </a:solidFill>
            </a:endParaRPr>
          </a:p>
        </p:txBody>
      </p:sp>
      <p:sp>
        <p:nvSpPr>
          <p:cNvPr id="33" name="Shape 31"/>
          <p:cNvSpPr/>
          <p:nvPr/>
        </p:nvSpPr>
        <p:spPr>
          <a:xfrm>
            <a:off x="320040" y="4507992"/>
            <a:ext cx="8503920" cy="411480"/>
          </a:xfrm>
          <a:prstGeom prst="rect">
            <a:avLst/>
          </a:prstGeom>
          <a:solidFill>
            <a:srgbClr val="132840"/>
          </a:solidFill>
          <a:ln w="12700">
            <a:solidFill>
              <a:srgbClr val="1E4060"/>
            </a:solidFill>
            <a:prstDash val="solid"/>
          </a:ln>
        </p:spPr>
      </p:sp>
      <p:sp>
        <p:nvSpPr>
          <p:cNvPr id="34" name="Text 32"/>
          <p:cNvSpPr/>
          <p:nvPr/>
        </p:nvSpPr>
        <p:spPr>
          <a:xfrm>
            <a:off x="411480" y="4553712"/>
            <a:ext cx="411480" cy="320040"/>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[8]</a:t>
            </a:r>
            <a:endParaRPr lang="en-US" sz="1100" dirty="0"/>
          </a:p>
        </p:txBody>
      </p:sp>
      <p:sp>
        <p:nvSpPr>
          <p:cNvPr id="35" name="Text 33"/>
          <p:cNvSpPr/>
          <p:nvPr/>
        </p:nvSpPr>
        <p:spPr>
          <a:xfrm>
            <a:off x="914400" y="4553712"/>
            <a:ext cx="4114800" cy="201168"/>
          </a:xfrm>
          <a:prstGeom prst="rect">
            <a:avLst/>
          </a:prstGeom>
          <a:noFill/>
          <a:ln/>
        </p:spPr>
        <p:txBody>
          <a:bodyPr wrap="square" lIns="0" tIns="0" rIns="0" bIns="0" rtlCol="0" anchor="ctr"/>
          <a:lstStyle/>
          <a:p>
            <a:pPr marL="0" indent="0">
              <a:buNone/>
            </a:pPr>
            <a:r>
              <a:rPr lang="en-US" sz="1150" b="1" dirty="0">
                <a:solidFill>
                  <a:srgbClr val="E2F4F7"/>
                </a:solidFill>
                <a:latin typeface="Calibri" pitchFamily="34" charset="0"/>
                <a:ea typeface="Calibri" pitchFamily="34" charset="-122"/>
                <a:cs typeface="Calibri" pitchFamily="34" charset="-120"/>
              </a:rPr>
              <a:t>Cancer Research UK — Brain Tumours Overview</a:t>
            </a:r>
            <a:endParaRPr lang="en-US" sz="1150" dirty="0"/>
          </a:p>
        </p:txBody>
      </p:sp>
      <p:sp>
        <p:nvSpPr>
          <p:cNvPr id="36" name="Text 34"/>
          <p:cNvSpPr/>
          <p:nvPr/>
        </p:nvSpPr>
        <p:spPr>
          <a:xfrm>
            <a:off x="914400" y="4736592"/>
            <a:ext cx="7772400" cy="164592"/>
          </a:xfrm>
          <a:prstGeom prst="rect">
            <a:avLst/>
          </a:prstGeom>
          <a:noFill/>
          <a:ln/>
        </p:spPr>
        <p:txBody>
          <a:bodyPr wrap="square" lIns="0" tIns="0" rIns="0" bIns="0" rtlCol="0" anchor="ctr"/>
          <a:lstStyle/>
          <a:p>
            <a:r>
              <a:rPr lang="en-US" sz="900" dirty="0">
                <a:solidFill>
                  <a:schemeClr val="bg1"/>
                </a:solidFill>
                <a:latin typeface="Calibri" pitchFamily="34" charset="0"/>
                <a:ea typeface="Calibri" pitchFamily="34" charset="-122"/>
                <a:cs typeface="Calibri" pitchFamily="34" charset="-120"/>
              </a:rPr>
              <a:t>https://www.cancerresearchuk.org/about-cancer/brain-tumours</a:t>
            </a:r>
            <a:endParaRPr lang="en-US" sz="900"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2CB"/>
          </a:solidFill>
          <a:ln w="12700">
            <a:solidFill>
              <a:srgbClr val="00C2CB"/>
            </a:solidFill>
            <a:prstDash val="solid"/>
          </a:ln>
        </p:spPr>
      </p:sp>
      <p:sp>
        <p:nvSpPr>
          <p:cNvPr id="3" name="Shape 1"/>
          <p:cNvSpPr/>
          <p:nvPr/>
        </p:nvSpPr>
        <p:spPr>
          <a:xfrm>
            <a:off x="0" y="5088636"/>
            <a:ext cx="9144000" cy="54864"/>
          </a:xfrm>
          <a:prstGeom prst="rect">
            <a:avLst/>
          </a:prstGeom>
          <a:solidFill>
            <a:srgbClr val="00C2CB"/>
          </a:solidFill>
          <a:ln w="12700">
            <a:solidFill>
              <a:srgbClr val="00C2CB"/>
            </a:solidFill>
            <a:prstDash val="solid"/>
          </a:ln>
        </p:spPr>
      </p:sp>
      <p:pic>
        <p:nvPicPr>
          <p:cNvPr id="4" name="Image 0" descr="preencoded.png"/>
          <p:cNvPicPr>
            <a:picLocks noChangeAspect="1"/>
          </p:cNvPicPr>
          <p:nvPr/>
        </p:nvPicPr>
        <p:blipFill>
          <a:blip r:embed="rId3"/>
          <a:stretch>
            <a:fillRect/>
          </a:stretch>
        </p:blipFill>
        <p:spPr>
          <a:xfrm>
            <a:off x="3749040" y="274320"/>
            <a:ext cx="1645920" cy="1645920"/>
          </a:xfrm>
          <a:prstGeom prst="rect">
            <a:avLst/>
          </a:prstGeom>
        </p:spPr>
      </p:pic>
      <p:sp>
        <p:nvSpPr>
          <p:cNvPr id="5" name="Shape 2"/>
          <p:cNvSpPr/>
          <p:nvPr/>
        </p:nvSpPr>
        <p:spPr>
          <a:xfrm>
            <a:off x="3566160" y="164592"/>
            <a:ext cx="2011680" cy="2011680"/>
          </a:xfrm>
          <a:prstGeom prst="ellipse">
            <a:avLst/>
          </a:prstGeom>
          <a:solidFill>
            <a:srgbClr val="00C2CB">
              <a:alpha val="12000"/>
            </a:srgbClr>
          </a:solidFill>
          <a:ln w="19050">
            <a:solidFill>
              <a:srgbClr val="00C2CB"/>
            </a:solidFill>
            <a:prstDash val="solid"/>
          </a:ln>
        </p:spPr>
      </p:sp>
      <p:sp>
        <p:nvSpPr>
          <p:cNvPr id="6" name="Text 3"/>
          <p:cNvSpPr/>
          <p:nvPr/>
        </p:nvSpPr>
        <p:spPr>
          <a:xfrm>
            <a:off x="914400" y="2084832"/>
            <a:ext cx="7315200" cy="77724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7" name="Text 4"/>
          <p:cNvSpPr/>
          <p:nvPr/>
        </p:nvSpPr>
        <p:spPr>
          <a:xfrm>
            <a:off x="1371600" y="2834640"/>
            <a:ext cx="6400800" cy="365760"/>
          </a:xfrm>
          <a:prstGeom prst="rect">
            <a:avLst/>
          </a:prstGeom>
          <a:noFill/>
          <a:ln/>
        </p:spPr>
        <p:txBody>
          <a:bodyPr wrap="square" lIns="0" tIns="0" rIns="0" bIns="0" rtlCol="0" anchor="ctr"/>
          <a:lstStyle/>
          <a:p>
            <a:pPr marL="0" indent="0" algn="ctr">
              <a:buNone/>
            </a:pPr>
            <a:r>
              <a:rPr lang="en-US" sz="1800" i="1" dirty="0">
                <a:solidFill>
                  <a:srgbClr val="00C2CB"/>
                </a:solidFill>
                <a:latin typeface="Calibri" pitchFamily="34" charset="0"/>
                <a:ea typeface="Calibri" pitchFamily="34" charset="-122"/>
                <a:cs typeface="Calibri" pitchFamily="34" charset="-120"/>
              </a:rPr>
              <a:t>Questions &amp; Discussion</a:t>
            </a:r>
            <a:endParaRPr lang="en-US" sz="1800" dirty="0"/>
          </a:p>
        </p:txBody>
      </p:sp>
      <p:sp>
        <p:nvSpPr>
          <p:cNvPr id="8" name="Shape 5"/>
          <p:cNvSpPr/>
          <p:nvPr/>
        </p:nvSpPr>
        <p:spPr>
          <a:xfrm>
            <a:off x="2286000" y="3310128"/>
            <a:ext cx="4572000" cy="18288"/>
          </a:xfrm>
          <a:prstGeom prst="rect">
            <a:avLst/>
          </a:prstGeom>
          <a:solidFill>
            <a:srgbClr val="1E4060"/>
          </a:solidFill>
          <a:ln w="12700">
            <a:solidFill>
              <a:srgbClr val="1E4060"/>
            </a:solidFill>
            <a:prstDash val="solid"/>
          </a:ln>
        </p:spPr>
      </p:sp>
      <p:sp>
        <p:nvSpPr>
          <p:cNvPr id="9" name="Shape 6"/>
          <p:cNvSpPr/>
          <p:nvPr/>
        </p:nvSpPr>
        <p:spPr>
          <a:xfrm>
            <a:off x="1097280" y="3493008"/>
            <a:ext cx="1920240" cy="914400"/>
          </a:xfrm>
          <a:prstGeom prst="rect">
            <a:avLst/>
          </a:prstGeom>
          <a:solidFill>
            <a:srgbClr val="132840"/>
          </a:solidFill>
          <a:ln w="12700">
            <a:solidFill>
              <a:srgbClr val="1E4060"/>
            </a:solidFill>
            <a:prstDash val="solid"/>
          </a:ln>
        </p:spPr>
      </p:sp>
      <p:sp>
        <p:nvSpPr>
          <p:cNvPr id="10" name="Text 7"/>
          <p:cNvSpPr/>
          <p:nvPr/>
        </p:nvSpPr>
        <p:spPr>
          <a:xfrm>
            <a:off x="1097280" y="3566160"/>
            <a:ext cx="1920240" cy="502920"/>
          </a:xfrm>
          <a:prstGeom prst="rect">
            <a:avLst/>
          </a:prstGeom>
          <a:noFill/>
          <a:ln/>
        </p:spPr>
        <p:txBody>
          <a:bodyPr wrap="square" lIns="0" tIns="0" rIns="0" bIns="0" rtlCol="0" anchor="ctr"/>
          <a:lstStyle/>
          <a:p>
            <a:pPr marL="0" indent="0" algn="ctr">
              <a:buNone/>
            </a:pPr>
            <a:r>
              <a:rPr lang="en-US" sz="3000" b="1" dirty="0">
                <a:solidFill>
                  <a:srgbClr val="00C2CB"/>
                </a:solidFill>
                <a:latin typeface="Calibri" pitchFamily="34" charset="0"/>
                <a:ea typeface="Calibri" pitchFamily="34" charset="-122"/>
                <a:cs typeface="Calibri" pitchFamily="34" charset="-120"/>
              </a:rPr>
              <a:t>97.3%</a:t>
            </a:r>
            <a:endParaRPr lang="en-US" sz="3000" dirty="0"/>
          </a:p>
        </p:txBody>
      </p:sp>
      <p:sp>
        <p:nvSpPr>
          <p:cNvPr id="11" name="Text 8"/>
          <p:cNvSpPr/>
          <p:nvPr/>
        </p:nvSpPr>
        <p:spPr>
          <a:xfrm>
            <a:off x="1097280" y="4041648"/>
            <a:ext cx="1920240" cy="32004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Detection</a:t>
            </a:r>
            <a:endParaRPr lang="en-US" sz="1100" dirty="0"/>
          </a:p>
        </p:txBody>
      </p:sp>
      <p:sp>
        <p:nvSpPr>
          <p:cNvPr id="12" name="Shape 9"/>
          <p:cNvSpPr/>
          <p:nvPr/>
        </p:nvSpPr>
        <p:spPr>
          <a:xfrm>
            <a:off x="3611880" y="3493008"/>
            <a:ext cx="1920240" cy="914400"/>
          </a:xfrm>
          <a:prstGeom prst="rect">
            <a:avLst/>
          </a:prstGeom>
          <a:solidFill>
            <a:srgbClr val="132840"/>
          </a:solidFill>
          <a:ln w="12700">
            <a:solidFill>
              <a:srgbClr val="1E4060"/>
            </a:solidFill>
            <a:prstDash val="solid"/>
          </a:ln>
        </p:spPr>
      </p:sp>
      <p:sp>
        <p:nvSpPr>
          <p:cNvPr id="13" name="Text 10"/>
          <p:cNvSpPr/>
          <p:nvPr/>
        </p:nvSpPr>
        <p:spPr>
          <a:xfrm>
            <a:off x="3611880" y="3566160"/>
            <a:ext cx="1920240" cy="502920"/>
          </a:xfrm>
          <a:prstGeom prst="rect">
            <a:avLst/>
          </a:prstGeom>
          <a:noFill/>
          <a:ln/>
        </p:spPr>
        <p:txBody>
          <a:bodyPr wrap="square" lIns="0" tIns="0" rIns="0" bIns="0" rtlCol="0" anchor="ctr"/>
          <a:lstStyle/>
          <a:p>
            <a:pPr marL="0" indent="0" algn="ctr">
              <a:buNone/>
            </a:pPr>
            <a:r>
              <a:rPr lang="en-US" sz="3000" b="1" dirty="0">
                <a:solidFill>
                  <a:srgbClr val="38BDF8"/>
                </a:solidFill>
                <a:latin typeface="Calibri" pitchFamily="34" charset="0"/>
                <a:ea typeface="Calibri" pitchFamily="34" charset="-122"/>
                <a:cs typeface="Calibri" pitchFamily="34" charset="-120"/>
              </a:rPr>
              <a:t>90.0%</a:t>
            </a:r>
            <a:endParaRPr lang="en-US" sz="3000" dirty="0"/>
          </a:p>
        </p:txBody>
      </p:sp>
      <p:sp>
        <p:nvSpPr>
          <p:cNvPr id="14" name="Text 11"/>
          <p:cNvSpPr/>
          <p:nvPr/>
        </p:nvSpPr>
        <p:spPr>
          <a:xfrm>
            <a:off x="3611880" y="4041648"/>
            <a:ext cx="1920240" cy="32004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Classification</a:t>
            </a:r>
            <a:endParaRPr lang="en-US" sz="1100" dirty="0"/>
          </a:p>
        </p:txBody>
      </p:sp>
      <p:sp>
        <p:nvSpPr>
          <p:cNvPr id="15" name="Shape 12"/>
          <p:cNvSpPr/>
          <p:nvPr/>
        </p:nvSpPr>
        <p:spPr>
          <a:xfrm>
            <a:off x="6126480" y="3493008"/>
            <a:ext cx="1920240" cy="914400"/>
          </a:xfrm>
          <a:prstGeom prst="rect">
            <a:avLst/>
          </a:prstGeom>
          <a:solidFill>
            <a:srgbClr val="132840"/>
          </a:solidFill>
          <a:ln w="12700">
            <a:solidFill>
              <a:srgbClr val="1E4060"/>
            </a:solidFill>
            <a:prstDash val="solid"/>
          </a:ln>
        </p:spPr>
      </p:sp>
      <p:sp>
        <p:nvSpPr>
          <p:cNvPr id="16" name="Text 13"/>
          <p:cNvSpPr/>
          <p:nvPr/>
        </p:nvSpPr>
        <p:spPr>
          <a:xfrm>
            <a:off x="6126480" y="3566160"/>
            <a:ext cx="1920240" cy="502920"/>
          </a:xfrm>
          <a:prstGeom prst="rect">
            <a:avLst/>
          </a:prstGeom>
          <a:noFill/>
          <a:ln/>
        </p:spPr>
        <p:txBody>
          <a:bodyPr wrap="square" lIns="0" tIns="0" rIns="0" bIns="0" rtlCol="0" anchor="ctr"/>
          <a:lstStyle/>
          <a:p>
            <a:pPr marL="0" indent="0" algn="ctr">
              <a:buNone/>
            </a:pPr>
            <a:r>
              <a:rPr lang="en-US" sz="3000" b="1" dirty="0">
                <a:solidFill>
                  <a:srgbClr val="22D3A0"/>
                </a:solidFill>
                <a:latin typeface="Calibri" pitchFamily="34" charset="0"/>
                <a:ea typeface="Calibri" pitchFamily="34" charset="-122"/>
                <a:cs typeface="Calibri" pitchFamily="34" charset="-120"/>
              </a:rPr>
              <a:t>0.80+</a:t>
            </a:r>
            <a:endParaRPr lang="en-US" sz="3000" dirty="0"/>
          </a:p>
        </p:txBody>
      </p:sp>
      <p:sp>
        <p:nvSpPr>
          <p:cNvPr id="17" name="Text 14"/>
          <p:cNvSpPr/>
          <p:nvPr/>
        </p:nvSpPr>
        <p:spPr>
          <a:xfrm>
            <a:off x="6126480" y="4041648"/>
            <a:ext cx="1920240" cy="32004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Dice Score</a:t>
            </a:r>
            <a:endParaRPr lang="en-US" sz="1100" dirty="0"/>
          </a:p>
        </p:txBody>
      </p:sp>
      <p:sp>
        <p:nvSpPr>
          <p:cNvPr id="18" name="Text 15"/>
          <p:cNvSpPr/>
          <p:nvPr/>
        </p:nvSpPr>
        <p:spPr>
          <a:xfrm>
            <a:off x="914400" y="4617720"/>
            <a:ext cx="7315200" cy="228600"/>
          </a:xfrm>
          <a:prstGeom prst="rect">
            <a:avLst/>
          </a:prstGeom>
          <a:noFill/>
          <a:ln/>
        </p:spPr>
        <p:txBody>
          <a:bodyPr wrap="square" lIns="0" tIns="0" rIns="0" bIns="0" rtlCol="0" anchor="ctr"/>
          <a:lstStyle/>
          <a:p>
            <a:pPr marL="0" indent="0" algn="ctr">
              <a:buNone/>
            </a:pPr>
            <a:r>
              <a:rPr lang="en-US" sz="1100" dirty="0">
                <a:solidFill>
                  <a:srgbClr val="7FA8BD"/>
                </a:solidFill>
                <a:latin typeface="Calibri" pitchFamily="34" charset="0"/>
                <a:ea typeface="Calibri" pitchFamily="34" charset="-122"/>
                <a:cs typeface="Calibri" pitchFamily="34" charset="-120"/>
              </a:rPr>
              <a:t>Aryan Sengar  |  23CSU055  |  B.Tech CSE  |  2025–26</a:t>
            </a:r>
            <a:endParaRPr lang="en-US" sz="1100" dirty="0"/>
          </a:p>
        </p:txBody>
      </p:sp>
      <p:sp>
        <p:nvSpPr>
          <p:cNvPr id="19" name="Text 16"/>
          <p:cNvSpPr/>
          <p:nvPr/>
        </p:nvSpPr>
        <p:spPr>
          <a:xfrm>
            <a:off x="457200" y="4846320"/>
            <a:ext cx="8229600" cy="201168"/>
          </a:xfrm>
          <a:prstGeom prst="rect">
            <a:avLst/>
          </a:prstGeom>
          <a:noFill/>
          <a:ln/>
        </p:spPr>
        <p:txBody>
          <a:bodyPr wrap="square" lIns="0" tIns="0" rIns="0" bIns="0" rtlCol="0" anchor="ctr"/>
          <a:lstStyle/>
          <a:p>
            <a:pPr marL="0" indent="0" algn="ctr">
              <a:buNone/>
            </a:pPr>
            <a:r>
              <a:rPr lang="en-US" sz="1000" dirty="0">
                <a:solidFill>
                  <a:srgbClr val="1E4060"/>
                </a:solidFill>
                <a:latin typeface="Calibri" pitchFamily="34" charset="0"/>
                <a:ea typeface="Calibri" pitchFamily="34" charset="-122"/>
                <a:cs typeface="Calibri" pitchFamily="34" charset="-120"/>
              </a:rPr>
              <a:t>Mentor: Dr. Ashima Rani  |  Technologies: Python · TensorFlow · FastAPI · React · OpenCV · U-Net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2719</Words>
  <Application>Microsoft Office PowerPoint</Application>
  <PresentationFormat>On-screen Show (16:9)</PresentationFormat>
  <Paragraphs>628</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Brain Tumor Analysis System</dc:title>
  <dc:subject>PptxGenJS Presentation</dc:subject>
  <dc:creator>Aryan Sengar</dc:creator>
  <cp:lastModifiedBy>Aryan Sengar</cp:lastModifiedBy>
  <cp:revision>2</cp:revision>
  <dcterms:created xsi:type="dcterms:W3CDTF">2026-05-09T10:04:41Z</dcterms:created>
  <dcterms:modified xsi:type="dcterms:W3CDTF">2026-05-09T17:52:01Z</dcterms:modified>
</cp:coreProperties>
</file>